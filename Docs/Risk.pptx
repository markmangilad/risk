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444" y="-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Poster narrative and local visual assets adapted from Docs/Poster.md.</a:t>
            </a:r>
          </a:p>
          <a:p>
            <a:endParaRPr/>
          </a:p>
          <a:p>
            <a:r>
              <a:t>Results:</a:t>
            </a:r>
          </a:p>
          <a:p>
            <a:r>
              <a:t> - DQN card and temporary learner-comparison graphic: Assets/DQN Win.png.</a:t>
            </a:r>
          </a:p>
          <a:p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>
            <a:endParaRPr/>
          </a:p>
          <a:p>
            <a:r>
              <a:t>Reward shaping behind DQN_103:</a:t>
            </a:r>
          </a:p>
          <a:p>
            <a:r>
              <a:t> - Historical checkpoint configuration: wandb/run-20260801_170850-sad3393d/logs/debug.log (REWARD_SHAPING_SCALE=0.1; terminal +/-100).</a:t>
            </a:r>
          </a:p>
          <a:p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>
            <a:endParaRPr/>
          </a:p>
          <a:p>
            <a:r>
              <a:t>Methods and architecture:</a:t>
            </a:r>
          </a:p>
          <a:p>
            <a:r>
              <a:t> - Docs/NetworkArchitectures.md, Docs/DuelingDQN.md, Docs/PPO.md, Docs/Reward.md.</a:t>
            </a:r>
          </a:p>
          <a:p>
            <a:endParaRPr/>
          </a:p>
          <a:p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273939" y="17726024"/>
            <a:ext cx="20102660" cy="5420971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noGrp="1"/>
          </p:cNvSpPr>
          <p:nvPr/>
        </p:nvSpPr>
        <p:spPr>
          <a:xfrm>
            <a:off x="0" y="4667250"/>
            <a:ext cx="42805350" cy="190500"/>
          </a:xfrm>
          <a:prstGeom prst="rect">
            <a:avLst/>
          </a:prstGeom>
          <a:solidFill>
            <a:srgbClr val="E8752A"/>
          </a:solidFill>
          <a:ln w="0">
            <a:solidFill>
              <a:srgbClr val="E87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524000" y="360705"/>
            <a:ext cx="17619406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524000" y="2830170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522947" y="3952875"/>
            <a:ext cx="16144875" cy="408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39757350" cy="1562100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43125" y="5667375"/>
            <a:ext cx="38385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7334250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7334250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670000" y="7334250"/>
            <a:ext cx="146113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84582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45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9648825"/>
            <a:ext cx="8382000" cy="5541434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727931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6394681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84582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50" name="Picture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63600" y="9620250"/>
            <a:ext cx="10591800" cy="6953250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7193875" y="77343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7193875" y="8458200"/>
            <a:ext cx="13573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Four TransformerConv layers read the injected graph; the current Risk phase selects its small scoring head.</a:t>
            </a:r>
          </a:p>
        </p:txBody>
      </p:sp>
      <p:pic>
        <p:nvPicPr>
          <p:cNvPr id="153" name="Picture 10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7670125" y="9620250"/>
            <a:ext cx="12611100" cy="7219950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1" y="17735549"/>
            <a:ext cx="19430998" cy="5420971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8145125"/>
            <a:ext cx="9188776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102A43"/>
                </a:solidFill>
              </a:defRPr>
            </a:pPr>
            <a:r>
              <a:rPr lang="he-IL" sz="3075" b="1" dirty="0" err="1"/>
              <a:t>How</a:t>
            </a:r>
            <a:r>
              <a:rPr lang="he-IL" sz="3075" b="1" dirty="0"/>
              <a:t> GATN </a:t>
            </a:r>
            <a:r>
              <a:rPr lang="he-IL" sz="3075" b="1" dirty="0" err="1"/>
              <a:t>attention</a:t>
            </a:r>
            <a:r>
              <a:rPr lang="he-IL" sz="3075" b="1" dirty="0"/>
              <a:t> </a:t>
            </a:r>
            <a:r>
              <a:rPr lang="he-IL" sz="3075" b="1" dirty="0" err="1"/>
              <a:t>uses</a:t>
            </a:r>
            <a:r>
              <a:rPr lang="he-IL" sz="3075" b="1" dirty="0"/>
              <a:t> </a:t>
            </a:r>
            <a:r>
              <a:rPr lang="he-IL" sz="3075" b="1" dirty="0" err="1"/>
              <a:t>the</a:t>
            </a:r>
            <a:r>
              <a:rPr lang="he-IL" sz="3075" b="1" dirty="0"/>
              <a:t> </a:t>
            </a:r>
            <a:r>
              <a:rPr lang="he-IL" sz="3075" b="1" dirty="0" err="1"/>
              <a:t>injected</a:t>
            </a:r>
            <a:r>
              <a:rPr lang="he-IL" sz="3075" b="1" dirty="0"/>
              <a:t> </a:t>
            </a:r>
            <a:r>
              <a:rPr lang="he-IL" sz="3075" b="1" dirty="0" err="1"/>
              <a:t>action</a:t>
            </a:r>
            <a:endParaRPr sz="3200" b="1" dirty="0">
              <a:solidFill>
                <a:srgbClr val="102A43"/>
              </a:solidFill>
            </a:endParaRP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143125" y="18999592"/>
            <a:ext cx="8953500" cy="23216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5E6C76"/>
                </a:solidFill>
              </a:defRPr>
            </a:pPr>
            <a:r>
              <a:rPr lang="en-US" sz="2800" b="0" dirty="0">
                <a:solidFill>
                  <a:srgbClr val="5E6C76"/>
                </a:solidFill>
              </a:rPr>
              <a:t>GATN attends only across </a:t>
            </a:r>
            <a:r>
              <a:rPr lang="en-US" sz="2800" b="0" dirty="0" err="1">
                <a:solidFill>
                  <a:srgbClr val="5E6C76"/>
                </a:solidFill>
              </a:rPr>
              <a:t>neighbouring</a:t>
            </a:r>
            <a:r>
              <a:rPr lang="en-US" sz="2800" b="0" dirty="0">
                <a:solidFill>
                  <a:srgbClr val="5E6C76"/>
                </a:solidFill>
              </a:rPr>
              <a:t> territories. Q represents the receiving territory; K determines how relevant each </a:t>
            </a:r>
            <a:r>
              <a:rPr lang="en-US" sz="2800" b="0" dirty="0" err="1">
                <a:solidFill>
                  <a:srgbClr val="5E6C76"/>
                </a:solidFill>
              </a:rPr>
              <a:t>neighbour</a:t>
            </a:r>
            <a:r>
              <a:rPr lang="en-US" sz="2800" b="0" dirty="0">
                <a:solidFill>
                  <a:srgbClr val="5E6C76"/>
                </a:solidFill>
              </a:rPr>
              <a:t> is; V is the information that </a:t>
            </a:r>
            <a:r>
              <a:rPr lang="en-US" sz="2800" b="0" dirty="0" err="1">
                <a:solidFill>
                  <a:srgbClr val="5E6C76"/>
                </a:solidFill>
              </a:rPr>
              <a:t>neighbour</a:t>
            </a:r>
            <a:r>
              <a:rPr lang="en-US" sz="2800" b="0" dirty="0">
                <a:solidFill>
                  <a:srgbClr val="5E6C76"/>
                </a:solidFill>
              </a:rPr>
              <a:t> sends. The injected action changes K and V on the affected border, changing its attention weight and message.</a:t>
            </a:r>
            <a:endParaRPr sz="2800" b="0" dirty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0"/>
            <a:ext cx="7649497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training + held-out evaluation</a:t>
            </a:r>
          </a:p>
        </p:txBody>
      </p:sp>
      <p:sp>
        <p:nvSpPr>
          <p:cNvPr id="40" name="results-subtitle">
            <a:extLst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noGrp="1"/>
          </p:cNvSpPr>
          <p:nvPr/>
        </p:nvSpPr>
        <p:spPr>
          <a:xfrm>
            <a:off x="9595055" y="23796544"/>
            <a:ext cx="18192750" cy="57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800" b="0" dirty="0">
                <a:solidFill>
                  <a:srgbClr val="C7D6E2"/>
                </a:solidFill>
              </a:rPr>
              <a:t>DQN learning; learner comparison; DQN evaluated across 3–6 players.</a:t>
            </a: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</a:p>
        </p:txBody>
      </p:sp>
      <p:sp>
        <p:nvSpPr>
          <p:cNvPr id="85" name="result-subtitle-dqn">
            <a:extLst>
              <a:ext uri="{FF2B5EF4-FFF2-40B4-BE49-F238E27FC236}">
                <a16:creationId xmlns:a16="http://schemas.microsoft.com/office/drawing/2014/main" id="{2FE889F1-60A0-44E7-B32A-F986DB5ABF7E}"/>
              </a:ext>
            </a:extLst>
          </p:cNvPr>
          <p:cNvSpPr>
            <a:spLocks noGrp="1"/>
          </p:cNvSpPr>
          <p:nvPr/>
        </p:nvSpPr>
        <p:spPr>
          <a:xfrm>
            <a:off x="192405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15999B"/>
                </a:solidFill>
              </a:defRPr>
            </a:pPr>
            <a:r>
              <a:rPr sz="1800">
                <a:solidFill>
                  <a:srgbClr val="15999B"/>
                </a:solidFill>
              </a:rPr>
              <a:t>Current DQN data</a:t>
            </a:r>
          </a:p>
        </p:txBody>
      </p:sp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 dirty="0">
                <a:solidFill>
                  <a:srgbClr val="153653"/>
                </a:solidFill>
              </a:rPr>
              <a:t>DQN</a:t>
            </a:r>
            <a:r>
              <a:rPr lang="he-IL" sz="2850" b="1" dirty="0">
                <a:solidFill>
                  <a:srgbClr val="153653"/>
                </a:solidFill>
              </a:rPr>
              <a:t> </a:t>
            </a:r>
            <a:r>
              <a:rPr sz="2850" b="1" dirty="0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72" name="Picture 1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538751" y="25528246"/>
            <a:ext cx="7132223" cy="4076700"/>
          </a:xfrm>
          <a:prstGeom prst="rect">
            <a:avLst/>
          </a:prstGeom>
        </p:spPr>
      </p:pic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95500" y="21180841"/>
            <a:ext cx="8953500" cy="133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lang="he-IL" sz="2800" b="1" dirty="0" err="1"/>
              <a:t>Four</a:t>
            </a:r>
            <a:r>
              <a:rPr lang="he-IL" sz="2800" b="1" dirty="0"/>
              <a:t> </a:t>
            </a:r>
            <a:r>
              <a:rPr lang="he-IL" sz="2800" b="1" dirty="0" err="1"/>
              <a:t>graph-attention</a:t>
            </a:r>
            <a:r>
              <a:rPr lang="he-IL" sz="2800" b="1" dirty="0"/>
              <a:t> </a:t>
            </a:r>
            <a:r>
              <a:rPr lang="he-IL" sz="2800" b="1" dirty="0" err="1"/>
              <a:t>layers</a:t>
            </a:r>
            <a:r>
              <a:rPr lang="he-IL" sz="2800" b="1" dirty="0"/>
              <a:t> </a:t>
            </a:r>
            <a:r>
              <a:rPr lang="he-IL" sz="2800" b="1" dirty="0" err="1"/>
              <a:t>aggregate</a:t>
            </a:r>
            <a:r>
              <a:rPr lang="he-IL" sz="2800" b="1" dirty="0"/>
              <a:t> </a:t>
            </a:r>
            <a:r>
              <a:rPr lang="he-IL" sz="2800" b="1" dirty="0" err="1"/>
              <a:t>these</a:t>
            </a:r>
            <a:r>
              <a:rPr lang="he-IL" sz="2800" b="1" dirty="0"/>
              <a:t> </a:t>
            </a:r>
            <a:r>
              <a:rPr lang="he-IL" sz="2800" b="1" dirty="0" err="1"/>
              <a:t>weighted</a:t>
            </a:r>
            <a:r>
              <a:rPr lang="he-IL" sz="2800" b="1" dirty="0"/>
              <a:t> </a:t>
            </a:r>
            <a:r>
              <a:rPr lang="he-IL" sz="2800" b="1" dirty="0" err="1"/>
              <a:t>neighbour</a:t>
            </a:r>
            <a:r>
              <a:rPr lang="he-IL" sz="2800" b="1" dirty="0"/>
              <a:t> </a:t>
            </a:r>
            <a:r>
              <a:rPr lang="he-IL" sz="2800" b="1" dirty="0" err="1"/>
              <a:t>messages</a:t>
            </a:r>
            <a:r>
              <a:rPr lang="he-IL" sz="2800" b="1" dirty="0"/>
              <a:t>—</a:t>
            </a:r>
            <a:r>
              <a:rPr lang="he-IL" sz="2800" b="1" dirty="0" err="1"/>
              <a:t>never</a:t>
            </a:r>
            <a:r>
              <a:rPr lang="he-IL" sz="2800" b="1" dirty="0"/>
              <a:t> </a:t>
            </a:r>
            <a:r>
              <a:rPr lang="he-IL" sz="2800" b="1" dirty="0" err="1"/>
              <a:t>all</a:t>
            </a:r>
            <a:r>
              <a:rPr lang="he-IL" sz="2800" b="1" dirty="0"/>
              <a:t> </a:t>
            </a:r>
            <a:r>
              <a:rPr lang="he-IL" sz="2800" b="1" dirty="0" err="1"/>
              <a:t>territory</a:t>
            </a:r>
            <a:r>
              <a:rPr lang="he-IL" sz="2800" b="1" dirty="0"/>
              <a:t> </a:t>
            </a:r>
            <a:r>
              <a:rPr lang="he-IL" sz="2800" b="1" dirty="0" err="1"/>
              <a:t>pairs</a:t>
            </a:r>
            <a:r>
              <a:rPr lang="he-IL" sz="2800" b="1" dirty="0"/>
              <a:t>.</a:t>
            </a:r>
            <a:endParaRPr sz="3600" b="1" dirty="0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1907500" y="18097500"/>
            <a:ext cx="1843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Reward shaping</a:t>
            </a:r>
          </a:p>
        </p:txBody>
      </p:sp>
      <p:sp>
        <p:nvSpPr>
          <p:cNvPr id="106" name="evaluation-latest-result">
            <a:extLst>
              <a:ext uri="{FF2B5EF4-FFF2-40B4-BE49-F238E27FC236}">
                <a16:creationId xmlns:a16="http://schemas.microsoft.com/office/drawing/2014/main" id="{EF9BEEB4-D611-4D51-92F3-FF39A32D5BD2}"/>
              </a:ext>
            </a:extLst>
          </p:cNvPr>
          <p:cNvSpPr>
            <a:spLocks noGrp="1"/>
          </p:cNvSpPr>
          <p:nvPr/>
        </p:nvSpPr>
        <p:spPr>
          <a:xfrm>
            <a:off x="21907500" y="18649950"/>
            <a:ext cx="18430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terminal (+100 / -100) + 0.1 x clip[-10,+10](local action terms) + 0.1 x board progress after opponents.</a:t>
            </a:r>
          </a:p>
        </p:txBody>
      </p:sp>
      <p:sp>
        <p:nvSpPr>
          <p:cNvPr id="107" name="evaluation-caveat">
            <a:extLst>
              <a:ext uri="{FF2B5EF4-FFF2-40B4-BE49-F238E27FC236}">
                <a16:creationId xmlns:a16="http://schemas.microsoft.com/office/drawing/2014/main" id="{F6490ACB-FC14-4E7A-BEA8-AC66087D2E74}"/>
              </a:ext>
            </a:extLst>
          </p:cNvPr>
          <p:cNvSpPr>
            <a:spLocks noGrp="1"/>
          </p:cNvSpPr>
          <p:nvPr/>
        </p:nvSpPr>
        <p:spPr>
          <a:xfrm>
            <a:off x="21907500" y="22555200"/>
            <a:ext cx="18430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Local shaping applies only to learner decisions; board progress is separately scaled (not clipped) after every opponent has played.</a:t>
            </a:r>
          </a:p>
        </p:txBody>
      </p:sp>
      <p:pic>
        <p:nvPicPr>
          <p:cNvPr id="177" name="Picture 11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129939" y="18002250"/>
            <a:ext cx="7884147" cy="4933950"/>
          </a:xfrm>
          <a:prstGeom prst="roundRect">
            <a:avLst>
              <a:gd name="adj" fmla="val 5143"/>
            </a:avLst>
          </a:prstGeom>
        </p:spPr>
      </p:pic>
      <p:pic>
        <p:nvPicPr>
          <p:cNvPr id="17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6175" y="400050"/>
            <a:ext cx="2952750" cy="2952750"/>
          </a:xfrm>
          <a:prstGeom prst="rect">
            <a:avLst/>
          </a:prstGeom>
        </p:spPr>
      </p:pic>
      <p:sp>
        <p:nvSpPr>
          <p:cNvPr id="119" name="github-repository-caption">
            <a:extLst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noGrp="1"/>
          </p:cNvSpPr>
          <p:nvPr/>
        </p:nvSpPr>
        <p:spPr>
          <a:xfrm>
            <a:off x="37861875" y="33718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80" name="Picture 17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653503" y="3752850"/>
            <a:ext cx="1626669" cy="371475"/>
          </a:xfrm>
          <a:prstGeom prst="rect">
            <a:avLst/>
          </a:prstGeom>
        </p:spPr>
      </p:pic>
      <p:pic>
        <p:nvPicPr>
          <p:cNvPr id="181" name="Picture 18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489400" y="304800"/>
            <a:ext cx="7246473" cy="1856748"/>
          </a:xfrm>
          <a:prstGeom prst="rect">
            <a:avLst/>
          </a:prstGeom>
        </p:spPr>
      </p:pic>
      <p:sp>
        <p:nvSpPr>
          <p:cNvPr id="19" name="subtitle">
            <a:extLst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noGrp="1"/>
          </p:cNvSpPr>
          <p:nvPr/>
        </p:nvSpPr>
        <p:spPr>
          <a:xfrm>
            <a:off x="1524000" y="34004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83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63697" y="283153"/>
            <a:ext cx="6552543" cy="4212647"/>
          </a:xfrm>
          <a:prstGeom prst="rect">
            <a:avLst/>
          </a:prstGeom>
        </p:spPr>
      </p:pic>
      <p:graphicFrame>
        <p:nvGraphicFramePr>
          <p:cNvPr id="184" name="Table 183"/>
          <p:cNvGraphicFramePr/>
          <p:nvPr/>
        </p:nvGraphicFramePr>
        <p:xfrm>
          <a:off x="21907500" y="19107150"/>
          <a:ext cx="18430875" cy="3390900"/>
        </p:xfrm>
        <a:graphic>
          <a:graphicData uri="http://schemas.openxmlformats.org/drawingml/2006/table">
            <a:tbl>
              <a:tblPr firstRow="1" firstCol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 / trigger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calculation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(game ends)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+100 win; -100 loss</a:t>
                      </a:r>
                    </a:p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(unscaled)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Winning stays the main objective.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(optional at 3-4 cards)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+/- 0.30 x hand factor / card-set value</a:t>
                      </a:r>
                    </a:p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+0.60 if a traded card matches an owned territory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Save an optional trade unless it creates value.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(place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x share placed on a territory bordering an enemy</a:t>
                      </a:r>
                    </a:p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+1.5 x [min(own / weakest adjacent enemy, 2.5) - 1]</a:t>
                      </a:r>
                    </a:p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-0.8 on a safe interior territory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Build an attack-capable border; do not park armies where they cannot fight.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(choose / resolve)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 x [min(attacker / defender, 3) - 1.5]</a:t>
                      </a:r>
                    </a:p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 x (defender losses - attacker losses)</a:t>
                      </a:r>
                    </a:p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conquest; +4 continent; +4 + 1.5/card elimination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odds, maximum dice, and profitable battles.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(move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 moved / movable into a captured territory or toward an enemy border</a:t>
                      </a:r>
                    </a:p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Penalty for moving away or leaving two borders badly balanced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Put force where an opponent can attack, then keep it there.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  <a:p>
                      <a:r>
                        <a:rPr sz="1125" b="1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(after opponents)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20 x territory-share change; 0.1 x army-share change</a:t>
                      </a:r>
                    </a:p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2.5 x continent-bonus change; extra continent-loss penalty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a full opponent round.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B5FDA4B-86C6-75F9-3E07-414808D0A1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185" y="25360163"/>
            <a:ext cx="7542857" cy="3962387"/>
          </a:xfrm>
          <a:prstGeom prst="rect">
            <a:avLst/>
          </a:prstGeom>
        </p:spPr>
      </p:pic>
      <p:sp>
        <p:nvSpPr>
          <p:cNvPr id="26" name="evaluation-protocol">
            <a:extLst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noGrp="1"/>
          </p:cNvSpPr>
          <p:nvPr/>
        </p:nvSpPr>
        <p:spPr>
          <a:xfrm>
            <a:off x="29413201" y="25955625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noGrp="1"/>
          </p:cNvSpPr>
          <p:nvPr/>
        </p:nvSpPr>
        <p:spPr>
          <a:xfrm>
            <a:off x="29424419" y="28195246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30" name="evaluation-protocol">
            <a:extLst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noGrp="1"/>
          </p:cNvSpPr>
          <p:nvPr/>
        </p:nvSpPr>
        <p:spPr>
          <a:xfrm>
            <a:off x="1897742" y="26045669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32" name="evaluation-latest-result">
            <a:extLst>
              <a:ext uri="{FF2B5EF4-FFF2-40B4-BE49-F238E27FC236}">
                <a16:creationId xmlns:a16="http://schemas.microsoft.com/office/drawing/2014/main" id="{3A1EFAB1-50F1-29EA-B1D4-7D5811B97C55}"/>
              </a:ext>
            </a:extLst>
          </p:cNvPr>
          <p:cNvSpPr>
            <a:spLocks noGrp="1"/>
          </p:cNvSpPr>
          <p:nvPr/>
        </p:nvSpPr>
        <p:spPr>
          <a:xfrm>
            <a:off x="1908960" y="28285290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41" name="evaluation-protocol">
            <a:extLst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noGrp="1"/>
          </p:cNvSpPr>
          <p:nvPr/>
        </p:nvSpPr>
        <p:spPr>
          <a:xfrm>
            <a:off x="15495199" y="25986693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43" name="evaluation-latest-result">
            <a:extLst>
              <a:ext uri="{FF2B5EF4-FFF2-40B4-BE49-F238E27FC236}">
                <a16:creationId xmlns:a16="http://schemas.microsoft.com/office/drawing/2014/main" id="{8D4E53D0-AB7F-E915-D61A-A7CD388C57B1}"/>
              </a:ext>
            </a:extLst>
          </p:cNvPr>
          <p:cNvSpPr>
            <a:spLocks noGrp="1"/>
          </p:cNvSpPr>
          <p:nvPr/>
        </p:nvSpPr>
        <p:spPr>
          <a:xfrm>
            <a:off x="15506417" y="28226314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2131D9C-4ADD-F7C2-8402-47D369B5A5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183" y="25617675"/>
            <a:ext cx="7200745" cy="378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980</Words>
  <Application>Microsoft Office PowerPoint</Application>
  <DocSecurity>0</DocSecurity>
  <PresentationFormat>Custom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8</cp:revision>
  <dcterms:created xsi:type="dcterms:W3CDTF">2026-08-14T13:01:29Z</dcterms:created>
  <dcterms:modified xsi:type="dcterms:W3CDTF">2026-08-14T14:00:22Z</dcterms:modified>
</cp:coreProperties>
</file>