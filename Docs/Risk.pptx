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7dcd3a46fc4d54" /><Relationship Type="http://schemas.openxmlformats.org/officeDocument/2006/relationships/extended-properties" Target="/docProps/app.xml" Id="R6be8ecdba0bb4097" /><Relationship Type="http://schemas.openxmlformats.org/officeDocument/2006/relationships/officeDocument" Target="/ppt/presentation.xml" Id="Red91fd02b6bc48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ef5ae885d24ddd"/>
  </p:sldMasterIdLst>
  <p:notesMasterIdLst>
    <p:notesMasterId xmlns:r="http://schemas.openxmlformats.org/officeDocument/2006/relationships" r:id="R4245c64d974844e2"/>
  </p:notesMasterIdLst>
  <p:sldIdLst>
    <p:sldId xmlns:r="http://schemas.openxmlformats.org/officeDocument/2006/relationships" id="256" r:id="R6e1e6316191b4cf4"/>
  </p:sldIdLst>
  <p:sldSz cx="42805350" cy="302704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37c73cd0c9440a" /><Relationship Type="http://schemas.openxmlformats.org/officeDocument/2006/relationships/slideMaster" Target="/ppt/slideMasters/slideMaster1.xml" Id="Re9ef5ae885d24ddd" /><Relationship Type="http://schemas.openxmlformats.org/officeDocument/2006/relationships/notesMaster" Target="/ppt/notesMasters/notesMaster1.xml" Id="R4245c64d974844e2" /><Relationship Type="http://schemas.openxmlformats.org/officeDocument/2006/relationships/presProps" Target="/ppt/presProps.xml" Id="Rc4a7fd67ea1b4781" /><Relationship Type="http://schemas.openxmlformats.org/officeDocument/2006/relationships/viewProps" Target="/ppt/viewProps.xml" Id="R32c1be2d12424f48" /><Relationship Type="http://schemas.openxmlformats.org/officeDocument/2006/relationships/tableStyles" Target="/ppt/tableStyles.xml" Id="Rd84eb2b819b548ad" /><Relationship Type="http://schemas.openxmlformats.org/officeDocument/2006/relationships/slide" Target="/ppt/slides/slide1.xml" Id="R6e1e6316191b4c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01beb6efcc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922b3e0fe346c4" /><Relationship Type="http://schemas.openxmlformats.org/officeDocument/2006/relationships/notesMaster" Target="/ppt/notesMasters/notesMaster1.xml" Id="R5ea35dd4d4cc44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Content and local visual assets adapted from Docs/Poster.md.</a:t>
            </a:r>
          </a:p>
          <a:p xmlns:a="http://schemas.openxmlformats.org/drawingml/2006/main">
            <a:r>
              <a:t>Assets: Assets/RiskMap/image.png; Assets/RiskMap/map_graph_nodes_edges.png; Assets/RiskMap/partial_graph_attributes.png; Assets/RiskMap/network_phase_heads_v2.png; Assets/encoder_matrix_summary.png; Assets/DQN Win.png (current DQN data, intentionally duplicated in the Dueling DQN and PPO slots only as clearly labelled temporary layout placeholders).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DQN_103 checkpoint chart: Checkpoints/DQN_103/evaluations/top5_checkpoint_win_rates_all_player_counts.png.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Evaluation facts: Checkpoints/DQN_103/evaluations/checkpoint_eval_ep006200_to_006700.json (54 games/checkpoint, 3 seeds, every learner seat, epsilon 0, 2,000-step cap; ep006700 46/54 wins and zero timeouts).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Method claim: Docs/ActionGraphBuilder.md and Docs/GraphAttentionNetwork.md.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QR target: https://github.com/MarkmanGilad/RISK.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GitHub logo: Assets/GitHub_Lockup_White.png from GitHub official brand package https://brand.github.com/GitHub_Logos.zip.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9fd7615aca40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9cfeff6ef94752" /><Relationship Type="http://schemas.openxmlformats.org/officeDocument/2006/relationships/slideLayout" Target="/ppt/slideLayouts/slideLayout1.xml" Id="Ra0bd70f57b4943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bd70f57b4943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bd1f4d8734d36" /><Relationship Type="http://schemas.openxmlformats.org/officeDocument/2006/relationships/image" Target="/ppt/media/image.png" Id="R613ab9b2dd564307" /><Relationship Type="http://schemas.openxmlformats.org/officeDocument/2006/relationships/image" Target="/ppt/media/image2.png" Id="Re1009a7b965f4b50" /><Relationship Type="http://schemas.openxmlformats.org/officeDocument/2006/relationships/image" Target="/ppt/media/image3.png" Id="R6177027b05074d4b" /><Relationship Type="http://schemas.openxmlformats.org/officeDocument/2006/relationships/image" Target="/ppt/media/image4.png" Id="R7548507fbbca4a27" /><Relationship Type="http://schemas.openxmlformats.org/officeDocument/2006/relationships/image" Target="/ppt/media/image5.png" Id="R81377488ea694230" /><Relationship Type="http://schemas.openxmlformats.org/officeDocument/2006/relationships/image" Target="/ppt/media/image6.png" Id="R980ebf51779f411e" /><Relationship Type="http://schemas.openxmlformats.org/officeDocument/2006/relationships/image" Target="/ppt/media/image7.png" Id="R3c974822e6b448f5" /><Relationship Type="http://schemas.openxmlformats.org/officeDocument/2006/relationships/image" Target="/ppt/media/image8.png" Id="R8d63e3f19f114b8f" /><Relationship Type="http://schemas.openxmlformats.org/officeDocument/2006/relationships/image" Target="/ppt/media/image9.png" Id="Rb9d1a207633b4499" /><Relationship Type="http://schemas.openxmlformats.org/officeDocument/2006/relationships/notesSlide" Target="/ppt/notesSlides/notesSlide1.xml" Id="Rc59221ca8b614a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ath-panel">
            <a:extLst xmlns:a="http://schemas.openxmlformats.org/drawingml/2006/main">
              <a:ext uri="{FF2B5EF4-FFF2-40B4-BE49-F238E27FC236}">
                <a16:creationId xmlns:a16="http://schemas.microsoft.com/office/drawing/2014/main" id="{C5062713-67A8-33A0-A869-B11CE15A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3939" y="17726024"/>
            <a:ext cx="20102660" cy="5420971"/>
          </a:xfrm>
          <a:prstGeom xmlns:a="http://schemas.openxmlformats.org/drawingml/2006/main" prst="roundRect">
            <a:avLst>
              <a:gd name="adj" fmla="val 4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2" name="header">
            <a:extLst xmlns:a="http://schemas.openxmlformats.org/drawingml/2006/main">
              <a:ext uri="{FF2B5EF4-FFF2-40B4-BE49-F238E27FC236}">
                <a16:creationId xmlns:a16="http://schemas.microsoft.com/office/drawing/2014/main" id="{18392ECE-BC05-4A30-A2F1-350F5C57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header-accent">
            <a:extLst xmlns:a="http://schemas.openxmlformats.org/drawingml/2006/main">
              <a:ext uri="{FF2B5EF4-FFF2-40B4-BE49-F238E27FC236}">
                <a16:creationId xmlns:a16="http://schemas.microsoft.com/office/drawing/2014/main" id="{DB99EA98-A601-4193-B29C-C8059390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0"/>
            <a:ext cx="4280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752A"/>
          </a:solidFill>
          <a:ln xmlns:a="http://schemas.openxmlformats.org/drawingml/2006/main" w="0">
            <a:solidFill>
              <a:srgbClr val="E875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A1C5D9-A7EF-467E-911C-38531DF0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85800"/>
            <a:ext cx="29527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Learning to Play Risk with</a:t>
            </a:r>
          </a:p>
          <a:p xmlns:a="http://schemas.openxmlformats.org/drawingml/2006/main"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Action-Injected Graph Neural Networks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C982B-75D9-4203-AF53-6CDB053E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76625"/>
            <a:ext cx="22884848" cy="503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C7D6E2"/>
                </a:solidFill>
              </a:defRPr>
            </a:pPr>
            <a:r>
              <a:rPr sz="3150" b="0">
                <a:solidFill>
                  <a:srgbClr val="C7D6E2"/>
                </a:solidFill>
              </a:rPr>
              <a:t>A graph-attention reinforcement-learning approach, compared across DQN, Dueling DQN, and PPO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1A629CBA-46CC-4E8F-85AE-E4B05D34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71925"/>
            <a:ext cx="2667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9EC5D0"/>
                </a:solidFill>
              </a:defRPr>
            </a:pPr>
            <a:r>
              <a:rPr sz="2325" b="0">
                <a:solidFill>
                  <a:srgbClr val="9EC5D0"/>
                </a:solidFill>
              </a:rPr>
              <a:t>Gilad Markman  •  Practical Deep Learning for Science  •  2026</a:t>
            </a:r>
          </a:p>
        </p:txBody>
      </p:sp>
      <p:pic>
        <p:nvPicPr>
          <p:cNvPr id="137" name="Picture 8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ab9b2dd564307"/>
          <a:srcRect xmlns:a="http://schemas.openxmlformats.org/drawingml/2006/main" l="0" t="13891" r="0" b="138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146250" y="438564"/>
            <a:ext cx="8001000" cy="371475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7" name="claim">
            <a:extLst xmlns:a="http://schemas.openxmlformats.org/drawingml/2006/main">
              <a:ext uri="{FF2B5EF4-FFF2-40B4-BE49-F238E27FC236}">
                <a16:creationId xmlns:a16="http://schemas.microsoft.com/office/drawing/2014/main" id="{FC781605-6676-4548-A245-310F531E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397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DDF3F2"/>
          </a:solidFill>
          <a:ln xmlns:a="http://schemas.openxmlformats.org/drawingml/2006/main" w="0">
            <a:solidFill>
              <a:srgbClr val="DDF3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claim-text">
            <a:extLst xmlns:a="http://schemas.openxmlformats.org/drawingml/2006/main">
              <a:ext uri="{FF2B5EF4-FFF2-40B4-BE49-F238E27FC236}">
                <a16:creationId xmlns:a16="http://schemas.microsoft.com/office/drawing/2014/main" id="{8AE3B966-105B-48EC-B80D-D416C24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67375"/>
            <a:ext cx="38385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525" b="1">
                <a:solidFill>
                  <a:srgbClr val="102A43"/>
                </a:solidFill>
              </a:defRPr>
            </a:pPr>
            <a:r>
              <a:rPr sz="3525" b="1">
                <a:solidFill>
                  <a:srgbClr val="102A43"/>
                </a:solidFill>
              </a:rPr>
              <a:t>Instead of scoring one enormous fixed move list, the system injects each legal Risk move into the board graph and scores that state–action graph with one shared graph-attention encoder.</a:t>
            </a:r>
          </a:p>
        </p:txBody>
      </p:sp>
      <p:sp>
        <p:nvSpPr>
          <p:cNvPr id="9" name="panel-1">
            <a:extLst xmlns:a="http://schemas.openxmlformats.org/drawingml/2006/main">
              <a:ext uri="{FF2B5EF4-FFF2-40B4-BE49-F238E27FC236}">
                <a16:creationId xmlns:a16="http://schemas.microsoft.com/office/drawing/2014/main" id="{427036A3-B448-4953-BC8C-5AFCA51A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334250"/>
            <a:ext cx="952500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8F320233-D426-42B3-8B9E-C3F19171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7334250"/>
            <a:ext cx="1428750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panel-3">
            <a:extLst xmlns:a="http://schemas.openxmlformats.org/drawingml/2006/main">
              <a:ext uri="{FF2B5EF4-FFF2-40B4-BE49-F238E27FC236}">
                <a16:creationId xmlns:a16="http://schemas.microsoft.com/office/drawing/2014/main" id="{74C5E218-7CF1-4321-A510-CA1D04E0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0" y="7334250"/>
            <a:ext cx="14611350" cy="9953625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E4A3E5BF-20DF-45F7-99D7-EA75EDE3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7734300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1  Board as a graph</a:t>
            </a:r>
          </a:p>
        </p:txBody>
      </p:sp>
      <p:sp>
        <p:nvSpPr>
          <p:cNvPr id="13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4ED55B3A-E48C-4A88-BDCE-2F08CB9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8458200"/>
            <a:ext cx="847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Risk's territories and borders are relational: move quality depends on neighbours, armies, and contested continents.</a:t>
            </a:r>
          </a:p>
        </p:txBody>
      </p:sp>
      <p:pic>
        <p:nvPicPr>
          <p:cNvPr id="145" name="Picture 8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09a7b965f4b50"/>
          <a:stretch xmlns:a="http://schemas.openxmlformats.org/drawingml/2006/main"/>
        </p:blipFill>
        <p:spPr>
          <a:xfrm xmlns:a="http://schemas.openxmlformats.org/drawingml/2006/main">
            <a:off x="2857500" y="10001250"/>
            <a:ext cx="6858000" cy="4533900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sp>
        <p:nvSpPr>
          <p:cNvPr id="15" name="graph-label">
            <a:extLst xmlns:a="http://schemas.openxmlformats.org/drawingml/2006/main">
              <a:ext uri="{FF2B5EF4-FFF2-40B4-BE49-F238E27FC236}">
                <a16:creationId xmlns:a16="http://schemas.microsoft.com/office/drawing/2014/main" id="{31424903-70C4-478B-9E69-B9C7B01D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504950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0C7C86"/>
                </a:solidFill>
              </a:defRPr>
            </a:pPr>
            <a:r>
              <a:rPr sz="2325" b="1">
                <a:solidFill>
                  <a:srgbClr val="0C7C86"/>
                </a:solidFill>
              </a:rPr>
              <a:t>42 territory nodes  |  83 borders  |  166 directed edges</a:t>
            </a:r>
          </a:p>
        </p:txBody>
      </p:sp>
      <p:sp>
        <p:nvSpPr>
          <p:cNvPr id="16" name="graph-dims">
            <a:extLst xmlns:a="http://schemas.openxmlformats.org/drawingml/2006/main">
              <a:ext uri="{FF2B5EF4-FFF2-40B4-BE49-F238E27FC236}">
                <a16:creationId xmlns:a16="http://schemas.microsoft.com/office/drawing/2014/main" id="{984942EC-C9B7-4FB0-810D-D1A61191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57162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X [42 x 15]     E [166 x 2]     u [1 x 35]</a:t>
            </a:r>
          </a:p>
        </p:txBody>
      </p:sp>
      <p:sp>
        <p:nvSpPr>
          <p:cNvPr id="17" name="injection-title">
            <a:extLst xmlns:a="http://schemas.openxmlformats.org/drawingml/2006/main">
              <a:ext uri="{FF2B5EF4-FFF2-40B4-BE49-F238E27FC236}">
                <a16:creationId xmlns:a16="http://schemas.microsoft.com/office/drawing/2014/main" id="{CCCAF54D-787A-4857-BA70-D15E833E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7734300"/>
            <a:ext cx="1323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2  Inject each legal candidate action</a:t>
            </a:r>
          </a:p>
        </p:txBody>
      </p:sp>
      <p:sp>
        <p:nvSpPr>
          <p:cNvPr id="18" name="injection-copy">
            <a:extLst xmlns:a="http://schemas.openxmlformats.org/drawingml/2006/main">
              <a:ext uri="{FF2B5EF4-FFF2-40B4-BE49-F238E27FC236}">
                <a16:creationId xmlns:a16="http://schemas.microsoft.com/office/drawing/2014/main" id="{72921CD4-71B7-4495-B242-983CAB8B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8458200"/>
            <a:ext cx="1323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The action becomes part of the graph: an attack changes one border; other phases mark affected territory rows.</a:t>
            </a:r>
          </a:p>
        </p:txBody>
      </p:sp>
      <p:pic>
        <p:nvPicPr>
          <p:cNvPr id="150" name="Picture 9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7027b05074d4b"/>
          <a:stretch xmlns:a="http://schemas.openxmlformats.org/drawingml/2006/main"/>
        </p:blipFill>
        <p:spPr>
          <a:xfrm xmlns:a="http://schemas.openxmlformats.org/drawingml/2006/main">
            <a:off x="13563600" y="9620250"/>
            <a:ext cx="10591800" cy="6953250"/>
          </a:xfrm>
          <a:prstGeom xmlns:a="http://schemas.openxmlformats.org/drawingml/2006/main" prst="roundRect">
            <a:avLst>
              <a:gd name="adj" fmla="val 3186"/>
            </a:avLst>
          </a:prstGeom>
        </p:spPr>
      </p:pic>
      <p:sp>
        <p:nvSpPr>
          <p:cNvPr id="23" name="encoder-title">
            <a:extLst xmlns:a="http://schemas.openxmlformats.org/drawingml/2006/main">
              <a:ext uri="{FF2B5EF4-FFF2-40B4-BE49-F238E27FC236}">
                <a16:creationId xmlns:a16="http://schemas.microsoft.com/office/drawing/2014/main" id="{79B4DD3D-FDCC-451A-A34B-00838800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5" y="7734300"/>
            <a:ext cx="13573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3  Shared GATN encoder + phase heads</a:t>
            </a:r>
          </a:p>
        </p:txBody>
      </p:sp>
      <p:sp>
        <p:nvSpPr>
          <p:cNvPr id="24" name="encoder-copy">
            <a:extLst xmlns:a="http://schemas.openxmlformats.org/drawingml/2006/main">
              <a:ext uri="{FF2B5EF4-FFF2-40B4-BE49-F238E27FC236}">
                <a16:creationId xmlns:a16="http://schemas.microsoft.com/office/drawing/2014/main" id="{34DE2DAF-F125-4785-B516-3B680970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5" y="8458200"/>
            <a:ext cx="13573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Four TransformerConv layers read the injected graph; the current Risk phase selects its small scoring head.</a:t>
            </a:r>
          </a:p>
        </p:txBody>
      </p:sp>
      <p:pic>
        <p:nvPicPr>
          <p:cNvPr id="153" name="Picture 10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8507fbbca4a27"/>
          <a:stretch xmlns:a="http://schemas.openxmlformats.org/drawingml/2006/main"/>
        </p:blipFill>
        <p:spPr>
          <a:xfrm xmlns:a="http://schemas.openxmlformats.org/drawingml/2006/main">
            <a:off x="27670125" y="9620250"/>
            <a:ext cx="12611100" cy="7219950"/>
          </a:xfrm>
          <a:prstGeom xmlns:a="http://schemas.openxmlformats.org/drawingml/2006/main" prst="roundRect">
            <a:avLst>
              <a:gd name="adj" fmla="val 3186"/>
            </a:avLst>
          </a:prstGeom>
        </p:spPr>
      </p:pic>
      <p:sp>
        <p:nvSpPr>
          <p:cNvPr id="33" name="math-panel">
            <a:extLst xmlns:a="http://schemas.openxmlformats.org/drawingml/2006/main">
              <a:ext uri="{FF2B5EF4-FFF2-40B4-BE49-F238E27FC236}">
                <a16:creationId xmlns:a16="http://schemas.microsoft.com/office/drawing/2014/main" id="{13CF350F-FBF5-4C7E-97D9-3BCF8C32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1" y="17735549"/>
            <a:ext cx="19430998" cy="5420971"/>
          </a:xfrm>
          <a:prstGeom xmlns:a="http://schemas.openxmlformats.org/drawingml/2006/main" prst="roundRect">
            <a:avLst>
              <a:gd name="adj" fmla="val 4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1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math-title">
            <a:extLst xmlns:a="http://schemas.openxmlformats.org/drawingml/2006/main">
              <a:ext uri="{FF2B5EF4-FFF2-40B4-BE49-F238E27FC236}">
                <a16:creationId xmlns:a16="http://schemas.microsoft.com/office/drawing/2014/main" id="{11EAAD89-D915-4F50-9800-DA85D550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145125"/>
            <a:ext cx="1809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102A43"/>
                </a:solidFill>
              </a:defRPr>
            </a:pPr>
            <a:r>
              <a:rPr sz="3075" b="1">
                <a:solidFill>
                  <a:srgbClr val="102A43"/>
                </a:solidFill>
              </a:rPr>
              <a:t>How action injection changes sparse attention</a:t>
            </a:r>
          </a:p>
        </p:txBody>
      </p:sp>
      <p:sp>
        <p:nvSpPr>
          <p:cNvPr id="35" name="math-copy">
            <a:extLst xmlns:a="http://schemas.openxmlformats.org/drawingml/2006/main">
              <a:ext uri="{FF2B5EF4-FFF2-40B4-BE49-F238E27FC236}">
                <a16:creationId xmlns:a16="http://schemas.microsoft.com/office/drawing/2014/main" id="{B89FBAD3-D610-4461-A645-277C32D1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811875"/>
            <a:ext cx="895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5E6C76"/>
                </a:solidFill>
              </a:defRPr>
            </a:pPr>
            <a:r>
              <a:rPr sz="2325" b="0">
                <a:solidFill>
                  <a:srgbClr val="5E6C76"/>
                </a:solidFill>
              </a:rPr>
              <a:t>Only the 166 directed Risk borders receive attention. An attack changes one selected edge row; reinforce, occupy, and fortify change affected node rows.</a:t>
            </a:r>
          </a:p>
        </p:txBody>
      </p:sp>
      <p:sp>
        <p:nvSpPr>
          <p:cNvPr id="37" name="math-footer">
            <a:extLst xmlns:a="http://schemas.openxmlformats.org/drawingml/2006/main">
              <a:ext uri="{FF2B5EF4-FFF2-40B4-BE49-F238E27FC236}">
                <a16:creationId xmlns:a16="http://schemas.microsoft.com/office/drawing/2014/main" id="{6008C5A5-555A-4F08-876B-9CDD6C4B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3632771"/>
            <a:ext cx="1762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8752A"/>
                </a:solidFill>
              </a:defRPr>
            </a:pPr>
            <a:r>
              <a:rPr sz="2100" b="1">
                <a:solidFill>
                  <a:srgbClr val="E8752A"/>
                </a:solidFill>
              </a:rPr>
              <a:t>E [166 x 2] -&gt; E_projected -&gt; K_edge / V_edge -&gt; segment softmax</a:t>
            </a:r>
          </a:p>
        </p:txBody>
      </p:sp>
      <p:sp>
        <p:nvSpPr>
          <p:cNvPr id="38" name="results-bg">
            <a:extLst xmlns:a="http://schemas.openxmlformats.org/drawingml/2006/main">
              <a:ext uri="{FF2B5EF4-FFF2-40B4-BE49-F238E27FC236}">
                <a16:creationId xmlns:a16="http://schemas.microsoft.com/office/drawing/2014/main" id="{B283BC1F-15F7-4669-A7D9-1521AEE8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442271"/>
            <a:ext cx="42805350" cy="676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F0545D8A-70C7-4FDD-9A4D-2711C0AD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728021"/>
            <a:ext cx="2714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Results: matched learner comparison</a:t>
            </a:r>
          </a:p>
        </p:txBody>
      </p:sp>
      <p:sp>
        <p:nvSpPr>
          <p:cNvPr id="40" name="results-subtitle">
            <a:extLst xmlns:a="http://schemas.openxmlformats.org/drawingml/2006/main">
              <a:ext uri="{FF2B5EF4-FFF2-40B4-BE49-F238E27FC236}">
                <a16:creationId xmlns:a16="http://schemas.microsoft.com/office/drawing/2014/main" id="{9D364777-310B-4457-B161-8036260B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926800"/>
            <a:ext cx="388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C7D6E2"/>
                </a:solidFill>
              </a:defRPr>
            </a:pPr>
            <a:r>
              <a:rPr sz="2100" b="0">
                <a:solidFill>
                  <a:srgbClr val="C7D6E2"/>
                </a:solidFill>
              </a:rPr>
              <a:t>DQN shows the current training curve; Dueling DQN and PPO remain clearly labelled layout placeholders.</a:t>
            </a:r>
          </a:p>
        </p:txBody>
      </p:sp>
      <p:sp>
        <p:nvSpPr>
          <p:cNvPr id="83" name="result-card-dqn">
            <a:extLst xmlns:a="http://schemas.openxmlformats.org/drawingml/2006/main">
              <a:ext uri="{FF2B5EF4-FFF2-40B4-BE49-F238E27FC236}">
                <a16:creationId xmlns:a16="http://schemas.microsoft.com/office/drawing/2014/main" id="{B1AB4D29-521C-4C1D-87F0-04C11C20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4" name="result-title-dqn">
            <a:extLst xmlns:a="http://schemas.openxmlformats.org/drawingml/2006/main">
              <a:ext uri="{FF2B5EF4-FFF2-40B4-BE49-F238E27FC236}">
                <a16:creationId xmlns:a16="http://schemas.microsoft.com/office/drawing/2014/main" id="{B293A5A7-2534-48C8-83B8-4363D4A4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DQN</a:t>
            </a:r>
          </a:p>
        </p:txBody>
      </p:sp>
      <p:sp>
        <p:nvSpPr>
          <p:cNvPr id="85" name="result-subtitle-dqn">
            <a:extLst xmlns:a="http://schemas.openxmlformats.org/drawingml/2006/main">
              <a:ext uri="{FF2B5EF4-FFF2-40B4-BE49-F238E27FC236}">
                <a16:creationId xmlns:a16="http://schemas.microsoft.com/office/drawing/2014/main" id="{2FE889F1-60A0-44E7-B32A-F986DB5A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15999B"/>
                </a:solidFill>
              </a:defRPr>
            </a:pPr>
            <a:r>
              <a:rPr sz="1800">
                <a:solidFill>
                  <a:srgbClr val="15999B"/>
                </a:solidFill>
              </a:rPr>
              <a:t>Current DQN data</a:t>
            </a:r>
          </a:p>
        </p:txBody>
      </p:sp>
      <p:pic>
        <p:nvPicPr>
          <p:cNvPr id="164" name="Picture 1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77488ea694230"/>
          <a:stretch xmlns:a="http://schemas.openxmlformats.org/drawingml/2006/main"/>
        </p:blipFill>
        <p:spPr>
          <a:xfrm xmlns:a="http://schemas.openxmlformats.org/drawingml/2006/main">
            <a:off x="3739767" y="25613971"/>
            <a:ext cx="7760465" cy="4076700"/>
          </a:xfrm>
          <a:prstGeom xmlns:a="http://schemas.openxmlformats.org/drawingml/2006/main" prst="rect">
            <a:avLst/>
          </a:prstGeom>
        </p:spPr>
      </p:pic>
      <p:sp>
        <p:nvSpPr>
          <p:cNvPr id="87" name="result-card-dueling-dqn">
            <a:extLst xmlns:a="http://schemas.openxmlformats.org/drawingml/2006/main">
              <a:ext uri="{FF2B5EF4-FFF2-40B4-BE49-F238E27FC236}">
                <a16:creationId xmlns:a16="http://schemas.microsoft.com/office/drawing/2014/main" id="{EC528E95-60EA-42A3-B14F-0DC0932A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8" name="result-title-dueling-dqn">
            <a:extLst xmlns:a="http://schemas.openxmlformats.org/drawingml/2006/main">
              <a:ext uri="{FF2B5EF4-FFF2-40B4-BE49-F238E27FC236}">
                <a16:creationId xmlns:a16="http://schemas.microsoft.com/office/drawing/2014/main" id="{59DC663C-64C0-43BC-9009-41ECA65A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Dueling DQN</a:t>
            </a:r>
          </a:p>
        </p:txBody>
      </p:sp>
      <p:sp>
        <p:nvSpPr>
          <p:cNvPr id="89" name="result-subtitle-dueling-dqn">
            <a:extLst xmlns:a="http://schemas.openxmlformats.org/drawingml/2006/main">
              <a:ext uri="{FF2B5EF4-FFF2-40B4-BE49-F238E27FC236}">
                <a16:creationId xmlns:a16="http://schemas.microsoft.com/office/drawing/2014/main" id="{AC7BCCE6-9F71-4594-BD55-48B2CE8D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Temporary placeholder - DQN data</a:t>
            </a:r>
          </a:p>
        </p:txBody>
      </p:sp>
      <p:pic>
        <p:nvPicPr>
          <p:cNvPr id="168" name="Picture 1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77488ea694230"/>
          <a:stretch xmlns:a="http://schemas.openxmlformats.org/drawingml/2006/main"/>
        </p:blipFill>
        <p:spPr>
          <a:xfrm xmlns:a="http://schemas.openxmlformats.org/drawingml/2006/main">
            <a:off x="17522442" y="25613971"/>
            <a:ext cx="7760465" cy="4076700"/>
          </a:xfrm>
          <a:prstGeom xmlns:a="http://schemas.openxmlformats.org/drawingml/2006/main" prst="rect">
            <a:avLst/>
          </a:prstGeom>
        </p:spPr>
      </p:pic>
      <p:sp>
        <p:nvSpPr>
          <p:cNvPr id="91" name="result-card-ppo">
            <a:extLst xmlns:a="http://schemas.openxmlformats.org/drawingml/2006/main">
              <a:ext uri="{FF2B5EF4-FFF2-40B4-BE49-F238E27FC236}">
                <a16:creationId xmlns:a16="http://schemas.microsoft.com/office/drawing/2014/main" id="{57673F6F-E28F-4EE6-BC11-DC68E87C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9350" y="24699571"/>
            <a:ext cx="12192000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2" name="result-title-ppo">
            <a:extLst xmlns:a="http://schemas.openxmlformats.org/drawingml/2006/main">
              <a:ext uri="{FF2B5EF4-FFF2-40B4-BE49-F238E27FC236}">
                <a16:creationId xmlns:a16="http://schemas.microsoft.com/office/drawing/2014/main" id="{BF9D49F0-D5F5-468E-B382-5B3A3AEA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0" y="24909121"/>
            <a:ext cx="11391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PPO</a:t>
            </a:r>
          </a:p>
        </p:txBody>
      </p:sp>
      <p:sp>
        <p:nvSpPr>
          <p:cNvPr id="93" name="result-subtitle-ppo">
            <a:extLst xmlns:a="http://schemas.openxmlformats.org/drawingml/2006/main">
              <a:ext uri="{FF2B5EF4-FFF2-40B4-BE49-F238E27FC236}">
                <a16:creationId xmlns:a16="http://schemas.microsoft.com/office/drawing/2014/main" id="{52013E00-3529-4392-B7E8-B164767E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0" y="25290121"/>
            <a:ext cx="1139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Temporary placeholder - DQN data</a:t>
            </a:r>
          </a:p>
        </p:txBody>
      </p:sp>
      <p:pic>
        <p:nvPicPr>
          <p:cNvPr id="172" name="Picture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77488ea694230"/>
          <a:stretch xmlns:a="http://schemas.openxmlformats.org/drawingml/2006/main"/>
        </p:blipFill>
        <p:spPr>
          <a:xfrm xmlns:a="http://schemas.openxmlformats.org/drawingml/2006/main">
            <a:off x="31305117" y="25613971"/>
            <a:ext cx="7760465" cy="4076700"/>
          </a:xfrm>
          <a:prstGeom xmlns:a="http://schemas.openxmlformats.org/drawingml/2006/main" prst="rect">
            <a:avLst/>
          </a:prstGeom>
        </p:spPr>
      </p:pic>
      <p:sp>
        <p:nvSpPr>
          <p:cNvPr id="103" name="attention-novelty">
            <a:extLst xmlns:a="http://schemas.openxmlformats.org/drawingml/2006/main">
              <a:ext uri="{FF2B5EF4-FFF2-40B4-BE49-F238E27FC236}">
                <a16:creationId xmlns:a16="http://schemas.microsoft.com/office/drawing/2014/main" id="{633905E1-9C10-49CD-96BA-3FA820E1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574000"/>
            <a:ext cx="8953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E87"/>
                </a:solidFill>
              </a:defRPr>
            </a:pPr>
            <a:r>
              <a:rPr sz="2550" b="1">
                <a:solidFill>
                  <a:srgbClr val="157E87"/>
                </a:solidFill>
              </a:rPr>
              <a:t>Novelty: a legal move is a controlled graph perturbation, so one shared encoder scores the state and its candidate action together.</a:t>
            </a:r>
          </a:p>
        </p:txBody>
      </p:sp>
      <p:sp>
        <p:nvSpPr>
          <p:cNvPr id="104" name="evaluation-heading">
            <a:extLst xmlns:a="http://schemas.openxmlformats.org/drawingml/2006/main">
              <a:ext uri="{FF2B5EF4-FFF2-40B4-BE49-F238E27FC236}">
                <a16:creationId xmlns:a16="http://schemas.microsoft.com/office/drawing/2014/main" id="{F26A0CBD-C049-4879-92AD-E84F959B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1804035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B40"/>
                </a:solidFill>
              </a:defRPr>
            </a:pPr>
            <a:r>
              <a:rPr sz="3000" b="1">
                <a:solidFill>
                  <a:srgbClr val="142B40"/>
                </a:solidFill>
              </a:rPr>
              <a:t>DQN_103 evaluated across 3–6 players</a:t>
            </a:r>
          </a:p>
        </p:txBody>
      </p:sp>
      <p:sp>
        <p:nvSpPr>
          <p:cNvPr id="105" name="evaluation-protocol">
            <a:extLst xmlns:a="http://schemas.openxmlformats.org/drawingml/2006/main">
              <a:ext uri="{FF2B5EF4-FFF2-40B4-BE49-F238E27FC236}">
                <a16:creationId xmlns:a16="http://schemas.microsoft.com/office/drawing/2014/main" id="{863DAC7D-0B0E-4D1E-BA3B-42103DE3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1866900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250">
                <a:solidFill>
                  <a:srgbClr val="253B4C"/>
                </a:solidFill>
              </a:rPr>
              <a:t>54 games / checkpoint</a:t>
            </a:r>
          </a:p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250">
                <a:solidFill>
                  <a:srgbClr val="253B4C"/>
                </a:solidFill>
              </a:rPr>
              <a:t>3 seeds · every learner seat</a:t>
            </a:r>
          </a:p>
          <a:p xmlns:a="http://schemas.openxmlformats.org/drawingml/2006/main">
            <a:pPr>
              <a:buNone/>
              <a:defRPr sz="2250">
                <a:solidFill>
                  <a:srgbClr val="253B4C"/>
                </a:solidFill>
              </a:defRPr>
            </a:pPr>
            <a:r>
              <a:rPr sz="2250">
                <a:solidFill>
                  <a:srgbClr val="253B4C"/>
                </a:solidFill>
              </a:rPr>
              <a:t>ε = 0 · 2,000-step cap</a:t>
            </a:r>
          </a:p>
        </p:txBody>
      </p:sp>
      <p:sp>
        <p:nvSpPr>
          <p:cNvPr id="106" name="evaluation-latest-result">
            <a:extLst xmlns:a="http://schemas.openxmlformats.org/drawingml/2006/main">
              <a:ext uri="{FF2B5EF4-FFF2-40B4-BE49-F238E27FC236}">
                <a16:creationId xmlns:a16="http://schemas.microsoft.com/office/drawing/2014/main" id="{EF9BEEB4-D611-4D51-92F3-FF39A32D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2009775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325" b="1">
                <a:solidFill>
                  <a:srgbClr val="157E87"/>
                </a:solidFill>
              </a:rPr>
              <a:t>Latest ep006700</a:t>
            </a:r>
          </a:p>
          <a:p xmlns:a="http://schemas.openxmlformats.org/drawingml/2006/main"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325" b="1">
                <a:solidFill>
                  <a:srgbClr val="157E87"/>
                </a:solidFill>
              </a:rPr>
              <a:t>46 / 54 wins = 85.2% · 0 timeouts</a:t>
            </a:r>
          </a:p>
        </p:txBody>
      </p:sp>
      <p:sp>
        <p:nvSpPr>
          <p:cNvPr id="107" name="evaluation-caveat">
            <a:extLst xmlns:a="http://schemas.openxmlformats.org/drawingml/2006/main">
              <a:ext uri="{FF2B5EF4-FFF2-40B4-BE49-F238E27FC236}">
                <a16:creationId xmlns:a16="http://schemas.microsoft.com/office/drawing/2014/main" id="{F6490ACB-FC14-4E7A-BEA8-AC66087D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0" y="2127885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B6B78"/>
                </a:solidFill>
              </a:defRPr>
            </a:pPr>
            <a:r>
              <a:rPr sz="1800">
                <a:solidFill>
                  <a:srgbClr val="5B6B78"/>
                </a:solidFill>
              </a:rPr>
              <a:t>Top 5 checkpoints; fixed checkpoint-selection suite.</a:t>
            </a:r>
          </a:p>
        </p:txBody>
      </p:sp>
      <p:sp>
        <p:nvSpPr>
          <p:cNvPr id="108" name="evaluation-chart-frame">
            <a:extLst xmlns:a="http://schemas.openxmlformats.org/drawingml/2006/main">
              <a:ext uri="{FF2B5EF4-FFF2-40B4-BE49-F238E27FC236}">
                <a16:creationId xmlns:a16="http://schemas.microsoft.com/office/drawing/2014/main" id="{A8646FA7-C403-456F-A4A8-131E8D9E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7954625"/>
            <a:ext cx="9239250" cy="4629150"/>
          </a:xfrm>
          <a:prstGeom xmlns:a="http://schemas.openxmlformats.org/drawingml/2006/main" prst="roundRect">
            <a:avLst>
              <a:gd name="adj" fmla="val 1646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9525">
            <a:solidFill>
              <a:srgbClr val="D7E2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9" name="Picture 17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ebf51779f411e"/>
          <a:stretch xmlns:a="http://schemas.openxmlformats.org/drawingml/2006/main"/>
        </p:blipFill>
        <p:spPr>
          <a:xfrm xmlns:a="http://schemas.openxmlformats.org/drawingml/2006/main">
            <a:off x="31928904" y="18021300"/>
            <a:ext cx="7865442" cy="4495800"/>
          </a:xfrm>
          <a:prstGeom xmlns:a="http://schemas.openxmlformats.org/drawingml/2006/main" prst="rect">
            <a:avLst/>
          </a:prstGeom>
        </p:spPr>
      </p:pic>
      <p:pic>
        <p:nvPicPr>
          <p:cNvPr id="180" name="Picture 1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74822e6b448f5"/>
          <a:stretch xmlns:a="http://schemas.openxmlformats.org/drawingml/2006/main"/>
        </p:blipFill>
        <p:spPr>
          <a:xfrm xmlns:a="http://schemas.openxmlformats.org/drawingml/2006/main">
            <a:off x="12129939" y="18002250"/>
            <a:ext cx="7884147" cy="49339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pic>
        <p:nvPicPr>
          <p:cNvPr id="181" name="Picture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3e3f19f11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76175" y="40005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119" name="github-repository-caption">
            <a:extLst xmlns:a="http://schemas.openxmlformats.org/drawingml/2006/main">
              <a:ext uri="{FF2B5EF4-FFF2-40B4-BE49-F238E27FC236}">
                <a16:creationId xmlns:a16="http://schemas.microsoft.com/office/drawing/2014/main" id="{2503D635-8807-49AD-A03A-469A3E59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75" y="3371850"/>
            <a:ext cx="319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spc="1">
                <a:solidFill>
                  <a:srgbClr val="FFFFFF"/>
                </a:solidFill>
              </a:defRPr>
            </a:pPr>
            <a:r>
              <a:rPr sz="1800" b="1" spc="1">
                <a:solidFill>
                  <a:srgbClr val="FFFFFF"/>
                </a:solidFill>
              </a:rPr>
              <a:t>PROJECT REPOSITORY</a:t>
            </a:r>
          </a:p>
        </p:txBody>
      </p:sp>
      <p:pic>
        <p:nvPicPr>
          <p:cNvPr id="183" name="Picture 1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1a207633b4499"/>
          <a:stretch xmlns:a="http://schemas.openxmlformats.org/drawingml/2006/main"/>
        </p:blipFill>
        <p:spPr>
          <a:xfrm xmlns:a="http://schemas.openxmlformats.org/drawingml/2006/main">
            <a:off x="38653503" y="3752850"/>
            <a:ext cx="1626669" cy="3714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94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2026-08-12T21:18:55.9540000Z</dcterms:created>
  <dcterms:modified xsi:type="dcterms:W3CDTF">2026-08-12T21:18:55.9540000Z</dcterms:modified>
</coreProperties>
</file>