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92957284ca4278" /><Relationship Type="http://schemas.openxmlformats.org/officeDocument/2006/relationships/extended-properties" Target="/docProps/app.xml" Id="R2cc548cdaac646c3" /><Relationship Type="http://schemas.openxmlformats.org/officeDocument/2006/relationships/officeDocument" Target="/ppt/presentation.xml" Id="R4bda720cfa0f44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ec1c2bf2014eb2"/>
  </p:sldMasterIdLst>
  <p:notesMasterIdLst>
    <p:notesMasterId xmlns:r="http://schemas.openxmlformats.org/officeDocument/2006/relationships" r:id="R19aadc04764f4d57"/>
  </p:notesMasterIdLst>
  <p:sldIdLst>
    <p:sldId xmlns:r="http://schemas.openxmlformats.org/officeDocument/2006/relationships" id="256" r:id="Re848d82acf0a43ce"/>
  </p:sldIdLst>
  <p:sldSz cx="42805350" cy="302704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a3a28b1af741b9" /><Relationship Type="http://schemas.openxmlformats.org/officeDocument/2006/relationships/slideMaster" Target="/ppt/slideMasters/slideMaster1.xml" Id="R91ec1c2bf2014eb2" /><Relationship Type="http://schemas.openxmlformats.org/officeDocument/2006/relationships/notesMaster" Target="/ppt/notesMasters/notesMaster1.xml" Id="R19aadc04764f4d57" /><Relationship Type="http://schemas.openxmlformats.org/officeDocument/2006/relationships/presProps" Target="/ppt/presProps.xml" Id="Rb198d995a2254d3c" /><Relationship Type="http://schemas.openxmlformats.org/officeDocument/2006/relationships/viewProps" Target="/ppt/viewProps.xml" Id="Re8224be0bc5a4dda" /><Relationship Type="http://schemas.openxmlformats.org/officeDocument/2006/relationships/tableStyles" Target="/ppt/tableStyles.xml" Id="R82b0f7ca4e31447b" /><Relationship Type="http://schemas.openxmlformats.org/officeDocument/2006/relationships/slide" Target="/ppt/slides/slide1.xml" Id="Re848d82acf0a43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149a169a8c43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b5a8b0d6d247c8" /><Relationship Type="http://schemas.openxmlformats.org/officeDocument/2006/relationships/notesMaster" Target="/ppt/notesMasters/notesMaster1.xml" Id="R643874d3536c40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Poster narrative and local visual assets adapted from Docs/Poster.md.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Results:</a:t>
            </a:r>
            <a:endParaRPr/>
          </a:p>
          <a:p xmlns:a="http://schemas.openxmlformats.org/drawingml/2006/main">
            <a:r>
              <a:t> - DQN card and the temporary learner-comparison graphic: Assets/DQN Win.png.</a:t>
            </a:r>
          </a:p>
          <a:p xmlns:a="http://schemas.openxmlformats.org/drawingml/2006/main">
            <a:r>
              <a:t> - Center card is reserved for a matched DQN vs. Dueling DQN vs. PPO comparison.</a:t>
            </a:r>
            <a:endParaRPr/>
          </a:p>
          <a:p xmlns:a="http://schemas.openxmlformats.org/drawingml/2006/main">
            <a:r>
              <a:t>- DQN_103 cross-player-count evaluation: Checkpoints/DQN_103/evaluations/top5_checkpoint_win_rates_all_player_counts.png; checkpoint_eval_ep006200_to_006700.json. Evaluation protocol: 54 games per checkpoint (3 seeds × learner seat × 3–6 total players), epsilon 0, 2,000-step cap.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Reward shaping behind DQN_103:</a:t>
            </a:r>
          </a:p>
          <a:p xmlns:a="http://schemas.openxmlformats.org/drawingml/2006/main">
            <a:r>
              <a:t>- Historical checkpoint configuration: wandb/run-20260801_170850-sad3393d/logs/debug.log (REWARD_SHAPING_SCALE=0.1; terminal ±100).</a:t>
            </a:r>
            <a:endParaRPr/>
          </a:p>
          <a:p xmlns:a="http://schemas.openxmlformats.org/drawingml/2006/main">
            <a:r>
              <a:t>- Historical implementation: commit 1411c0d (reward.py and train_constants.py). Dense learner-action terms were summed, clipped to [-10,+10], then multiplied by 0.1; terminal reward was unscaled; end-of-turn board progress was measured after opponents acted.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Methods and architecture:</a:t>
            </a:r>
          </a:p>
          <a:p xmlns:a="http://schemas.openxmlformats.org/drawingml/2006/main">
            <a:r>
              <a:t>- Docs/NetworkArchitectures.md, Docs/DuelingDQN.md, Docs/PPO.md, Docs/Reward.md.</a:t>
            </a:r>
            <a:endParaRPr/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Branding and QR assets are local project assets; Weizmann logo was user-provided.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3b6c9c0f134c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b64c9fecae472c" /><Relationship Type="http://schemas.openxmlformats.org/officeDocument/2006/relationships/slideLayout" Target="/ppt/slideLayouts/slideLayout1.xml" Id="Rd4d546f1e2e24b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546f1e2e24b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d4ab7d61d4fb7" /><Relationship Type="http://schemas.openxmlformats.org/officeDocument/2006/relationships/image" Target="/ppt/media/image.png" Id="R54e59bc0a8b04980" /><Relationship Type="http://schemas.openxmlformats.org/officeDocument/2006/relationships/image" Target="/ppt/media/image2.png" Id="Rc50c210ebb3c402f" /><Relationship Type="http://schemas.openxmlformats.org/officeDocument/2006/relationships/image" Target="/ppt/media/image3.png" Id="R285c70ca4daf4de0" /><Relationship Type="http://schemas.openxmlformats.org/officeDocument/2006/relationships/image" Target="/ppt/media/image4.png" Id="Rc613405769304202" /><Relationship Type="http://schemas.openxmlformats.org/officeDocument/2006/relationships/image" Target="/ppt/media/image5.png" Id="Rd5ae4868d6f24cde" /><Relationship Type="http://schemas.openxmlformats.org/officeDocument/2006/relationships/image" Target="/ppt/media/image6.png" Id="Rb5406d331f8047dc" /><Relationship Type="http://schemas.openxmlformats.org/officeDocument/2006/relationships/image" Target="/ppt/media/image7.png" Id="R060303aa2b8f4918" /><Relationship Type="http://schemas.openxmlformats.org/officeDocument/2006/relationships/image" Target="/ppt/media/image8.png" Id="R9f194a1fda1c49ef" /><Relationship Type="http://schemas.openxmlformats.org/officeDocument/2006/relationships/image" Target="/ppt/media/image9.png" Id="R282c88e54c4b413f" /><Relationship Type="http://schemas.openxmlformats.org/officeDocument/2006/relationships/notesSlide" Target="/ppt/notesSlides/notesSlide1.xml" Id="R393a7e85f7f94c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ath-panel">
            <a:extLst xmlns:a="http://schemas.openxmlformats.org/drawingml/2006/main">
              <a:ext uri="{FF2B5EF4-FFF2-40B4-BE49-F238E27FC236}">
                <a16:creationId xmlns:a16="http://schemas.microsoft.com/office/drawing/2014/main" id="{C5062713-67A8-33A0-A869-B11CE15A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3939" y="17726024"/>
            <a:ext cx="20102660" cy="5420971"/>
          </a:xfrm>
          <a:prstGeom xmlns:a="http://schemas.openxmlformats.org/drawingml/2006/main" prst="roundRect">
            <a:avLst>
              <a:gd name="adj" fmla="val 41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2" name="header">
            <a:extLst xmlns:a="http://schemas.openxmlformats.org/drawingml/2006/main">
              <a:ext uri="{FF2B5EF4-FFF2-40B4-BE49-F238E27FC236}">
                <a16:creationId xmlns:a16="http://schemas.microsoft.com/office/drawing/2014/main" id="{18392ECE-BC05-4A30-A2F1-350F5C57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DB99EA98-A601-4193-B29C-C8059390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0"/>
            <a:ext cx="42805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752A"/>
          </a:solidFill>
          <a:ln xmlns:a="http://schemas.openxmlformats.org/drawingml/2006/main" w="0">
            <a:solidFill>
              <a:srgbClr val="E875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A1C5D9-A7EF-467E-911C-38531DF0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0705"/>
            <a:ext cx="17619406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0" b="1">
                <a:solidFill>
                  <a:srgbClr val="FFFFFF"/>
                </a:solidFill>
              </a:defRPr>
            </a:pPr>
            <a:r>
              <a:rPr sz="8250" b="1">
                <a:solidFill>
                  <a:srgbClr val="FFFFFF"/>
                </a:solidFill>
              </a:rPr>
              <a:t>Learning to Play Risk with</a:t>
            </a:r>
          </a:p>
          <a:p xmlns:a="http://schemas.openxmlformats.org/drawingml/2006/main">
            <a:pPr algn="l">
              <a:buNone/>
              <a:defRPr sz="8250" b="1">
                <a:solidFill>
                  <a:srgbClr val="FFFFFF"/>
                </a:solidFill>
              </a:defRPr>
            </a:pPr>
            <a:r>
              <a:rPr sz="8250" b="1">
                <a:solidFill>
                  <a:srgbClr val="FFFFFF"/>
                </a:solidFill>
              </a:rPr>
              <a:t>Action-Injected Graph Neural Networks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C982B-75D9-4203-AF53-6CDB053E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30170"/>
            <a:ext cx="22884848" cy="503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C7D6E2"/>
                </a:solidFill>
              </a:defRPr>
            </a:pPr>
            <a:r>
              <a:rPr sz="3150" b="0">
                <a:solidFill>
                  <a:srgbClr val="C7D6E2"/>
                </a:solidFill>
              </a:rPr>
              <a:t>A graph-attention reinforcement-learning approach, compared across DQN, Dueling DQN, and PPO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1A629CBA-46CC-4E8F-85AE-E4B05D34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947" y="3952875"/>
            <a:ext cx="16144875" cy="408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9EC5D0"/>
                </a:solidFill>
              </a:defRPr>
            </a:pPr>
            <a:r>
              <a:rPr sz="2325" b="0">
                <a:solidFill>
                  <a:srgbClr val="9EC5D0"/>
                </a:solidFill>
              </a:rPr>
              <a:t>Practical Deep Learning for Science  •  </a:t>
            </a:r>
            <a:r>
              <a:rPr sz="2325" b="1">
                <a:solidFill>
                  <a:srgbClr val="9EC5D0"/>
                </a:solidFill>
              </a:rPr>
              <a:t>Prof. Eilam Gross</a:t>
            </a:r>
            <a:endParaRPr sz="2325" b="0">
              <a:solidFill>
                <a:srgbClr val="9EC5D0"/>
              </a:solidFill>
            </a:endParaRPr>
          </a:p>
        </p:txBody>
      </p:sp>
      <p:sp>
        <p:nvSpPr>
          <p:cNvPr id="7" name="claim">
            <a:extLst xmlns:a="http://schemas.openxmlformats.org/drawingml/2006/main">
              <a:ext uri="{FF2B5EF4-FFF2-40B4-BE49-F238E27FC236}">
                <a16:creationId xmlns:a16="http://schemas.microsoft.com/office/drawing/2014/main" id="{FC781605-6676-4548-A245-310F531E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397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DDF3F2"/>
          </a:solidFill>
          <a:ln xmlns:a="http://schemas.openxmlformats.org/drawingml/2006/main" w="0">
            <a:solidFill>
              <a:srgbClr val="DDF3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claim-text">
            <a:extLst xmlns:a="http://schemas.openxmlformats.org/drawingml/2006/main">
              <a:ext uri="{FF2B5EF4-FFF2-40B4-BE49-F238E27FC236}">
                <a16:creationId xmlns:a16="http://schemas.microsoft.com/office/drawing/2014/main" id="{8AE3B966-105B-48EC-B80D-D416C24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67375"/>
            <a:ext cx="38385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525" b="1">
                <a:solidFill>
                  <a:srgbClr val="102A43"/>
                </a:solidFill>
              </a:defRPr>
            </a:pPr>
            <a:r>
              <a:rPr sz="3525" b="1">
                <a:solidFill>
                  <a:srgbClr val="102A43"/>
                </a:solidFill>
              </a:rPr>
              <a:t>Instead of scoring one enormous fixed move list, the system injects each legal Risk move into the board graph and scores that state–action graph with one shared graph-attention encoder.</a:t>
            </a:r>
          </a:p>
        </p:txBody>
      </p:sp>
      <p:sp>
        <p:nvSpPr>
          <p:cNvPr id="9" name="panel-1">
            <a:extLst xmlns:a="http://schemas.openxmlformats.org/drawingml/2006/main">
              <a:ext uri="{FF2B5EF4-FFF2-40B4-BE49-F238E27FC236}">
                <a16:creationId xmlns:a16="http://schemas.microsoft.com/office/drawing/2014/main" id="{427036A3-B448-4953-BC8C-5AFCA51A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334250"/>
            <a:ext cx="9525000" cy="9953625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8F320233-D426-42B3-8B9E-C3F19171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7334250"/>
            <a:ext cx="14287500" cy="9953625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panel-3">
            <a:extLst xmlns:a="http://schemas.openxmlformats.org/drawingml/2006/main">
              <a:ext uri="{FF2B5EF4-FFF2-40B4-BE49-F238E27FC236}">
                <a16:creationId xmlns:a16="http://schemas.microsoft.com/office/drawing/2014/main" id="{74C5E218-7CF1-4321-A510-CA1D04E0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0" y="7334250"/>
            <a:ext cx="14611350" cy="9953625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E4A3E5BF-20DF-45F7-99D7-EA75EDE3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7734300"/>
            <a:ext cx="847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1  Board as a graph</a:t>
            </a:r>
          </a:p>
        </p:txBody>
      </p:sp>
      <p:sp>
        <p:nvSpPr>
          <p:cNvPr id="13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4ED55B3A-E48C-4A88-BDCE-2F08CB98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8458200"/>
            <a:ext cx="847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Risk's territories and borders are relational: move quality depends on </a:t>
            </a:r>
            <a:r>
              <a:rPr sz="2475" b="0">
                <a:solidFill>
                  <a:srgbClr val="5E6C76"/>
                </a:solidFill>
              </a:rPr>
              <a:t>neighbours</a:t>
            </a:r>
            <a:r>
              <a:rPr sz="2475" b="0">
                <a:solidFill>
                  <a:srgbClr val="5E6C76"/>
                </a:solidFill>
              </a:rPr>
              <a:t>, armies, and contested continents.</a:t>
            </a:r>
          </a:p>
        </p:txBody>
      </p:sp>
      <p:pic>
        <p:nvPicPr>
          <p:cNvPr id="146" name="Picture 8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59bc0a8b04980"/>
          <a:stretch xmlns:a="http://schemas.openxmlformats.org/drawingml/2006/main"/>
        </p:blipFill>
        <p:spPr>
          <a:xfrm xmlns:a="http://schemas.openxmlformats.org/drawingml/2006/main">
            <a:off x="2143125" y="9648825"/>
            <a:ext cx="8382000" cy="5541434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sp>
        <p:nvSpPr>
          <p:cNvPr id="15" name="graph-label">
            <a:extLst xmlns:a="http://schemas.openxmlformats.org/drawingml/2006/main">
              <a:ext uri="{FF2B5EF4-FFF2-40B4-BE49-F238E27FC236}">
                <a16:creationId xmlns:a16="http://schemas.microsoft.com/office/drawing/2014/main" id="{31424903-70C4-478B-9E69-B9C7B01D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5727931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0C7C86"/>
                </a:solidFill>
              </a:defRPr>
            </a:pPr>
            <a:r>
              <a:rPr sz="2325" b="1">
                <a:solidFill>
                  <a:srgbClr val="0C7C86"/>
                </a:solidFill>
              </a:rPr>
              <a:t>42 territory nodes  |  83 borders  |  166 directed edges</a:t>
            </a:r>
          </a:p>
        </p:txBody>
      </p:sp>
      <p:sp>
        <p:nvSpPr>
          <p:cNvPr id="16" name="graph-dims">
            <a:extLst xmlns:a="http://schemas.openxmlformats.org/drawingml/2006/main">
              <a:ext uri="{FF2B5EF4-FFF2-40B4-BE49-F238E27FC236}">
                <a16:creationId xmlns:a16="http://schemas.microsoft.com/office/drawing/2014/main" id="{984942EC-C9B7-4FB0-810D-D1A61191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394681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X [42 x 15]     E [166 x 2]     u [1 x 35]</a:t>
            </a:r>
          </a:p>
        </p:txBody>
      </p:sp>
      <p:sp>
        <p:nvSpPr>
          <p:cNvPr id="17" name="injection-title">
            <a:extLst xmlns:a="http://schemas.openxmlformats.org/drawingml/2006/main">
              <a:ext uri="{FF2B5EF4-FFF2-40B4-BE49-F238E27FC236}">
                <a16:creationId xmlns:a16="http://schemas.microsoft.com/office/drawing/2014/main" id="{CCCAF54D-787A-4857-BA70-D15E833E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7734300"/>
            <a:ext cx="1323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2  Inject each legal candidate action</a:t>
            </a:r>
          </a:p>
        </p:txBody>
      </p:sp>
      <p:sp>
        <p:nvSpPr>
          <p:cNvPr id="18" name="injection-copy">
            <a:extLst xmlns:a="http://schemas.openxmlformats.org/drawingml/2006/main">
              <a:ext uri="{FF2B5EF4-FFF2-40B4-BE49-F238E27FC236}">
                <a16:creationId xmlns:a16="http://schemas.microsoft.com/office/drawing/2014/main" id="{72921CD4-71B7-4495-B242-983CAB8B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8458200"/>
            <a:ext cx="1323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The action becomes part of the graph: an attack changes one border; other phases mark affected territory rows.</a:t>
            </a:r>
          </a:p>
        </p:txBody>
      </p:sp>
      <p:pic>
        <p:nvPicPr>
          <p:cNvPr id="151" name="Picture 9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c210ebb3c402f"/>
          <a:stretch xmlns:a="http://schemas.openxmlformats.org/drawingml/2006/main"/>
        </p:blipFill>
        <p:spPr>
          <a:xfrm xmlns:a="http://schemas.openxmlformats.org/drawingml/2006/main">
            <a:off x="13563600" y="9620250"/>
            <a:ext cx="10591800" cy="6953250"/>
          </a:xfrm>
          <a:prstGeom xmlns:a="http://schemas.openxmlformats.org/drawingml/2006/main" prst="roundRect">
            <a:avLst>
              <a:gd name="adj" fmla="val 3186"/>
            </a:avLst>
          </a:prstGeom>
        </p:spPr>
      </p:pic>
      <p:sp>
        <p:nvSpPr>
          <p:cNvPr id="23" name="encoder-title">
            <a:extLst xmlns:a="http://schemas.openxmlformats.org/drawingml/2006/main">
              <a:ext uri="{FF2B5EF4-FFF2-40B4-BE49-F238E27FC236}">
                <a16:creationId xmlns:a16="http://schemas.microsoft.com/office/drawing/2014/main" id="{79B4DD3D-FDCC-451A-A34B-00838800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3875" y="7734300"/>
            <a:ext cx="13573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3  Shared GATN encoder + phase heads</a:t>
            </a:r>
          </a:p>
        </p:txBody>
      </p:sp>
      <p:sp>
        <p:nvSpPr>
          <p:cNvPr id="24" name="encoder-copy">
            <a:extLst xmlns:a="http://schemas.openxmlformats.org/drawingml/2006/main">
              <a:ext uri="{FF2B5EF4-FFF2-40B4-BE49-F238E27FC236}">
                <a16:creationId xmlns:a16="http://schemas.microsoft.com/office/drawing/2014/main" id="{34DE2DAF-F125-4785-B516-3B680970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3875" y="8458200"/>
            <a:ext cx="13573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Four TransformerConv layers read the injected graph; the current Risk phase selects its small scoring head.</a:t>
            </a:r>
          </a:p>
        </p:txBody>
      </p:sp>
      <p:pic>
        <p:nvPicPr>
          <p:cNvPr id="154" name="Picture 10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c70ca4daf4de0"/>
          <a:stretch xmlns:a="http://schemas.openxmlformats.org/drawingml/2006/main"/>
        </p:blipFill>
        <p:spPr>
          <a:xfrm xmlns:a="http://schemas.openxmlformats.org/drawingml/2006/main">
            <a:off x="27670125" y="9620250"/>
            <a:ext cx="12611100" cy="7219950"/>
          </a:xfrm>
          <a:prstGeom xmlns:a="http://schemas.openxmlformats.org/drawingml/2006/main" prst="roundRect">
            <a:avLst>
              <a:gd name="adj" fmla="val 3186"/>
            </a:avLst>
          </a:prstGeom>
        </p:spPr>
      </p:pic>
      <p:sp>
        <p:nvSpPr>
          <p:cNvPr id="33" name="math-panel">
            <a:extLst xmlns:a="http://schemas.openxmlformats.org/drawingml/2006/main">
              <a:ext uri="{FF2B5EF4-FFF2-40B4-BE49-F238E27FC236}">
                <a16:creationId xmlns:a16="http://schemas.microsoft.com/office/drawing/2014/main" id="{13CF350F-FBF5-4C7E-97D9-3BCF8C32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1" y="17735549"/>
            <a:ext cx="19430998" cy="5420971"/>
          </a:xfrm>
          <a:prstGeom xmlns:a="http://schemas.openxmlformats.org/drawingml/2006/main" prst="roundRect">
            <a:avLst>
              <a:gd name="adj" fmla="val 41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math-title">
            <a:extLst xmlns:a="http://schemas.openxmlformats.org/drawingml/2006/main">
              <a:ext uri="{FF2B5EF4-FFF2-40B4-BE49-F238E27FC236}">
                <a16:creationId xmlns:a16="http://schemas.microsoft.com/office/drawing/2014/main" id="{11EAAD89-D915-4F50-9800-DA85D550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8145125"/>
            <a:ext cx="9188776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102A43"/>
                </a:solidFill>
              </a:defRPr>
            </a:pPr>
            <a:r>
              <a:rPr sz="3200" b="1">
                <a:solidFill>
                  <a:srgbClr val="102A43"/>
                </a:solidFill>
              </a:rPr>
              <a:t>How action injection changes sparse attention</a:t>
            </a:r>
          </a:p>
        </p:txBody>
      </p:sp>
      <p:sp>
        <p:nvSpPr>
          <p:cNvPr id="35" name="math-copy">
            <a:extLst xmlns:a="http://schemas.openxmlformats.org/drawingml/2006/main">
              <a:ext uri="{FF2B5EF4-FFF2-40B4-BE49-F238E27FC236}">
                <a16:creationId xmlns:a16="http://schemas.microsoft.com/office/drawing/2014/main" id="{B89FBAD3-D610-4461-A645-277C32D1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9338823"/>
            <a:ext cx="895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5E6C76"/>
                </a:solidFill>
              </a:defRPr>
            </a:pPr>
            <a:r>
              <a:rPr sz="2800" b="0">
                <a:solidFill>
                  <a:srgbClr val="5E6C76"/>
                </a:solidFill>
              </a:rPr>
              <a:t>Only the 166 directed Risk borders receive attention. An attack changes one selected edge row; reinforce, occupy, and fortify change affected node rows.</a:t>
            </a:r>
          </a:p>
        </p:txBody>
      </p:sp>
      <p:sp>
        <p:nvSpPr>
          <p:cNvPr id="37" name="math-footer">
            <a:extLst xmlns:a="http://schemas.openxmlformats.org/drawingml/2006/main">
              <a:ext uri="{FF2B5EF4-FFF2-40B4-BE49-F238E27FC236}">
                <a16:creationId xmlns:a16="http://schemas.microsoft.com/office/drawing/2014/main" id="{6008C5A5-555A-4F08-876B-9CDD6C4B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3632771"/>
            <a:ext cx="1762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8752A"/>
                </a:solidFill>
              </a:defRPr>
            </a:pPr>
            <a:r>
              <a:rPr sz="2100" b="1">
                <a:solidFill>
                  <a:srgbClr val="E8752A"/>
                </a:solidFill>
              </a:rPr>
              <a:t>E [166 x 2] -&gt; E_projected -&gt; K_edge / V_edge -&gt; segment softmax</a:t>
            </a:r>
          </a:p>
        </p:txBody>
      </p:sp>
      <p:sp>
        <p:nvSpPr>
          <p:cNvPr id="38" name="results-bg">
            <a:extLst xmlns:a="http://schemas.openxmlformats.org/drawingml/2006/main">
              <a:ext uri="{FF2B5EF4-FFF2-40B4-BE49-F238E27FC236}">
                <a16:creationId xmlns:a16="http://schemas.microsoft.com/office/drawing/2014/main" id="{B283BC1F-15F7-4669-A7D9-1521AEE8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442271"/>
            <a:ext cx="42805350" cy="676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F0545D8A-70C7-4FDD-9A4D-2711C0AD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728020"/>
            <a:ext cx="7649497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Results: training + held-out evaluation</a:t>
            </a:r>
          </a:p>
        </p:txBody>
      </p:sp>
      <p:sp>
        <p:nvSpPr>
          <p:cNvPr id="40" name="results-subtitle">
            <a:extLst xmlns:a="http://schemas.openxmlformats.org/drawingml/2006/main">
              <a:ext uri="{FF2B5EF4-FFF2-40B4-BE49-F238E27FC236}">
                <a16:creationId xmlns:a16="http://schemas.microsoft.com/office/drawing/2014/main" id="{9D364777-310B-4457-B161-8036260B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5055" y="23796544"/>
            <a:ext cx="18192750" cy="57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C7D6E2"/>
                </a:solidFill>
              </a:defRPr>
            </a:pPr>
            <a:r>
              <a:rPr sz="2800" b="0">
                <a:solidFill>
                  <a:srgbClr val="C7D6E2"/>
                </a:solidFill>
              </a:rPr>
              <a:t>DQN learning; learner comparison; DQN_103 evaluated across 3–6 players.</a:t>
            </a:r>
          </a:p>
        </p:txBody>
      </p:sp>
      <p:sp>
        <p:nvSpPr>
          <p:cNvPr id="83" name="result-card-dqn">
            <a:extLst xmlns:a="http://schemas.openxmlformats.org/drawingml/2006/main">
              <a:ext uri="{FF2B5EF4-FFF2-40B4-BE49-F238E27FC236}">
                <a16:creationId xmlns:a16="http://schemas.microsoft.com/office/drawing/2014/main" id="{B1AB4D29-521C-4C1D-87F0-04C11C20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699571"/>
            <a:ext cx="12192000" cy="5219700"/>
          </a:xfrm>
          <a:prstGeom xmlns:a="http://schemas.openxmlformats.org/drawingml/2006/main" prst="roundRect">
            <a:avLst>
              <a:gd name="adj" fmla="val 21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4" name="result-title-dqn">
            <a:extLst xmlns:a="http://schemas.openxmlformats.org/drawingml/2006/main">
              <a:ext uri="{FF2B5EF4-FFF2-40B4-BE49-F238E27FC236}">
                <a16:creationId xmlns:a16="http://schemas.microsoft.com/office/drawing/2014/main" id="{B293A5A7-2534-48C8-83B8-4363D4A4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909121"/>
            <a:ext cx="11391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DQN</a:t>
            </a:r>
          </a:p>
        </p:txBody>
      </p:sp>
      <p:sp>
        <p:nvSpPr>
          <p:cNvPr id="85" name="result-subtitle-dqn">
            <a:extLst xmlns:a="http://schemas.openxmlformats.org/drawingml/2006/main">
              <a:ext uri="{FF2B5EF4-FFF2-40B4-BE49-F238E27FC236}">
                <a16:creationId xmlns:a16="http://schemas.microsoft.com/office/drawing/2014/main" id="{2FE889F1-60A0-44E7-B32A-F986DB5A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5290121"/>
            <a:ext cx="1139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15999B"/>
                </a:solidFill>
              </a:defRPr>
            </a:pPr>
            <a:r>
              <a:rPr sz="1800">
                <a:solidFill>
                  <a:srgbClr val="15999B"/>
                </a:solidFill>
              </a:rPr>
              <a:t>Current DQN data</a:t>
            </a:r>
          </a:p>
        </p:txBody>
      </p:sp>
      <p:pic>
        <p:nvPicPr>
          <p:cNvPr id="165" name="Picture 1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3405769304202"/>
          <a:stretch xmlns:a="http://schemas.openxmlformats.org/drawingml/2006/main"/>
        </p:blipFill>
        <p:spPr>
          <a:xfrm xmlns:a="http://schemas.openxmlformats.org/drawingml/2006/main">
            <a:off x="3739767" y="25613971"/>
            <a:ext cx="7760465" cy="4076700"/>
          </a:xfrm>
          <a:prstGeom xmlns:a="http://schemas.openxmlformats.org/drawingml/2006/main" prst="rect">
            <a:avLst/>
          </a:prstGeom>
        </p:spPr>
      </p:pic>
      <p:sp>
        <p:nvSpPr>
          <p:cNvPr id="87" name="result-card-dueling-dqn">
            <a:extLst xmlns:a="http://schemas.openxmlformats.org/drawingml/2006/main">
              <a:ext uri="{FF2B5EF4-FFF2-40B4-BE49-F238E27FC236}">
                <a16:creationId xmlns:a16="http://schemas.microsoft.com/office/drawing/2014/main" id="{EC528E95-60EA-42A3-B14F-0DC0932A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24699571"/>
            <a:ext cx="12192000" cy="5219700"/>
          </a:xfrm>
          <a:prstGeom xmlns:a="http://schemas.openxmlformats.org/drawingml/2006/main" prst="roundRect">
            <a:avLst>
              <a:gd name="adj" fmla="val 21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8" name="result-title-dueling-dqn">
            <a:extLst xmlns:a="http://schemas.openxmlformats.org/drawingml/2006/main">
              <a:ext uri="{FF2B5EF4-FFF2-40B4-BE49-F238E27FC236}">
                <a16:creationId xmlns:a16="http://schemas.microsoft.com/office/drawing/2014/main" id="{59DC663C-64C0-43BC-9009-41ECA65A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4909121"/>
            <a:ext cx="11391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Learner comparison</a:t>
            </a:r>
          </a:p>
        </p:txBody>
      </p:sp>
      <p:sp>
        <p:nvSpPr>
          <p:cNvPr id="89" name="result-subtitle-dueling-dqn">
            <a:extLst xmlns:a="http://schemas.openxmlformats.org/drawingml/2006/main">
              <a:ext uri="{FF2B5EF4-FFF2-40B4-BE49-F238E27FC236}">
                <a16:creationId xmlns:a16="http://schemas.microsoft.com/office/drawing/2014/main" id="{AC7BCCE6-9F71-4594-BD55-48B2CE8D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5290121"/>
            <a:ext cx="1139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67E22"/>
                </a:solidFill>
              </a:defRPr>
            </a:pPr>
            <a:r>
              <a:rPr sz="1800">
                <a:solidFill>
                  <a:srgbClr val="E67E22"/>
                </a:solidFill>
              </a:rPr>
              <a:t>DQN | Dueling DQN | PPO</a:t>
            </a:r>
          </a:p>
        </p:txBody>
      </p:sp>
      <p:pic>
        <p:nvPicPr>
          <p:cNvPr id="169" name="Picture 1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3405769304202"/>
          <a:stretch xmlns:a="http://schemas.openxmlformats.org/drawingml/2006/main"/>
        </p:blipFill>
        <p:spPr>
          <a:xfrm xmlns:a="http://schemas.openxmlformats.org/drawingml/2006/main">
            <a:off x="17522442" y="25613971"/>
            <a:ext cx="7760465" cy="4076700"/>
          </a:xfrm>
          <a:prstGeom xmlns:a="http://schemas.openxmlformats.org/drawingml/2006/main" prst="rect">
            <a:avLst/>
          </a:prstGeom>
        </p:spPr>
      </p:pic>
      <p:sp>
        <p:nvSpPr>
          <p:cNvPr id="91" name="result-card-ppo">
            <a:extLst xmlns:a="http://schemas.openxmlformats.org/drawingml/2006/main">
              <a:ext uri="{FF2B5EF4-FFF2-40B4-BE49-F238E27FC236}">
                <a16:creationId xmlns:a16="http://schemas.microsoft.com/office/drawing/2014/main" id="{57673F6F-E28F-4EE6-BC11-DC68E87C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9350" y="24699571"/>
            <a:ext cx="12192000" cy="5219700"/>
          </a:xfrm>
          <a:prstGeom xmlns:a="http://schemas.openxmlformats.org/drawingml/2006/main" prst="roundRect">
            <a:avLst>
              <a:gd name="adj" fmla="val 21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2" name="result-title-ppo">
            <a:extLst xmlns:a="http://schemas.openxmlformats.org/drawingml/2006/main">
              <a:ext uri="{FF2B5EF4-FFF2-40B4-BE49-F238E27FC236}">
                <a16:creationId xmlns:a16="http://schemas.microsoft.com/office/drawing/2014/main" id="{BF9D49F0-D5F5-468E-B382-5B3A3AEA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0" y="24909121"/>
            <a:ext cx="11391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DQN_103 evaluation</a:t>
            </a:r>
          </a:p>
        </p:txBody>
      </p:sp>
      <p:sp>
        <p:nvSpPr>
          <p:cNvPr id="93" name="result-subtitle-ppo">
            <a:extLst xmlns:a="http://schemas.openxmlformats.org/drawingml/2006/main">
              <a:ext uri="{FF2B5EF4-FFF2-40B4-BE49-F238E27FC236}">
                <a16:creationId xmlns:a16="http://schemas.microsoft.com/office/drawing/2014/main" id="{52013E00-3529-4392-B7E8-B164767E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0" y="25290121"/>
            <a:ext cx="1139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67E22"/>
                </a:solidFill>
              </a:defRPr>
            </a:pPr>
            <a:r>
              <a:rPr sz="1800">
                <a:solidFill>
                  <a:srgbClr val="E67E22"/>
                </a:solidFill>
              </a:rPr>
              <a:t>Top 5 checkpoints · 54 games each</a:t>
            </a:r>
          </a:p>
        </p:txBody>
      </p:sp>
      <p:pic>
        <p:nvPicPr>
          <p:cNvPr id="173" name="Picture 1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3405769304202"/>
          <a:stretch xmlns:a="http://schemas.openxmlformats.org/drawingml/2006/main"/>
        </p:blipFill>
        <p:spPr>
          <a:xfrm xmlns:a="http://schemas.openxmlformats.org/drawingml/2006/main">
            <a:off x="31619238" y="25613971"/>
            <a:ext cx="7132223" cy="4076700"/>
          </a:xfrm>
          <a:prstGeom xmlns:a="http://schemas.openxmlformats.org/drawingml/2006/main" prst="rect">
            <a:avLst/>
          </a:prstGeom>
        </p:spPr>
      </p:pic>
      <p:sp>
        <p:nvSpPr>
          <p:cNvPr id="103" name="attention-novelty">
            <a:extLst xmlns:a="http://schemas.openxmlformats.org/drawingml/2006/main">
              <a:ext uri="{FF2B5EF4-FFF2-40B4-BE49-F238E27FC236}">
                <a16:creationId xmlns:a16="http://schemas.microsoft.com/office/drawing/2014/main" id="{633905E1-9C10-49CD-96BA-3FA820E1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1180841"/>
            <a:ext cx="8953500" cy="1336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7E87"/>
                </a:solidFill>
              </a:defRPr>
            </a:pPr>
            <a:r>
              <a:rPr sz="2800" b="1"/>
              <a:t>A legal move is represented as an injected graph feature, allowing one shared encoder to score the state–action pair together.</a:t>
            </a:r>
            <a:endParaRPr sz="3200" b="1">
              <a:solidFill>
                <a:srgbClr val="157E87"/>
              </a:solidFill>
            </a:endParaRPr>
          </a:p>
        </p:txBody>
      </p:sp>
      <p:sp>
        <p:nvSpPr>
          <p:cNvPr id="104" name="evaluation-heading">
            <a:extLst xmlns:a="http://schemas.openxmlformats.org/drawingml/2006/main">
              <a:ext uri="{FF2B5EF4-FFF2-40B4-BE49-F238E27FC236}">
                <a16:creationId xmlns:a16="http://schemas.microsoft.com/office/drawing/2014/main" id="{F26A0CBD-C049-4879-92AD-E84F959B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18217332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42B40"/>
                </a:solidFill>
              </a:defRPr>
            </a:pPr>
            <a:r>
              <a:rPr sz="3200" b="1">
                <a:solidFill>
                  <a:srgbClr val="142B40"/>
                </a:solidFill>
              </a:rPr>
              <a:t>Reward shaping behind DQN_103</a:t>
            </a:r>
          </a:p>
        </p:txBody>
      </p:sp>
      <p:sp>
        <p:nvSpPr>
          <p:cNvPr id="105" name="evaluation-protocol">
            <a:extLst xmlns:a="http://schemas.openxmlformats.org/drawingml/2006/main">
              <a:ext uri="{FF2B5EF4-FFF2-40B4-BE49-F238E27FC236}">
                <a16:creationId xmlns:a16="http://schemas.microsoft.com/office/drawing/2014/main" id="{863DAC7D-0B0E-4D1E-BA3B-42103DE3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19465419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253B4C"/>
                </a:solidFill>
              </a:defRPr>
            </a:pPr>
            <a:r>
              <a:rPr sz="2800">
                <a:solidFill>
                  <a:srgbClr val="253B4C"/>
                </a:solidFill>
              </a:rPr>
              <a:t>Risk wins arrive late.</a:t>
            </a:r>
          </a:p>
          <a:p xmlns:a="http://schemas.openxmlformats.org/drawingml/2006/main">
            <a:pPr>
              <a:buNone/>
              <a:defRPr sz="2250">
                <a:solidFill>
                  <a:srgbClr val="253B4C"/>
                </a:solidFill>
              </a:defRPr>
            </a:pPr>
            <a:r>
              <a:rPr sz="2800">
                <a:solidFill>
                  <a:srgbClr val="253B4C"/>
                </a:solidFill>
              </a:rPr>
              <a:t>Phase-aware rewards guide local choices.</a:t>
            </a:r>
          </a:p>
          <a:p xmlns:a="http://schemas.openxmlformats.org/drawingml/2006/main">
            <a:pPr>
              <a:buNone/>
              <a:defRPr sz="2250">
                <a:solidFill>
                  <a:srgbClr val="253B4C"/>
                </a:solidFill>
              </a:defRPr>
            </a:pPr>
            <a:r>
              <a:rPr sz="2800">
                <a:solidFill>
                  <a:srgbClr val="253B4C"/>
                </a:solidFill>
              </a:rPr>
              <a:t>Terminal win/loss remains dominant.</a:t>
            </a:r>
          </a:p>
        </p:txBody>
      </p:sp>
      <p:sp>
        <p:nvSpPr>
          <p:cNvPr id="106" name="evaluation-latest-result">
            <a:extLst xmlns:a="http://schemas.openxmlformats.org/drawingml/2006/main">
              <a:ext uri="{FF2B5EF4-FFF2-40B4-BE49-F238E27FC236}">
                <a16:creationId xmlns:a16="http://schemas.microsoft.com/office/drawing/2014/main" id="{EF9BEEB4-D611-4D51-92F3-FF39A32D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20894169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57E87"/>
                </a:solidFill>
              </a:defRPr>
            </a:pPr>
            <a:r>
              <a:rPr sz="2800" b="1">
                <a:solidFill>
                  <a:srgbClr val="157E87"/>
                </a:solidFill>
              </a:rPr>
              <a:t>Terminal: +100 win / -100 loss</a:t>
            </a:r>
          </a:p>
          <a:p xmlns:a="http://schemas.openxmlformats.org/drawingml/2006/main">
            <a:pPr>
              <a:buNone/>
              <a:defRPr sz="2325" b="1">
                <a:solidFill>
                  <a:srgbClr val="157E87"/>
                </a:solidFill>
              </a:defRPr>
            </a:pPr>
            <a:r>
              <a:rPr sz="2800" b="1">
                <a:solidFill>
                  <a:srgbClr val="157E87"/>
                </a:solidFill>
              </a:rPr>
              <a:t>Dense terms: clip [-10,+10] x 0.1</a:t>
            </a:r>
          </a:p>
        </p:txBody>
      </p:sp>
      <p:sp>
        <p:nvSpPr>
          <p:cNvPr id="107" name="evaluation-caveat">
            <a:extLst xmlns:a="http://schemas.openxmlformats.org/drawingml/2006/main">
              <a:ext uri="{FF2B5EF4-FFF2-40B4-BE49-F238E27FC236}">
                <a16:creationId xmlns:a16="http://schemas.microsoft.com/office/drawing/2014/main" id="{F6490ACB-FC14-4E7A-BEA8-AC66087D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22075269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B6B78"/>
                </a:solidFill>
              </a:defRPr>
            </a:pPr>
            <a:r>
              <a:rPr sz="2800">
                <a:solidFill>
                  <a:srgbClr val="5B6B78"/>
                </a:solidFill>
              </a:rPr>
              <a:t>Phase terms score learner actions; board progress arrives after opponents move.</a:t>
            </a:r>
          </a:p>
        </p:txBody>
      </p:sp>
      <p:sp>
        <p:nvSpPr>
          <p:cNvPr id="108" name="evaluation-chart-frame">
            <a:extLst xmlns:a="http://schemas.openxmlformats.org/drawingml/2006/main">
              <a:ext uri="{FF2B5EF4-FFF2-40B4-BE49-F238E27FC236}">
                <a16:creationId xmlns:a16="http://schemas.microsoft.com/office/drawing/2014/main" id="{A8646FA7-C403-456F-A4A8-131E8D9E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17954625"/>
            <a:ext cx="9239250" cy="4629150"/>
          </a:xfrm>
          <a:prstGeom xmlns:a="http://schemas.openxmlformats.org/drawingml/2006/main" prst="roundRect">
            <a:avLst>
              <a:gd name="adj" fmla="val 1646"/>
            </a:avLst>
          </a:prstGeom>
          <a:solidFill xmlns:a="http://schemas.openxmlformats.org/drawingml/2006/main">
            <a:srgbClr val="F8FBFC"/>
          </a:solidFill>
          <a:ln xmlns:a="http://schemas.openxmlformats.org/drawingml/2006/main" w="9525">
            <a:solidFill>
              <a:srgbClr val="D7E2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80" name="Picture 1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e4868d6f24cde"/>
          <a:stretch xmlns:a="http://schemas.openxmlformats.org/drawingml/2006/main"/>
        </p:blipFill>
        <p:spPr>
          <a:xfrm xmlns:a="http://schemas.openxmlformats.org/drawingml/2006/main">
            <a:off x="12129939" y="18002250"/>
            <a:ext cx="7884147" cy="4933950"/>
          </a:xfrm>
          <a:prstGeom xmlns:a="http://schemas.openxmlformats.org/drawingml/2006/main" prst="roundRect">
            <a:avLst>
              <a:gd name="adj" fmla="val 5143"/>
            </a:avLst>
          </a:prstGeom>
        </p:spPr>
      </p:pic>
      <p:pic>
        <p:nvPicPr>
          <p:cNvPr id="181" name="Picture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06d331f8047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976175" y="40005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119" name="github-repository-caption">
            <a:extLst xmlns:a="http://schemas.openxmlformats.org/drawingml/2006/main">
              <a:ext uri="{FF2B5EF4-FFF2-40B4-BE49-F238E27FC236}">
                <a16:creationId xmlns:a16="http://schemas.microsoft.com/office/drawing/2014/main" id="{2503D635-8807-49AD-A03A-469A3E59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75" y="3371850"/>
            <a:ext cx="319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 spc="1">
                <a:solidFill>
                  <a:srgbClr val="FFFFFF"/>
                </a:solidFill>
              </a:defRPr>
            </a:pPr>
            <a:r>
              <a:rPr sz="1800" b="1" spc="1">
                <a:solidFill>
                  <a:srgbClr val="FFFFFF"/>
                </a:solidFill>
              </a:rPr>
              <a:t>PROJECT REPOSITORY</a:t>
            </a:r>
          </a:p>
        </p:txBody>
      </p:sp>
      <p:pic>
        <p:nvPicPr>
          <p:cNvPr id="183" name="Picture 1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303aa2b8f4918"/>
          <a:stretch xmlns:a="http://schemas.openxmlformats.org/drawingml/2006/main"/>
        </p:blipFill>
        <p:spPr>
          <a:xfrm xmlns:a="http://schemas.openxmlformats.org/drawingml/2006/main">
            <a:off x="38653503" y="3752850"/>
            <a:ext cx="1626669" cy="371475"/>
          </a:xfrm>
          <a:prstGeom xmlns:a="http://schemas.openxmlformats.org/drawingml/2006/main" prst="rect">
            <a:avLst/>
          </a:prstGeom>
        </p:spPr>
      </p:pic>
      <p:pic>
        <p:nvPicPr>
          <p:cNvPr id="184" name="Picture 18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94a1fda1c49ef"/>
          <a:stretch xmlns:a="http://schemas.openxmlformats.org/drawingml/2006/main"/>
        </p:blipFill>
        <p:spPr>
          <a:xfrm xmlns:a="http://schemas.openxmlformats.org/drawingml/2006/main">
            <a:off x="29489400" y="304800"/>
            <a:ext cx="7246473" cy="1856748"/>
          </a:xfrm>
          <a:prstGeom xmlns:a="http://schemas.openxmlformats.org/drawingml/2006/main" prst="rect">
            <a:avLst/>
          </a:prstGeom>
        </p:spPr>
      </p:pic>
      <p:sp>
        <p:nvSpPr>
          <p:cNvPr id="19" name="subtitle">
            <a:extLst xmlns:a="http://schemas.openxmlformats.org/drawingml/2006/main">
              <a:ext uri="{FF2B5EF4-FFF2-40B4-BE49-F238E27FC236}">
                <a16:creationId xmlns:a16="http://schemas.microsoft.com/office/drawing/2014/main" id="{2D49C382-0EBE-24CA-189A-DDB7C420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00425"/>
            <a:ext cx="22884848" cy="503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0">
                <a:solidFill>
                  <a:srgbClr val="C7D6E2"/>
                </a:solidFill>
              </a:defRPr>
            </a:pPr>
            <a:r>
              <a:rPr sz="3150" b="0">
                <a:solidFill>
                  <a:srgbClr val="C7D6E2"/>
                </a:solidFill>
              </a:rPr>
              <a:t>Gilad Markman </a:t>
            </a:r>
            <a:r>
              <a:rPr sz="3200">
                <a:solidFill>
                  <a:srgbClr val="9EC5D0"/>
                </a:solidFill>
              </a:rPr>
              <a:t>•</a:t>
            </a:r>
            <a:r>
              <a:rPr sz="3200">
                <a:solidFill>
                  <a:srgbClr val="9EC5D0"/>
                </a:solidFill>
              </a:rPr>
              <a:t> </a:t>
            </a:r>
            <a:r>
              <a:rPr sz="2800">
                <a:solidFill>
                  <a:srgbClr val="9EC5D0"/>
                </a:solidFill>
              </a:rPr>
              <a:t>2026</a:t>
            </a:r>
            <a:endParaRPr sz="3150" b="0">
              <a:solidFill>
                <a:srgbClr val="C7D6E2"/>
              </a:solidFill>
            </a:endParaRPr>
          </a:p>
        </p:txBody>
      </p:sp>
      <p:pic>
        <p:nvPicPr>
          <p:cNvPr id="186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2c88e54c4b41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363697" y="283153"/>
            <a:ext cx="6552543" cy="4212647"/>
          </a:xfrm>
          <a:prstGeom xmlns:a="http://schemas.openxmlformats.org/drawingml/2006/main" prst="rect">
            <a:avLst/>
          </a:prstGeom>
        </p:spPr>
      </p:pic>
      <p:graphicFrame>
        <p:nvGraphicFramePr>
          <p:cNvPr id="187" name=""/>
          <p:cNvGraphicFramePr/>
          <p:nvPr/>
        </p:nvGraphicFramePr>
        <p:xfrm>
          <a:off xmlns:a="http://schemas.openxmlformats.org/drawingml/2006/main" x="31384875" y="18116550"/>
          <a:ext xmlns:a="http://schemas.openxmlformats.org/drawingml/2006/main" cx="8953500" cy="4333875"/>
        </p:xfrm>
        <a:graphic xmlns:a="http://schemas.openxmlformats.org/drawingml/2006/main">
          <a:graphicData uri="http://schemas.openxmlformats.org/drawingml/2006/table">
            <a:tbl>
              <a:tblPr firstRow="1" firstCol="1" bandRow="1"/>
              <a:tblGrid>
                <a:gridCol w="1381125"/>
                <a:gridCol w="4362450"/>
                <a:gridCol w="3209925"/>
              </a:tblGrid>
              <a:tr h="4572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Signal</a:t>
                      </a:r>
                    </a:p>
                  </a:txBody>
                  <a:tcPr marL="66675" marR="66675" marT="38100" marB="38100">
                    <a:solidFill>
                      <a:srgbClr val="17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DQN_103 raw reward</a:t>
                      </a:r>
                    </a:p>
                  </a:txBody>
                  <a:tcPr marL="66675" marR="66675" marT="38100" marB="38100">
                    <a:solidFill>
                      <a:srgbClr val="17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Purpose</a:t>
                      </a:r>
                    </a:p>
                  </a:txBody>
                  <a:tcPr marL="66675" marR="66675" marT="38100" marB="38100">
                    <a:solidFill>
                      <a:srgbClr val="173A56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47D86"/>
                          </a:solidFill>
                          <a:latin typeface="Calibri"/>
                          <a:ea typeface="Calibri"/>
                          <a:cs typeface="Calibri"/>
                        </a:rPr>
                        <a:t>Terminal</a:t>
                      </a:r>
                    </a:p>
                  </a:txBody>
                  <a:tcPr marL="66675" marR="66675" marT="38100" marB="38100"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win +100 · loss −100</a:t>
                      </a:r>
                    </a:p>
                  </a:txBody>
                  <a:tcPr marL="66675" marR="66675" marT="38100" marB="38100">
                    <a:solidFill>
                      <a:srgbClr val="F7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Win the game</a:t>
                      </a:r>
                    </a:p>
                  </a:txBody>
                  <a:tcPr marL="66675" marR="66675" marT="38100" marB="38100">
                    <a:solidFill>
                      <a:srgbClr val="F7FBFC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47D86"/>
                          </a:solidFill>
                          <a:latin typeface="Calibri"/>
                          <a:ea typeface="Calibri"/>
                          <a:cs typeface="Calibri"/>
                        </a:rPr>
                        <a:t>Reinforce</a:t>
                      </a:r>
                    </a:p>
                  </a:txBody>
                  <a:tcPr marL="66675" marR="66675" marT="38100" marB="38100"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frontier + readiness; interior −0.8</a:t>
                      </a:r>
                    </a:p>
                  </a:txBody>
                  <a:tcPr marL="66675" marR="66675" marT="38100" marB="3810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Build usable attacks</a:t>
                      </a:r>
                    </a:p>
                  </a:txBody>
                  <a:tcPr marL="66675" marR="66675" marT="38100" marB="38100"/>
                </a:tc>
              </a:tr>
              <a:tr h="9906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47D86"/>
                          </a:solidFill>
                          <a:latin typeface="Calibri"/>
                          <a:ea typeface="Calibri"/>
                          <a:cs typeface="Calibri"/>
                        </a:rPr>
                        <a:t>Attack</a:t>
                      </a:r>
                    </a:p>
                  </a:txBody>
                  <a:tcPr marL="66675" marR="66675" marT="38100" marB="38100"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army ratio, dice, conquest +1.2, continent / elimination +4</a:t>
                      </a:r>
                    </a:p>
                  </a:txBody>
                  <a:tcPr marL="66675" marR="66675" marT="38100" marB="38100">
                    <a:solidFill>
                      <a:srgbClr val="F7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Favor profitable battles</a:t>
                      </a:r>
                    </a:p>
                  </a:txBody>
                  <a:tcPr marL="66675" marR="66675" marT="38100" marB="38100">
                    <a:solidFill>
                      <a:srgbClr val="F7FBFC"/>
                    </a:solidFill>
                  </a:tcPr>
                </a:tc>
              </a:tr>
              <a:tr h="1285875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47D86"/>
                          </a:solidFill>
                          <a:latin typeface="Calibri"/>
                          <a:ea typeface="Calibri"/>
                          <a:cs typeface="Calibri"/>
                        </a:rPr>
                        <a:t>Position + board</a:t>
                      </a:r>
                    </a:p>
                  </a:txBody>
                  <a:tcPr marL="66675" marR="66675" marT="38100" marB="38100"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occupy / fortify frontier; Δ territory, army and continent after opponents</a:t>
                      </a:r>
                    </a:p>
                  </a:txBody>
                  <a:tcPr marL="66675" marR="66675" marT="38100" marB="3810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3446"/>
                          </a:solidFill>
                          <a:latin typeface="Calibri"/>
                          <a:ea typeface="Calibri"/>
                          <a:cs typeface="Calibri"/>
                        </a:rPr>
                        <a:t>Push and protect gains</a:t>
                      </a:r>
                    </a:p>
                  </a:txBody>
                  <a:tcPr marL="66675" marR="66675"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294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2026-08-14T12:32:20.9860000Z</dcterms:created>
  <dcterms:modified xsi:type="dcterms:W3CDTF">2026-08-14T12:32:20.9860000Z</dcterms:modified>
</coreProperties>
</file>