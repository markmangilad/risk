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42805350" cy="3027045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444" y="-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Poster narrative and local visual assets adapted from Docs/Poster.md.</a:t>
            </a:r>
          </a:p>
          <a:p>
            <a:endParaRPr/>
          </a:p>
          <a:p>
            <a:r>
              <a:t>Results:</a:t>
            </a:r>
          </a:p>
          <a:p>
            <a:r>
              <a:t> - DQN card and temporary learner-comparison graphic: Assets/DQN Win.png.</a:t>
            </a:r>
          </a:p>
          <a:p>
            <a:r>
              <a:t> - DQN_103 cross-player-count evaluation: Checkpoints/DQN_103/evaluations/top5_checkpoint_win_rates_all_player_counts.png; checkpoint_eval_ep006200_to_006700.json. Evaluation protocol: 54 games per checkpoint (3 seeds x learner seat x 3-6 total players), epsilon 0, 2,000-step cap.</a:t>
            </a:r>
          </a:p>
          <a:p>
            <a:endParaRPr/>
          </a:p>
          <a:p>
            <a:r>
              <a:t>Reward shaping behind DQN_103:</a:t>
            </a:r>
          </a:p>
          <a:p>
            <a:r>
              <a:t> - Historical checkpoint configuration: wandb/run-20260801_170850-sad3393d/logs/debug.log (REWARD_SHAPING_SCALE=0.1; terminal +/-100).</a:t>
            </a:r>
          </a:p>
          <a:p>
            <a:r>
              <a:t> - Historical implementation: commit 1411c0d (reward.py and train_constants.py). Dense learner-action terms were summed, clipped to [-10,+10], then multiplied by 0.1; terminal reward was unscaled. End-of-turn board progress was separately scaled by 0.1 and measured after opponents acted.</a:t>
            </a:r>
          </a:p>
          <a:p>
            <a:r>
              <a:t> - The poster table summarizes terminal, trade, reinforce, attack, occupy/fortify, and board-progress terms in plain language. Docs/Reward.md contains the full current reward reference; it does not retroactively describe DQN_103's historical values.</a:t>
            </a:r>
          </a:p>
          <a:p>
            <a:endParaRPr/>
          </a:p>
          <a:p>
            <a:r>
              <a:t>Methods and architecture:</a:t>
            </a:r>
          </a:p>
          <a:p>
            <a:r>
              <a:t> - Docs/NetworkArchitectures.md, Docs/DuelingDQN.md, Docs/PPO.md, Docs/Reward.md.</a:t>
            </a:r>
          </a:p>
          <a:p>
            <a:endParaRPr/>
          </a:p>
          <a:p>
            <a:r>
              <a:t>Branding and QR assets are local project assets; Weizmann logo was user-provided.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ath-panel">
            <a:extLst>
              <a:ext uri="{FF2B5EF4-FFF2-40B4-BE49-F238E27FC236}">
                <a16:creationId xmlns:a16="http://schemas.microsoft.com/office/drawing/2014/main" id="{C5062713-67A8-33A0-A869-B11CE15AB6C6}"/>
              </a:ext>
            </a:extLst>
          </p:cNvPr>
          <p:cNvSpPr>
            <a:spLocks noGrp="1"/>
          </p:cNvSpPr>
          <p:nvPr/>
        </p:nvSpPr>
        <p:spPr>
          <a:xfrm>
            <a:off x="21711302" y="17189502"/>
            <a:ext cx="19665297" cy="5963068"/>
          </a:xfrm>
          <a:prstGeom prst="roundRect">
            <a:avLst>
              <a:gd name="adj" fmla="val 4151"/>
            </a:avLst>
          </a:prstGeom>
          <a:solidFill>
            <a:srgbClr val="FFFFFF"/>
          </a:solidFill>
          <a:ln w="0">
            <a:solidFill>
              <a:srgbClr val="D8E1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header">
            <a:extLst>
              <a:ext uri="{FF2B5EF4-FFF2-40B4-BE49-F238E27FC236}">
                <a16:creationId xmlns:a16="http://schemas.microsoft.com/office/drawing/2014/main" id="{18392ECE-BC05-4A30-A2F1-350F5C5720A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2805350" cy="4857750"/>
          </a:xfrm>
          <a:prstGeom prst="rect">
            <a:avLst/>
          </a:prstGeom>
          <a:solidFill>
            <a:srgbClr val="102A43"/>
          </a:solidFill>
          <a:ln w="0">
            <a:solidFill>
              <a:srgbClr val="102A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header-accent">
            <a:extLst>
              <a:ext uri="{FF2B5EF4-FFF2-40B4-BE49-F238E27FC236}">
                <a16:creationId xmlns:a16="http://schemas.microsoft.com/office/drawing/2014/main" id="{DB99EA98-A601-4193-B29C-C8059390258C}"/>
              </a:ext>
            </a:extLst>
          </p:cNvPr>
          <p:cNvSpPr>
            <a:spLocks noGrp="1"/>
          </p:cNvSpPr>
          <p:nvPr/>
        </p:nvSpPr>
        <p:spPr>
          <a:xfrm>
            <a:off x="0" y="4667250"/>
            <a:ext cx="42805350" cy="190500"/>
          </a:xfrm>
          <a:prstGeom prst="rect">
            <a:avLst/>
          </a:prstGeom>
          <a:solidFill>
            <a:srgbClr val="E8752A"/>
          </a:solidFill>
          <a:ln w="0">
            <a:solidFill>
              <a:srgbClr val="E875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DA1C5D9-A7EF-467E-911C-38531DF05BF7}"/>
              </a:ext>
            </a:extLst>
          </p:cNvPr>
          <p:cNvSpPr>
            <a:spLocks noGrp="1"/>
          </p:cNvSpPr>
          <p:nvPr/>
        </p:nvSpPr>
        <p:spPr>
          <a:xfrm>
            <a:off x="1524000" y="360705"/>
            <a:ext cx="17619406" cy="2428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0" b="1">
                <a:solidFill>
                  <a:srgbClr val="FFFFFF"/>
                </a:solidFill>
              </a:defRPr>
            </a:pPr>
            <a:r>
              <a:rPr sz="8250" b="1">
                <a:solidFill>
                  <a:srgbClr val="FFFFFF"/>
                </a:solidFill>
              </a:rPr>
              <a:t>Learning to Play Risk with</a:t>
            </a:r>
          </a:p>
          <a:p>
            <a:pPr algn="l">
              <a:buNone/>
              <a:defRPr sz="8250" b="1">
                <a:solidFill>
                  <a:srgbClr val="FFFFFF"/>
                </a:solidFill>
              </a:defRPr>
            </a:pPr>
            <a:r>
              <a:rPr sz="8250" b="1">
                <a:solidFill>
                  <a:srgbClr val="FFFFFF"/>
                </a:solidFill>
              </a:rPr>
              <a:t>Action-Injected Graph Neural Networks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DBEC982B-75D9-4203-AF53-6CDB053E1D0D}"/>
              </a:ext>
            </a:extLst>
          </p:cNvPr>
          <p:cNvSpPr>
            <a:spLocks noGrp="1"/>
          </p:cNvSpPr>
          <p:nvPr/>
        </p:nvSpPr>
        <p:spPr>
          <a:xfrm>
            <a:off x="1524000" y="2830170"/>
            <a:ext cx="22884848" cy="5035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150" b="0">
                <a:solidFill>
                  <a:srgbClr val="C7D6E2"/>
                </a:solidFill>
              </a:defRPr>
            </a:pPr>
            <a:r>
              <a:rPr sz="3150" b="0">
                <a:solidFill>
                  <a:srgbClr val="C7D6E2"/>
                </a:solidFill>
              </a:rPr>
              <a:t>A graph-attention reinforcement-learning approach, compared across DQN, Dueling DQN, and PPO</a:t>
            </a:r>
          </a:p>
        </p:txBody>
      </p:sp>
      <p:sp>
        <p:nvSpPr>
          <p:cNvPr id="5" name="author">
            <a:extLst>
              <a:ext uri="{FF2B5EF4-FFF2-40B4-BE49-F238E27FC236}">
                <a16:creationId xmlns:a16="http://schemas.microsoft.com/office/drawing/2014/main" id="{1A629CBA-46CC-4E8F-85AE-E4B05D34F1DD}"/>
              </a:ext>
            </a:extLst>
          </p:cNvPr>
          <p:cNvSpPr>
            <a:spLocks noGrp="1"/>
          </p:cNvSpPr>
          <p:nvPr/>
        </p:nvSpPr>
        <p:spPr>
          <a:xfrm>
            <a:off x="1522947" y="3952875"/>
            <a:ext cx="16144875" cy="4083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0">
                <a:solidFill>
                  <a:srgbClr val="9EC5D0"/>
                </a:solidFill>
              </a:defRPr>
            </a:pPr>
            <a:r>
              <a:rPr sz="2325" b="0">
                <a:solidFill>
                  <a:srgbClr val="9EC5D0"/>
                </a:solidFill>
              </a:rPr>
              <a:t>Practical Deep Learning for Science  •  </a:t>
            </a:r>
            <a:r>
              <a:rPr sz="2325" b="1">
                <a:solidFill>
                  <a:srgbClr val="9EC5D0"/>
                </a:solidFill>
              </a:rPr>
              <a:t>Prof. Eilam Gross</a:t>
            </a:r>
            <a:endParaRPr sz="2325" b="0">
              <a:solidFill>
                <a:srgbClr val="9EC5D0"/>
              </a:solidFill>
            </a:endParaRPr>
          </a:p>
        </p:txBody>
      </p:sp>
      <p:sp>
        <p:nvSpPr>
          <p:cNvPr id="7" name="claim">
            <a:extLst>
              <a:ext uri="{FF2B5EF4-FFF2-40B4-BE49-F238E27FC236}">
                <a16:creationId xmlns:a16="http://schemas.microsoft.com/office/drawing/2014/main" id="{FC781605-6676-4548-A245-310F531E5AF5}"/>
              </a:ext>
            </a:extLst>
          </p:cNvPr>
          <p:cNvSpPr>
            <a:spLocks noGrp="1"/>
          </p:cNvSpPr>
          <p:nvPr/>
        </p:nvSpPr>
        <p:spPr>
          <a:xfrm>
            <a:off x="1524000" y="5127521"/>
            <a:ext cx="39757350" cy="1335974"/>
          </a:xfrm>
          <a:prstGeom prst="roundRect">
            <a:avLst>
              <a:gd name="adj" fmla="val 12195"/>
            </a:avLst>
          </a:prstGeom>
          <a:solidFill>
            <a:srgbClr val="DDF3F2"/>
          </a:solidFill>
          <a:ln w="0">
            <a:solidFill>
              <a:srgbClr val="DDF3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claim-text">
            <a:extLst>
              <a:ext uri="{FF2B5EF4-FFF2-40B4-BE49-F238E27FC236}">
                <a16:creationId xmlns:a16="http://schemas.microsoft.com/office/drawing/2014/main" id="{8AE3B966-105B-48EC-B80D-D416C24E6BE9}"/>
              </a:ext>
            </a:extLst>
          </p:cNvPr>
          <p:cNvSpPr>
            <a:spLocks noGrp="1"/>
          </p:cNvSpPr>
          <p:nvPr/>
        </p:nvSpPr>
        <p:spPr>
          <a:xfrm>
            <a:off x="2143125" y="5460896"/>
            <a:ext cx="383857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3525" b="1">
                <a:solidFill>
                  <a:srgbClr val="102A43"/>
                </a:solidFill>
              </a:defRPr>
            </a:pPr>
            <a:r>
              <a:rPr sz="3525" b="1" dirty="0">
                <a:solidFill>
                  <a:srgbClr val="102A43"/>
                </a:solidFill>
              </a:rPr>
              <a:t>Instead of scoring one enormous fixed move list, the system injects each legal Risk move into the board graph and scores that state–action graph with one shared graph-attention encoder.</a:t>
            </a:r>
          </a:p>
        </p:txBody>
      </p:sp>
      <p:sp>
        <p:nvSpPr>
          <p:cNvPr id="9" name="panel-1">
            <a:extLst>
              <a:ext uri="{FF2B5EF4-FFF2-40B4-BE49-F238E27FC236}">
                <a16:creationId xmlns:a16="http://schemas.microsoft.com/office/drawing/2014/main" id="{427036A3-B448-4953-BC8C-5AFCA51A67AC}"/>
              </a:ext>
            </a:extLst>
          </p:cNvPr>
          <p:cNvSpPr>
            <a:spLocks noGrp="1"/>
          </p:cNvSpPr>
          <p:nvPr/>
        </p:nvSpPr>
        <p:spPr>
          <a:xfrm>
            <a:off x="1524000" y="6921292"/>
            <a:ext cx="9525000" cy="9953625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0">
            <a:solidFill>
              <a:srgbClr val="D8E1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panel-2">
            <a:extLst>
              <a:ext uri="{FF2B5EF4-FFF2-40B4-BE49-F238E27FC236}">
                <a16:creationId xmlns:a16="http://schemas.microsoft.com/office/drawing/2014/main" id="{8F320233-D426-42B3-8B9E-C3F19171157D}"/>
              </a:ext>
            </a:extLst>
          </p:cNvPr>
          <p:cNvSpPr>
            <a:spLocks noGrp="1"/>
          </p:cNvSpPr>
          <p:nvPr/>
        </p:nvSpPr>
        <p:spPr>
          <a:xfrm>
            <a:off x="11715750" y="6921292"/>
            <a:ext cx="14287500" cy="9953625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0">
            <a:solidFill>
              <a:srgbClr val="D8E1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panel-3">
            <a:extLst>
              <a:ext uri="{FF2B5EF4-FFF2-40B4-BE49-F238E27FC236}">
                <a16:creationId xmlns:a16="http://schemas.microsoft.com/office/drawing/2014/main" id="{74C5E218-7CF1-4321-A510-CA1D04E06CBD}"/>
              </a:ext>
            </a:extLst>
          </p:cNvPr>
          <p:cNvSpPr>
            <a:spLocks noGrp="1"/>
          </p:cNvSpPr>
          <p:nvPr/>
        </p:nvSpPr>
        <p:spPr>
          <a:xfrm>
            <a:off x="26670000" y="6921292"/>
            <a:ext cx="14611350" cy="9953625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0">
            <a:solidFill>
              <a:srgbClr val="D8E1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problem-title">
            <a:extLst>
              <a:ext uri="{FF2B5EF4-FFF2-40B4-BE49-F238E27FC236}">
                <a16:creationId xmlns:a16="http://schemas.microsoft.com/office/drawing/2014/main" id="{E4A3E5BF-20DF-45F7-99D7-EA75EDE35B4B}"/>
              </a:ext>
            </a:extLst>
          </p:cNvPr>
          <p:cNvSpPr>
            <a:spLocks noGrp="1"/>
          </p:cNvSpPr>
          <p:nvPr/>
        </p:nvSpPr>
        <p:spPr>
          <a:xfrm>
            <a:off x="2047875" y="7734300"/>
            <a:ext cx="847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225" b="1">
                <a:solidFill>
                  <a:srgbClr val="102A43"/>
                </a:solidFill>
              </a:defRPr>
            </a:pPr>
            <a:r>
              <a:rPr sz="3225" b="1">
                <a:solidFill>
                  <a:srgbClr val="102A43"/>
                </a:solidFill>
              </a:rPr>
              <a:t>1  Board as a graph</a:t>
            </a:r>
          </a:p>
        </p:txBody>
      </p:sp>
      <p:sp>
        <p:nvSpPr>
          <p:cNvPr id="13" name="problem-copy">
            <a:extLst>
              <a:ext uri="{FF2B5EF4-FFF2-40B4-BE49-F238E27FC236}">
                <a16:creationId xmlns:a16="http://schemas.microsoft.com/office/drawing/2014/main" id="{4ED55B3A-E48C-4A88-BDCE-2F08CB9811B1}"/>
              </a:ext>
            </a:extLst>
          </p:cNvPr>
          <p:cNvSpPr>
            <a:spLocks noGrp="1"/>
          </p:cNvSpPr>
          <p:nvPr/>
        </p:nvSpPr>
        <p:spPr>
          <a:xfrm>
            <a:off x="2047875" y="8458200"/>
            <a:ext cx="8477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75" b="0">
                <a:solidFill>
                  <a:srgbClr val="5E6C76"/>
                </a:solidFill>
              </a:defRPr>
            </a:pPr>
            <a:r>
              <a:rPr sz="2475" b="0">
                <a:solidFill>
                  <a:srgbClr val="5E6C76"/>
                </a:solidFill>
              </a:rPr>
              <a:t>Risk's territories and borders are relational: move quality depends on neighbours, armies, and contested continents.</a:t>
            </a:r>
          </a:p>
        </p:txBody>
      </p:sp>
      <p:pic>
        <p:nvPicPr>
          <p:cNvPr id="145" name="Picture 8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143125" y="9648825"/>
            <a:ext cx="8382000" cy="5541434"/>
          </a:xfrm>
          <a:prstGeom prst="roundRect">
            <a:avLst>
              <a:gd name="adj" fmla="val 3158"/>
            </a:avLst>
          </a:prstGeom>
        </p:spPr>
      </p:pic>
      <p:sp>
        <p:nvSpPr>
          <p:cNvPr id="15" name="graph-label">
            <a:extLst>
              <a:ext uri="{FF2B5EF4-FFF2-40B4-BE49-F238E27FC236}">
                <a16:creationId xmlns:a16="http://schemas.microsoft.com/office/drawing/2014/main" id="{31424903-70C4-478B-9E69-B9C7B01D4B2C}"/>
              </a:ext>
            </a:extLst>
          </p:cNvPr>
          <p:cNvSpPr>
            <a:spLocks noGrp="1"/>
          </p:cNvSpPr>
          <p:nvPr/>
        </p:nvSpPr>
        <p:spPr>
          <a:xfrm>
            <a:off x="2047875" y="15727931"/>
            <a:ext cx="8477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325" b="1">
                <a:solidFill>
                  <a:srgbClr val="0C7C86"/>
                </a:solidFill>
              </a:defRPr>
            </a:pPr>
            <a:r>
              <a:rPr sz="2325" b="1">
                <a:solidFill>
                  <a:srgbClr val="0C7C86"/>
                </a:solidFill>
              </a:rPr>
              <a:t>42 territory nodes  |  83 borders  |  166 directed edges</a:t>
            </a:r>
          </a:p>
        </p:txBody>
      </p:sp>
      <p:sp>
        <p:nvSpPr>
          <p:cNvPr id="16" name="graph-dims">
            <a:extLst>
              <a:ext uri="{FF2B5EF4-FFF2-40B4-BE49-F238E27FC236}">
                <a16:creationId xmlns:a16="http://schemas.microsoft.com/office/drawing/2014/main" id="{984942EC-C9B7-4FB0-810D-D1A6119101AC}"/>
              </a:ext>
            </a:extLst>
          </p:cNvPr>
          <p:cNvSpPr>
            <a:spLocks noGrp="1"/>
          </p:cNvSpPr>
          <p:nvPr/>
        </p:nvSpPr>
        <p:spPr>
          <a:xfrm>
            <a:off x="2047875" y="16394681"/>
            <a:ext cx="8477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X [42 x 15]     E [166 x 2]     u [1 x 35]</a:t>
            </a:r>
          </a:p>
        </p:txBody>
      </p:sp>
      <p:sp>
        <p:nvSpPr>
          <p:cNvPr id="17" name="injection-title">
            <a:extLst>
              <a:ext uri="{FF2B5EF4-FFF2-40B4-BE49-F238E27FC236}">
                <a16:creationId xmlns:a16="http://schemas.microsoft.com/office/drawing/2014/main" id="{CCCAF54D-787A-4857-BA70-D15E833E6F30}"/>
              </a:ext>
            </a:extLst>
          </p:cNvPr>
          <p:cNvSpPr>
            <a:spLocks noGrp="1"/>
          </p:cNvSpPr>
          <p:nvPr/>
        </p:nvSpPr>
        <p:spPr>
          <a:xfrm>
            <a:off x="12239625" y="7734300"/>
            <a:ext cx="1323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225" b="1">
                <a:solidFill>
                  <a:srgbClr val="102A43"/>
                </a:solidFill>
              </a:defRPr>
            </a:pPr>
            <a:r>
              <a:rPr sz="3225" b="1">
                <a:solidFill>
                  <a:srgbClr val="102A43"/>
                </a:solidFill>
              </a:rPr>
              <a:t>2  Inject each legal candidate action</a:t>
            </a:r>
          </a:p>
        </p:txBody>
      </p:sp>
      <p:sp>
        <p:nvSpPr>
          <p:cNvPr id="18" name="injection-copy">
            <a:extLst>
              <a:ext uri="{FF2B5EF4-FFF2-40B4-BE49-F238E27FC236}">
                <a16:creationId xmlns:a16="http://schemas.microsoft.com/office/drawing/2014/main" id="{72921CD4-71B7-4495-B242-983CAB8B9414}"/>
              </a:ext>
            </a:extLst>
          </p:cNvPr>
          <p:cNvSpPr>
            <a:spLocks noGrp="1"/>
          </p:cNvSpPr>
          <p:nvPr/>
        </p:nvSpPr>
        <p:spPr>
          <a:xfrm>
            <a:off x="12239625" y="8458200"/>
            <a:ext cx="132397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75" b="0">
                <a:solidFill>
                  <a:srgbClr val="5E6C76"/>
                </a:solidFill>
              </a:defRPr>
            </a:pPr>
            <a:r>
              <a:rPr sz="2475" b="0">
                <a:solidFill>
                  <a:srgbClr val="5E6C76"/>
                </a:solidFill>
              </a:rPr>
              <a:t>The action becomes part of the graph: an attack changes one border; other phases mark affected territory rows.</a:t>
            </a:r>
          </a:p>
        </p:txBody>
      </p:sp>
      <p:pic>
        <p:nvPicPr>
          <p:cNvPr id="150" name="Picture 9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563600" y="9620250"/>
            <a:ext cx="10591800" cy="6953250"/>
          </a:xfrm>
          <a:prstGeom prst="roundRect">
            <a:avLst>
              <a:gd name="adj" fmla="val 3186"/>
            </a:avLst>
          </a:prstGeom>
        </p:spPr>
      </p:pic>
      <p:sp>
        <p:nvSpPr>
          <p:cNvPr id="23" name="encoder-title">
            <a:extLst>
              <a:ext uri="{FF2B5EF4-FFF2-40B4-BE49-F238E27FC236}">
                <a16:creationId xmlns:a16="http://schemas.microsoft.com/office/drawing/2014/main" id="{79B4DD3D-FDCC-451A-A34B-0083880088FB}"/>
              </a:ext>
            </a:extLst>
          </p:cNvPr>
          <p:cNvSpPr>
            <a:spLocks noGrp="1"/>
          </p:cNvSpPr>
          <p:nvPr/>
        </p:nvSpPr>
        <p:spPr>
          <a:xfrm>
            <a:off x="27193875" y="7734300"/>
            <a:ext cx="13573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225" b="1">
                <a:solidFill>
                  <a:srgbClr val="102A43"/>
                </a:solidFill>
              </a:defRPr>
            </a:pPr>
            <a:r>
              <a:rPr sz="3225" b="1">
                <a:solidFill>
                  <a:srgbClr val="102A43"/>
                </a:solidFill>
              </a:rPr>
              <a:t>3  Shared GATN encoder + phase heads</a:t>
            </a:r>
          </a:p>
        </p:txBody>
      </p:sp>
      <p:sp>
        <p:nvSpPr>
          <p:cNvPr id="24" name="encoder-copy">
            <a:extLst>
              <a:ext uri="{FF2B5EF4-FFF2-40B4-BE49-F238E27FC236}">
                <a16:creationId xmlns:a16="http://schemas.microsoft.com/office/drawing/2014/main" id="{34DE2DAF-F125-4785-B516-3B680970084E}"/>
              </a:ext>
            </a:extLst>
          </p:cNvPr>
          <p:cNvSpPr>
            <a:spLocks noGrp="1"/>
          </p:cNvSpPr>
          <p:nvPr/>
        </p:nvSpPr>
        <p:spPr>
          <a:xfrm>
            <a:off x="27193875" y="8458200"/>
            <a:ext cx="13573125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75" b="0">
                <a:solidFill>
                  <a:srgbClr val="5E6C76"/>
                </a:solidFill>
              </a:defRPr>
            </a:pPr>
            <a:r>
              <a:rPr sz="2475" b="0">
                <a:solidFill>
                  <a:srgbClr val="5E6C76"/>
                </a:solidFill>
              </a:rPr>
              <a:t>Four TransformerConv layers read the injected graph; the current Risk phase selects its small scoring head.</a:t>
            </a:r>
          </a:p>
        </p:txBody>
      </p:sp>
      <p:pic>
        <p:nvPicPr>
          <p:cNvPr id="153" name="Picture 100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27670125" y="9620250"/>
            <a:ext cx="12611100" cy="7219950"/>
          </a:xfrm>
          <a:prstGeom prst="roundRect">
            <a:avLst>
              <a:gd name="adj" fmla="val 3186"/>
            </a:avLst>
          </a:prstGeom>
        </p:spPr>
      </p:pic>
      <p:sp>
        <p:nvSpPr>
          <p:cNvPr id="33" name="math-panel">
            <a:extLst>
              <a:ext uri="{FF2B5EF4-FFF2-40B4-BE49-F238E27FC236}">
                <a16:creationId xmlns:a16="http://schemas.microsoft.com/office/drawing/2014/main" id="{13CF350F-FBF5-4C7E-97D9-3BCF8C329FF6}"/>
              </a:ext>
            </a:extLst>
          </p:cNvPr>
          <p:cNvSpPr>
            <a:spLocks noGrp="1"/>
          </p:cNvSpPr>
          <p:nvPr/>
        </p:nvSpPr>
        <p:spPr>
          <a:xfrm>
            <a:off x="1428750" y="17199027"/>
            <a:ext cx="20050125" cy="5963068"/>
          </a:xfrm>
          <a:prstGeom prst="roundRect">
            <a:avLst>
              <a:gd name="adj" fmla="val 4151"/>
            </a:avLst>
          </a:prstGeom>
          <a:solidFill>
            <a:srgbClr val="FFFFFF"/>
          </a:solidFill>
          <a:ln w="0">
            <a:solidFill>
              <a:srgbClr val="D8E1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math-title">
            <a:extLst>
              <a:ext uri="{FF2B5EF4-FFF2-40B4-BE49-F238E27FC236}">
                <a16:creationId xmlns:a16="http://schemas.microsoft.com/office/drawing/2014/main" id="{11EAAD89-D915-4F50-9800-DA85D550EAEF}"/>
              </a:ext>
            </a:extLst>
          </p:cNvPr>
          <p:cNvSpPr>
            <a:spLocks noGrp="1"/>
          </p:cNvSpPr>
          <p:nvPr/>
        </p:nvSpPr>
        <p:spPr>
          <a:xfrm>
            <a:off x="2095500" y="17791161"/>
            <a:ext cx="9188776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075" b="1">
                <a:solidFill>
                  <a:srgbClr val="102A43"/>
                </a:solidFill>
              </a:defRPr>
            </a:pPr>
            <a:r>
              <a:rPr lang="he-IL" sz="3200" b="1" dirty="0"/>
              <a:t>How GATN attention uses the injected action</a:t>
            </a:r>
            <a:endParaRPr sz="3200" b="1" dirty="0">
              <a:solidFill>
                <a:srgbClr val="102A43"/>
              </a:solidFill>
            </a:endParaRPr>
          </a:p>
        </p:txBody>
      </p:sp>
      <p:sp>
        <p:nvSpPr>
          <p:cNvPr id="35" name="math-copy">
            <a:extLst>
              <a:ext uri="{FF2B5EF4-FFF2-40B4-BE49-F238E27FC236}">
                <a16:creationId xmlns:a16="http://schemas.microsoft.com/office/drawing/2014/main" id="{B89FBAD3-D610-4461-A645-277C32D1596C}"/>
              </a:ext>
            </a:extLst>
          </p:cNvPr>
          <p:cNvSpPr>
            <a:spLocks noGrp="1"/>
          </p:cNvSpPr>
          <p:nvPr/>
        </p:nvSpPr>
        <p:spPr>
          <a:xfrm>
            <a:off x="2143125" y="18999593"/>
            <a:ext cx="9245926" cy="19502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just">
              <a:buNone/>
              <a:defRPr sz="2325" b="0">
                <a:solidFill>
                  <a:srgbClr val="5E6C76"/>
                </a:solidFill>
              </a:defRPr>
            </a:pPr>
            <a:r>
              <a:rPr lang="en-US" sz="2400" b="0" dirty="0">
                <a:solidFill>
                  <a:srgbClr val="5E6C76"/>
                </a:solidFill>
              </a:rPr>
              <a:t>GATN attends only across neighboring territories. Q represents the receiving territory; K determines how relevant each neighbor is; V is the information that neighbor sends. The injected action changes K and V on the affected border, changing its attention weight and message.</a:t>
            </a:r>
            <a:endParaRPr sz="2400" b="0" dirty="0">
              <a:solidFill>
                <a:srgbClr val="5E6C76"/>
              </a:solidFill>
            </a:endParaRPr>
          </a:p>
        </p:txBody>
      </p:sp>
      <p:sp>
        <p:nvSpPr>
          <p:cNvPr id="37" name="math-footer">
            <a:extLst>
              <a:ext uri="{FF2B5EF4-FFF2-40B4-BE49-F238E27FC236}">
                <a16:creationId xmlns:a16="http://schemas.microsoft.com/office/drawing/2014/main" id="{6008C5A5-555A-4F08-876B-9CDD6C4B88C2}"/>
              </a:ext>
            </a:extLst>
          </p:cNvPr>
          <p:cNvSpPr>
            <a:spLocks noGrp="1"/>
          </p:cNvSpPr>
          <p:nvPr/>
        </p:nvSpPr>
        <p:spPr>
          <a:xfrm>
            <a:off x="2095500" y="23632771"/>
            <a:ext cx="1762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>
                <a:solidFill>
                  <a:srgbClr val="E8752A"/>
                </a:solidFill>
              </a:defRPr>
            </a:pPr>
            <a:r>
              <a:rPr sz="2100" b="1">
                <a:solidFill>
                  <a:srgbClr val="E8752A"/>
                </a:solidFill>
              </a:rPr>
              <a:t>E [166 x 2] -&gt; E_projected -&gt; K_edge / V_edge -&gt; segment softmax</a:t>
            </a:r>
          </a:p>
        </p:txBody>
      </p:sp>
      <p:sp>
        <p:nvSpPr>
          <p:cNvPr id="38" name="results-bg">
            <a:extLst>
              <a:ext uri="{FF2B5EF4-FFF2-40B4-BE49-F238E27FC236}">
                <a16:creationId xmlns:a16="http://schemas.microsoft.com/office/drawing/2014/main" id="{B283BC1F-15F7-4669-A7D9-1521AEE8E011}"/>
              </a:ext>
            </a:extLst>
          </p:cNvPr>
          <p:cNvSpPr>
            <a:spLocks noGrp="1"/>
          </p:cNvSpPr>
          <p:nvPr/>
        </p:nvSpPr>
        <p:spPr>
          <a:xfrm>
            <a:off x="0" y="23442271"/>
            <a:ext cx="42805350" cy="6762750"/>
          </a:xfrm>
          <a:prstGeom prst="rect">
            <a:avLst/>
          </a:prstGeom>
          <a:solidFill>
            <a:srgbClr val="102A43"/>
          </a:solidFill>
          <a:ln w="0">
            <a:solidFill>
              <a:srgbClr val="102A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results-title">
            <a:extLst>
              <a:ext uri="{FF2B5EF4-FFF2-40B4-BE49-F238E27FC236}">
                <a16:creationId xmlns:a16="http://schemas.microsoft.com/office/drawing/2014/main" id="{F0545D8A-70C7-4FDD-9A4D-2711C0ADAF2B}"/>
              </a:ext>
            </a:extLst>
          </p:cNvPr>
          <p:cNvSpPr>
            <a:spLocks noGrp="1"/>
          </p:cNvSpPr>
          <p:nvPr/>
        </p:nvSpPr>
        <p:spPr>
          <a:xfrm>
            <a:off x="1524000" y="23728020"/>
            <a:ext cx="7649497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Results: training + held-out evaluation</a:t>
            </a:r>
          </a:p>
        </p:txBody>
      </p:sp>
      <p:sp>
        <p:nvSpPr>
          <p:cNvPr id="40" name="results-subtitle">
            <a:extLst>
              <a:ext uri="{FF2B5EF4-FFF2-40B4-BE49-F238E27FC236}">
                <a16:creationId xmlns:a16="http://schemas.microsoft.com/office/drawing/2014/main" id="{9D364777-310B-4457-B161-8036260B7BDD}"/>
              </a:ext>
            </a:extLst>
          </p:cNvPr>
          <p:cNvSpPr>
            <a:spLocks noGrp="1"/>
          </p:cNvSpPr>
          <p:nvPr/>
        </p:nvSpPr>
        <p:spPr>
          <a:xfrm>
            <a:off x="9595055" y="23796544"/>
            <a:ext cx="18192750" cy="5724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0">
                <a:solidFill>
                  <a:srgbClr val="C7D6E2"/>
                </a:solidFill>
              </a:defRPr>
            </a:pPr>
            <a:r>
              <a:rPr sz="2800" b="0" dirty="0">
                <a:solidFill>
                  <a:srgbClr val="C7D6E2"/>
                </a:solidFill>
              </a:rPr>
              <a:t>DQN learning; learner comparison; DQN evaluated across 3–6 players.</a:t>
            </a:r>
          </a:p>
        </p:txBody>
      </p:sp>
      <p:sp>
        <p:nvSpPr>
          <p:cNvPr id="83" name="result-card-dqn">
            <a:extLst>
              <a:ext uri="{FF2B5EF4-FFF2-40B4-BE49-F238E27FC236}">
                <a16:creationId xmlns:a16="http://schemas.microsoft.com/office/drawing/2014/main" id="{B1AB4D29-521C-4C1D-87F0-04C11C2027F7}"/>
              </a:ext>
            </a:extLst>
          </p:cNvPr>
          <p:cNvSpPr>
            <a:spLocks noGrp="1"/>
          </p:cNvSpPr>
          <p:nvPr/>
        </p:nvSpPr>
        <p:spPr>
          <a:xfrm>
            <a:off x="1524000" y="24699571"/>
            <a:ext cx="12192000" cy="5219700"/>
          </a:xfrm>
          <a:prstGeom prst="roundRect">
            <a:avLst>
              <a:gd name="adj" fmla="val 2190"/>
            </a:avLst>
          </a:prstGeom>
          <a:solidFill>
            <a:srgbClr val="FFFFFF"/>
          </a:solidFill>
          <a:ln w="19050">
            <a:solidFill>
              <a:srgbClr val="D8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" name="result-title-dqn">
            <a:extLst>
              <a:ext uri="{FF2B5EF4-FFF2-40B4-BE49-F238E27FC236}">
                <a16:creationId xmlns:a16="http://schemas.microsoft.com/office/drawing/2014/main" id="{B293A5A7-2534-48C8-83B8-4363D4A43090}"/>
              </a:ext>
            </a:extLst>
          </p:cNvPr>
          <p:cNvSpPr>
            <a:spLocks noGrp="1"/>
          </p:cNvSpPr>
          <p:nvPr/>
        </p:nvSpPr>
        <p:spPr>
          <a:xfrm>
            <a:off x="1924050" y="24909121"/>
            <a:ext cx="113919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850" b="1">
                <a:solidFill>
                  <a:srgbClr val="153653"/>
                </a:solidFill>
              </a:defRPr>
            </a:pPr>
            <a:r>
              <a:rPr sz="2850" b="1">
                <a:solidFill>
                  <a:srgbClr val="153653"/>
                </a:solidFill>
              </a:rPr>
              <a:t>DQN</a:t>
            </a:r>
          </a:p>
        </p:txBody>
      </p:sp>
      <p:sp>
        <p:nvSpPr>
          <p:cNvPr id="85" name="result-subtitle-dqn">
            <a:extLst>
              <a:ext uri="{FF2B5EF4-FFF2-40B4-BE49-F238E27FC236}">
                <a16:creationId xmlns:a16="http://schemas.microsoft.com/office/drawing/2014/main" id="{2FE889F1-60A0-44E7-B32A-F986DB5ABF7E}"/>
              </a:ext>
            </a:extLst>
          </p:cNvPr>
          <p:cNvSpPr>
            <a:spLocks noGrp="1"/>
          </p:cNvSpPr>
          <p:nvPr/>
        </p:nvSpPr>
        <p:spPr>
          <a:xfrm>
            <a:off x="1924050" y="25290121"/>
            <a:ext cx="11391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800">
                <a:solidFill>
                  <a:srgbClr val="15999B"/>
                </a:solidFill>
              </a:defRPr>
            </a:pPr>
            <a:r>
              <a:rPr sz="1800">
                <a:solidFill>
                  <a:srgbClr val="15999B"/>
                </a:solidFill>
              </a:rPr>
              <a:t>Current DQN data</a:t>
            </a:r>
          </a:p>
        </p:txBody>
      </p:sp>
      <p:sp>
        <p:nvSpPr>
          <p:cNvPr id="87" name="result-card-dueling-dqn">
            <a:extLst>
              <a:ext uri="{FF2B5EF4-FFF2-40B4-BE49-F238E27FC236}">
                <a16:creationId xmlns:a16="http://schemas.microsoft.com/office/drawing/2014/main" id="{EC528E95-60EA-42A3-B14F-0DC0932A6069}"/>
              </a:ext>
            </a:extLst>
          </p:cNvPr>
          <p:cNvSpPr>
            <a:spLocks noGrp="1"/>
          </p:cNvSpPr>
          <p:nvPr/>
        </p:nvSpPr>
        <p:spPr>
          <a:xfrm>
            <a:off x="15306675" y="24699571"/>
            <a:ext cx="12192000" cy="5219700"/>
          </a:xfrm>
          <a:prstGeom prst="roundRect">
            <a:avLst>
              <a:gd name="adj" fmla="val 2190"/>
            </a:avLst>
          </a:prstGeom>
          <a:solidFill>
            <a:srgbClr val="FFFFFF"/>
          </a:solidFill>
          <a:ln w="19050">
            <a:solidFill>
              <a:srgbClr val="D8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8" name="result-title-dueling-dqn">
            <a:extLst>
              <a:ext uri="{FF2B5EF4-FFF2-40B4-BE49-F238E27FC236}">
                <a16:creationId xmlns:a16="http://schemas.microsoft.com/office/drawing/2014/main" id="{59DC663C-64C0-43BC-9009-41ECA65A1999}"/>
              </a:ext>
            </a:extLst>
          </p:cNvPr>
          <p:cNvSpPr>
            <a:spLocks noGrp="1"/>
          </p:cNvSpPr>
          <p:nvPr/>
        </p:nvSpPr>
        <p:spPr>
          <a:xfrm>
            <a:off x="15706725" y="24909121"/>
            <a:ext cx="113919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850" b="1">
                <a:solidFill>
                  <a:srgbClr val="153653"/>
                </a:solidFill>
              </a:defRPr>
            </a:pPr>
            <a:r>
              <a:rPr sz="2850" b="1">
                <a:solidFill>
                  <a:srgbClr val="153653"/>
                </a:solidFill>
              </a:rPr>
              <a:t>Learner comparison</a:t>
            </a:r>
          </a:p>
        </p:txBody>
      </p:sp>
      <p:sp>
        <p:nvSpPr>
          <p:cNvPr id="89" name="result-subtitle-dueling-dqn">
            <a:extLst>
              <a:ext uri="{FF2B5EF4-FFF2-40B4-BE49-F238E27FC236}">
                <a16:creationId xmlns:a16="http://schemas.microsoft.com/office/drawing/2014/main" id="{AC7BCCE6-9F71-4594-BD55-48B2CE8D6BF8}"/>
              </a:ext>
            </a:extLst>
          </p:cNvPr>
          <p:cNvSpPr>
            <a:spLocks noGrp="1"/>
          </p:cNvSpPr>
          <p:nvPr/>
        </p:nvSpPr>
        <p:spPr>
          <a:xfrm>
            <a:off x="15706725" y="25290121"/>
            <a:ext cx="11391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800">
                <a:solidFill>
                  <a:srgbClr val="E67E22"/>
                </a:solidFill>
              </a:defRPr>
            </a:pPr>
            <a:r>
              <a:rPr sz="1800">
                <a:solidFill>
                  <a:srgbClr val="E67E22"/>
                </a:solidFill>
              </a:rPr>
              <a:t>DQN | Dueling DQN | PPO</a:t>
            </a:r>
          </a:p>
        </p:txBody>
      </p:sp>
      <p:sp>
        <p:nvSpPr>
          <p:cNvPr id="91" name="result-card-ppo">
            <a:extLst>
              <a:ext uri="{FF2B5EF4-FFF2-40B4-BE49-F238E27FC236}">
                <a16:creationId xmlns:a16="http://schemas.microsoft.com/office/drawing/2014/main" id="{57673F6F-E28F-4EE6-BC11-DC68E87C33A1}"/>
              </a:ext>
            </a:extLst>
          </p:cNvPr>
          <p:cNvSpPr>
            <a:spLocks noGrp="1"/>
          </p:cNvSpPr>
          <p:nvPr/>
        </p:nvSpPr>
        <p:spPr>
          <a:xfrm>
            <a:off x="29089350" y="24699571"/>
            <a:ext cx="12192000" cy="5219700"/>
          </a:xfrm>
          <a:prstGeom prst="roundRect">
            <a:avLst>
              <a:gd name="adj" fmla="val 2190"/>
            </a:avLst>
          </a:prstGeom>
          <a:solidFill>
            <a:srgbClr val="FFFFFF"/>
          </a:solidFill>
          <a:ln w="19050">
            <a:solidFill>
              <a:srgbClr val="D8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2" name="result-title-ppo">
            <a:extLst>
              <a:ext uri="{FF2B5EF4-FFF2-40B4-BE49-F238E27FC236}">
                <a16:creationId xmlns:a16="http://schemas.microsoft.com/office/drawing/2014/main" id="{BF9D49F0-D5F5-468E-B382-5B3A3AEAED11}"/>
              </a:ext>
            </a:extLst>
          </p:cNvPr>
          <p:cNvSpPr>
            <a:spLocks noGrp="1"/>
          </p:cNvSpPr>
          <p:nvPr/>
        </p:nvSpPr>
        <p:spPr>
          <a:xfrm>
            <a:off x="29489400" y="24909121"/>
            <a:ext cx="113919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850" b="1">
                <a:solidFill>
                  <a:srgbClr val="153653"/>
                </a:solidFill>
              </a:defRPr>
            </a:pPr>
            <a:r>
              <a:rPr sz="2850" b="1" dirty="0">
                <a:solidFill>
                  <a:srgbClr val="153653"/>
                </a:solidFill>
              </a:rPr>
              <a:t>DQN</a:t>
            </a:r>
            <a:r>
              <a:rPr lang="he-IL" sz="2850" b="1" dirty="0">
                <a:solidFill>
                  <a:srgbClr val="153653"/>
                </a:solidFill>
              </a:rPr>
              <a:t> </a:t>
            </a:r>
            <a:r>
              <a:rPr sz="2850" b="1" dirty="0">
                <a:solidFill>
                  <a:srgbClr val="153653"/>
                </a:solidFill>
              </a:rPr>
              <a:t> evaluation</a:t>
            </a:r>
          </a:p>
        </p:txBody>
      </p:sp>
      <p:sp>
        <p:nvSpPr>
          <p:cNvPr id="93" name="result-subtitle-ppo">
            <a:extLst>
              <a:ext uri="{FF2B5EF4-FFF2-40B4-BE49-F238E27FC236}">
                <a16:creationId xmlns:a16="http://schemas.microsoft.com/office/drawing/2014/main" id="{52013E00-3529-4392-B7E8-B164767E9221}"/>
              </a:ext>
            </a:extLst>
          </p:cNvPr>
          <p:cNvSpPr>
            <a:spLocks noGrp="1"/>
          </p:cNvSpPr>
          <p:nvPr/>
        </p:nvSpPr>
        <p:spPr>
          <a:xfrm>
            <a:off x="29489400" y="25290121"/>
            <a:ext cx="11391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800">
                <a:solidFill>
                  <a:srgbClr val="E67E22"/>
                </a:solidFill>
              </a:defRPr>
            </a:pPr>
            <a:r>
              <a:rPr sz="1800" dirty="0">
                <a:solidFill>
                  <a:srgbClr val="E67E22"/>
                </a:solidFill>
              </a:rPr>
              <a:t>Top 5 checkpoints · 54 games each</a:t>
            </a:r>
          </a:p>
        </p:txBody>
      </p:sp>
      <p:pic>
        <p:nvPicPr>
          <p:cNvPr id="172" name="Picture 16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33538751" y="25528246"/>
            <a:ext cx="7132223" cy="4076700"/>
          </a:xfrm>
          <a:prstGeom prst="rect">
            <a:avLst/>
          </a:prstGeom>
        </p:spPr>
      </p:pic>
      <p:sp>
        <p:nvSpPr>
          <p:cNvPr id="103" name="attention-novelty">
            <a:extLst>
              <a:ext uri="{FF2B5EF4-FFF2-40B4-BE49-F238E27FC236}">
                <a16:creationId xmlns:a16="http://schemas.microsoft.com/office/drawing/2014/main" id="{633905E1-9C10-49CD-96BA-3FA820E11FC6}"/>
              </a:ext>
            </a:extLst>
          </p:cNvPr>
          <p:cNvSpPr>
            <a:spLocks noGrp="1"/>
          </p:cNvSpPr>
          <p:nvPr/>
        </p:nvSpPr>
        <p:spPr>
          <a:xfrm>
            <a:off x="2036160" y="20977769"/>
            <a:ext cx="8953500" cy="13362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550" b="1">
                <a:solidFill>
                  <a:srgbClr val="157E87"/>
                </a:solidFill>
              </a:defRPr>
            </a:pPr>
            <a:r>
              <a:rPr lang="he-IL" sz="2400" b="1" dirty="0"/>
              <a:t>Four graph-attention layers aggregate these weighted neighbor messages—never all territory pairs.</a:t>
            </a:r>
            <a:endParaRPr sz="3200" b="1" dirty="0">
              <a:solidFill>
                <a:srgbClr val="157E87"/>
              </a:solidFill>
            </a:endParaRPr>
          </a:p>
        </p:txBody>
      </p:sp>
      <p:sp>
        <p:nvSpPr>
          <p:cNvPr id="104" name="evaluation-heading">
            <a:extLst>
              <a:ext uri="{FF2B5EF4-FFF2-40B4-BE49-F238E27FC236}">
                <a16:creationId xmlns:a16="http://schemas.microsoft.com/office/drawing/2014/main" id="{F26A0CBD-C049-4879-92AD-E84F959BBA73}"/>
              </a:ext>
            </a:extLst>
          </p:cNvPr>
          <p:cNvSpPr>
            <a:spLocks noGrp="1"/>
          </p:cNvSpPr>
          <p:nvPr/>
        </p:nvSpPr>
        <p:spPr>
          <a:xfrm>
            <a:off x="22131475" y="17861524"/>
            <a:ext cx="3486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360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3600" b="1" dirty="0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Reward shaping</a:t>
            </a:r>
          </a:p>
        </p:txBody>
      </p:sp>
      <p:pic>
        <p:nvPicPr>
          <p:cNvPr id="177" name="Picture 111"/>
          <p:cNvPicPr>
            <a:picLocks noChangeAspect="1"/>
          </p:cNvPicPr>
          <p:nvPr/>
        </p:nvPicPr>
        <p:blipFill>
          <a:blip r:embed="rId7"/>
          <a:srcRect b="9073"/>
          <a:stretch>
            <a:fillRect/>
          </a:stretch>
        </p:blipFill>
        <p:spPr>
          <a:xfrm>
            <a:off x="11855776" y="17535509"/>
            <a:ext cx="9480224" cy="5394483"/>
          </a:xfrm>
          <a:prstGeom prst="roundRect">
            <a:avLst>
              <a:gd name="adj" fmla="val 5143"/>
            </a:avLst>
          </a:prstGeom>
        </p:spPr>
      </p:pic>
      <p:pic>
        <p:nvPicPr>
          <p:cNvPr id="178" name="Picture 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976175" y="400050"/>
            <a:ext cx="2952750" cy="2952750"/>
          </a:xfrm>
          <a:prstGeom prst="rect">
            <a:avLst/>
          </a:prstGeom>
        </p:spPr>
      </p:pic>
      <p:sp>
        <p:nvSpPr>
          <p:cNvPr id="119" name="github-repository-caption">
            <a:extLst>
              <a:ext uri="{FF2B5EF4-FFF2-40B4-BE49-F238E27FC236}">
                <a16:creationId xmlns:a16="http://schemas.microsoft.com/office/drawing/2014/main" id="{2503D635-8807-49AD-A03A-469A3E594595}"/>
              </a:ext>
            </a:extLst>
          </p:cNvPr>
          <p:cNvSpPr>
            <a:spLocks noGrp="1"/>
          </p:cNvSpPr>
          <p:nvPr/>
        </p:nvSpPr>
        <p:spPr>
          <a:xfrm>
            <a:off x="37861875" y="3371850"/>
            <a:ext cx="3190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 spc="1">
                <a:solidFill>
                  <a:srgbClr val="FFFFFF"/>
                </a:solidFill>
              </a:defRPr>
            </a:pPr>
            <a:r>
              <a:rPr sz="1800" b="1" spc="1">
                <a:solidFill>
                  <a:srgbClr val="FFFFFF"/>
                </a:solidFill>
              </a:rPr>
              <a:t>PROJECT REPOSITORY</a:t>
            </a:r>
          </a:p>
        </p:txBody>
      </p:sp>
      <p:pic>
        <p:nvPicPr>
          <p:cNvPr id="180" name="Picture 173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38653503" y="3752850"/>
            <a:ext cx="1626669" cy="371475"/>
          </a:xfrm>
          <a:prstGeom prst="rect">
            <a:avLst/>
          </a:prstGeom>
        </p:spPr>
      </p:pic>
      <p:pic>
        <p:nvPicPr>
          <p:cNvPr id="181" name="Picture 184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29489400" y="304800"/>
            <a:ext cx="7246473" cy="1856748"/>
          </a:xfrm>
          <a:prstGeom prst="rect">
            <a:avLst/>
          </a:prstGeom>
        </p:spPr>
      </p:pic>
      <p:sp>
        <p:nvSpPr>
          <p:cNvPr id="19" name="subtitle">
            <a:extLst>
              <a:ext uri="{FF2B5EF4-FFF2-40B4-BE49-F238E27FC236}">
                <a16:creationId xmlns:a16="http://schemas.microsoft.com/office/drawing/2014/main" id="{2D49C382-0EBE-24CA-189A-DDB7C4206746}"/>
              </a:ext>
            </a:extLst>
          </p:cNvPr>
          <p:cNvSpPr>
            <a:spLocks noGrp="1"/>
          </p:cNvSpPr>
          <p:nvPr/>
        </p:nvSpPr>
        <p:spPr>
          <a:xfrm>
            <a:off x="1524000" y="3400425"/>
            <a:ext cx="22884848" cy="5035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3150" b="0">
                <a:solidFill>
                  <a:srgbClr val="C7D6E2"/>
                </a:solidFill>
              </a:defRPr>
            </a:pPr>
            <a:r>
              <a:rPr sz="3150" b="0">
                <a:solidFill>
                  <a:srgbClr val="C7D6E2"/>
                </a:solidFill>
              </a:rPr>
              <a:t>Gilad Markman </a:t>
            </a:r>
            <a:r>
              <a:rPr sz="3200">
                <a:solidFill>
                  <a:srgbClr val="9EC5D0"/>
                </a:solidFill>
              </a:rPr>
              <a:t>• </a:t>
            </a:r>
            <a:r>
              <a:rPr sz="2800">
                <a:solidFill>
                  <a:srgbClr val="9EC5D0"/>
                </a:solidFill>
              </a:rPr>
              <a:t>2026</a:t>
            </a:r>
            <a:endParaRPr sz="3150" b="0">
              <a:solidFill>
                <a:srgbClr val="C7D6E2"/>
              </a:solidFill>
            </a:endParaRPr>
          </a:p>
        </p:txBody>
      </p:sp>
      <p:pic>
        <p:nvPicPr>
          <p:cNvPr id="183" name="Picture 2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363697" y="283153"/>
            <a:ext cx="6552543" cy="4212647"/>
          </a:xfrm>
          <a:prstGeom prst="rect">
            <a:avLst/>
          </a:prstGeom>
        </p:spPr>
      </p:pic>
      <p:graphicFrame>
        <p:nvGraphicFramePr>
          <p:cNvPr id="184" name="Table 183"/>
          <p:cNvGraphicFramePr/>
          <p:nvPr>
            <p:extLst>
              <p:ext uri="{D42A27DB-BD31-4B8C-83A1-F6EECF244321}">
                <p14:modId xmlns:p14="http://schemas.microsoft.com/office/powerpoint/2010/main" val="1713956661"/>
              </p:ext>
            </p:extLst>
          </p:nvPr>
        </p:nvGraphicFramePr>
        <p:xfrm>
          <a:off x="26638358" y="17606229"/>
          <a:ext cx="13700020" cy="5363498"/>
        </p:xfrm>
        <a:graphic>
          <a:graphicData uri="http://schemas.openxmlformats.org/drawingml/2006/table">
            <a:tbl>
              <a:tblPr firstRow="1" firstCol="1" bandRow="1"/>
              <a:tblGrid>
                <a:gridCol w="26802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958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39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1421"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Phase / trigger</a:t>
                      </a:r>
                    </a:p>
                  </a:txBody>
                  <a:tcPr marL="76200" marR="76200" marT="28575" marB="28575">
                    <a:solidFill>
                      <a:srgbClr val="173A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Key DQN_103 calculation</a:t>
                      </a:r>
                    </a:p>
                  </a:txBody>
                  <a:tcPr marL="76200" marR="76200" marT="28575" marB="28575">
                    <a:solidFill>
                      <a:srgbClr val="173A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it teaches</a:t>
                      </a:r>
                    </a:p>
                  </a:txBody>
                  <a:tcPr marL="76200" marR="76200" marT="28575" marB="28575">
                    <a:solidFill>
                      <a:srgbClr val="173A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180"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Terminal</a:t>
                      </a:r>
                    </a:p>
                    <a:p>
                      <a:r>
                        <a:rPr sz="18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(game ends)</a:t>
                      </a:r>
                    </a:p>
                  </a:txBody>
                  <a:tcPr marL="76200" marR="76200" marT="19050" marB="19050">
                    <a:solidFill>
                      <a:srgbClr val="EA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+100 win; -100 loss</a:t>
                      </a:r>
                    </a:p>
                    <a:p>
                      <a:r>
                        <a:rPr sz="18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(unscaled)</a:t>
                      </a:r>
                    </a:p>
                  </a:txBody>
                  <a:tcPr marL="76200" marR="76200" marT="19050" marB="19050"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Winning stays the main objective.</a:t>
                      </a:r>
                    </a:p>
                  </a:txBody>
                  <a:tcPr marL="76200" marR="76200" marT="19050" marB="19050">
                    <a:solidFill>
                      <a:srgbClr val="F7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180"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Trade-in</a:t>
                      </a:r>
                    </a:p>
                    <a:p>
                      <a:r>
                        <a:rPr sz="18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(optional at 3-4 cards)</a:t>
                      </a:r>
                    </a:p>
                  </a:txBody>
                  <a:tcPr marL="76200" marR="76200" marT="19050" marB="19050">
                    <a:solidFill>
                      <a:srgbClr val="EA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+/- 0.30 x hand factor / card-set value</a:t>
                      </a:r>
                    </a:p>
                    <a:p>
                      <a:r>
                        <a:rPr sz="18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+0.60 if a traded card matches an owned territory</a:t>
                      </a:r>
                    </a:p>
                  </a:txBody>
                  <a:tcPr marL="76200" marR="76200" marT="19050" marB="190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Save an optional trade unless it creates value.</a:t>
                      </a:r>
                    </a:p>
                  </a:txBody>
                  <a:tcPr marL="76200" marR="76200" marT="19050" marB="190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9688"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Reinforce</a:t>
                      </a:r>
                    </a:p>
                    <a:p>
                      <a:r>
                        <a:rPr sz="18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(place armies)</a:t>
                      </a:r>
                    </a:p>
                  </a:txBody>
                  <a:tcPr marL="76200" marR="76200" marT="19050" marB="19050">
                    <a:solidFill>
                      <a:srgbClr val="EA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+1.2 x share placed on a territory bordering an enemy</a:t>
                      </a:r>
                    </a:p>
                    <a:p>
                      <a:r>
                        <a:rPr sz="18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+1.5 x [min(own / weakest adjacent enemy, 2.5) - 1]</a:t>
                      </a:r>
                    </a:p>
                    <a:p>
                      <a:r>
                        <a:rPr sz="18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-0.8 on a safe interior territory</a:t>
                      </a:r>
                    </a:p>
                  </a:txBody>
                  <a:tcPr marL="76200" marR="76200" marT="19050" marB="19050"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Build an attack-capable border; do not park armies where they cannot fight.</a:t>
                      </a:r>
                    </a:p>
                  </a:txBody>
                  <a:tcPr marL="76200" marR="76200" marT="19050" marB="19050">
                    <a:solidFill>
                      <a:srgbClr val="F7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9688"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Attack</a:t>
                      </a:r>
                    </a:p>
                    <a:p>
                      <a:r>
                        <a:rPr sz="18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(choose / resolve)</a:t>
                      </a:r>
                    </a:p>
                  </a:txBody>
                  <a:tcPr marL="76200" marR="76200" marT="19050" marB="19050">
                    <a:solidFill>
                      <a:srgbClr val="EA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2 x [min(attacker / defender, 3) - 1.5]</a:t>
                      </a:r>
                    </a:p>
                    <a:p>
                      <a:r>
                        <a:rPr sz="18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+0.6 x (defender losses - attacker losses)</a:t>
                      </a:r>
                    </a:p>
                    <a:p>
                      <a:r>
                        <a:rPr sz="18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+1.2 conquest; +4 continent; +4 + 1.5/card elimination</a:t>
                      </a:r>
                    </a:p>
                  </a:txBody>
                  <a:tcPr marL="76200" marR="76200" marT="19050" marB="190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Use strong odds, maximum dice, and profitable battles.</a:t>
                      </a:r>
                    </a:p>
                  </a:txBody>
                  <a:tcPr marL="76200" marR="76200" marT="19050" marB="1905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0110"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Occupy + fortify</a:t>
                      </a:r>
                    </a:p>
                    <a:p>
                      <a:r>
                        <a:rPr sz="18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(move armies)</a:t>
                      </a:r>
                    </a:p>
                  </a:txBody>
                  <a:tcPr marL="76200" marR="76200" marT="19050" marB="19050">
                    <a:solidFill>
                      <a:srgbClr val="EA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+ moved / movable into a captured territory or toward an enemy border</a:t>
                      </a:r>
                    </a:p>
                    <a:p>
                      <a:r>
                        <a:rPr sz="180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Penalty for moving away or leaving two borders badly balanced</a:t>
                      </a:r>
                    </a:p>
                  </a:txBody>
                  <a:tcPr marL="76200" marR="76200" marT="19050" marB="19050"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Put force where an opponent can attack, then keep it there.</a:t>
                      </a:r>
                    </a:p>
                  </a:txBody>
                  <a:tcPr marL="76200" marR="76200" marT="19050" marB="19050">
                    <a:solidFill>
                      <a:srgbClr val="F7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2231"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Board progress</a:t>
                      </a:r>
                    </a:p>
                    <a:p>
                      <a:r>
                        <a:rPr sz="18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(after opponents)</a:t>
                      </a:r>
                    </a:p>
                  </a:txBody>
                  <a:tcPr marL="76200" marR="76200" marT="19050" marB="19050">
                    <a:solidFill>
                      <a:srgbClr val="EA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20 x territory-share change; 0.1 x army-share change</a:t>
                      </a:r>
                    </a:p>
                    <a:p>
                      <a:r>
                        <a:rPr sz="18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2.5 x continent-bonus change; extra continent-loss penalty</a:t>
                      </a:r>
                    </a:p>
                  </a:txBody>
                  <a:tcPr marL="76200" marR="76200" marT="19050" marB="19050"/>
                </a:tc>
                <a:tc>
                  <a:txBody>
                    <a:bodyPr/>
                    <a:lstStyle/>
                    <a:p>
                      <a:r>
                        <a:rPr sz="18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Reward gains that survive a full opponent round.</a:t>
                      </a:r>
                    </a:p>
                  </a:txBody>
                  <a:tcPr marL="76200" marR="76200" marT="19050" marB="1905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22" name="Picture 21">
            <a:extLst>
              <a:ext uri="{FF2B5EF4-FFF2-40B4-BE49-F238E27FC236}">
                <a16:creationId xmlns:a16="http://schemas.microsoft.com/office/drawing/2014/main" id="{CB5FDA4B-86C6-75F9-3E07-414808D0A16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3185" y="25360163"/>
            <a:ext cx="7542857" cy="3962387"/>
          </a:xfrm>
          <a:prstGeom prst="rect">
            <a:avLst/>
          </a:prstGeom>
        </p:spPr>
      </p:pic>
      <p:sp>
        <p:nvSpPr>
          <p:cNvPr id="26" name="evaluation-protocol">
            <a:extLst>
              <a:ext uri="{FF2B5EF4-FFF2-40B4-BE49-F238E27FC236}">
                <a16:creationId xmlns:a16="http://schemas.microsoft.com/office/drawing/2014/main" id="{1DB17C7A-A67F-E21E-AC5E-D1A7B840F5BE}"/>
              </a:ext>
            </a:extLst>
          </p:cNvPr>
          <p:cNvSpPr>
            <a:spLocks noGrp="1"/>
          </p:cNvSpPr>
          <p:nvPr/>
        </p:nvSpPr>
        <p:spPr>
          <a:xfrm>
            <a:off x="29413201" y="25955625"/>
            <a:ext cx="3801699" cy="1752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250">
                <a:solidFill>
                  <a:srgbClr val="253B4C"/>
                </a:solidFill>
              </a:defRPr>
            </a:pPr>
            <a:r>
              <a:rPr sz="2800" dirty="0">
                <a:solidFill>
                  <a:srgbClr val="253B4C"/>
                </a:solidFill>
              </a:rPr>
              <a:t>54 games / checkpoint</a:t>
            </a:r>
          </a:p>
          <a:p>
            <a:pPr>
              <a:buNone/>
              <a:defRPr sz="2250">
                <a:solidFill>
                  <a:srgbClr val="253B4C"/>
                </a:solidFill>
              </a:defRPr>
            </a:pPr>
            <a:r>
              <a:rPr sz="2800" dirty="0">
                <a:solidFill>
                  <a:srgbClr val="253B4C"/>
                </a:solidFill>
              </a:rPr>
              <a:t>3 seeds · every learner seat</a:t>
            </a:r>
          </a:p>
          <a:p>
            <a:pPr>
              <a:buNone/>
              <a:defRPr sz="2250">
                <a:solidFill>
                  <a:srgbClr val="253B4C"/>
                </a:solidFill>
              </a:defRPr>
            </a:pPr>
            <a:r>
              <a:rPr sz="2800" dirty="0">
                <a:solidFill>
                  <a:srgbClr val="253B4C"/>
                </a:solidFill>
              </a:rPr>
              <a:t>ε = 0 · 2,000-step cap</a:t>
            </a:r>
          </a:p>
        </p:txBody>
      </p:sp>
      <p:sp>
        <p:nvSpPr>
          <p:cNvPr id="28" name="evaluation-latest-result">
            <a:extLst>
              <a:ext uri="{FF2B5EF4-FFF2-40B4-BE49-F238E27FC236}">
                <a16:creationId xmlns:a16="http://schemas.microsoft.com/office/drawing/2014/main" id="{E232D059-1EF2-BE5C-C629-314F0D3FB5C8}"/>
              </a:ext>
            </a:extLst>
          </p:cNvPr>
          <p:cNvSpPr>
            <a:spLocks noGrp="1"/>
          </p:cNvSpPr>
          <p:nvPr/>
        </p:nvSpPr>
        <p:spPr>
          <a:xfrm>
            <a:off x="29424419" y="28195246"/>
            <a:ext cx="3801699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325" b="1">
                <a:solidFill>
                  <a:srgbClr val="157E87"/>
                </a:solidFill>
              </a:defRPr>
            </a:pPr>
            <a:r>
              <a:rPr sz="2800" b="1" dirty="0">
                <a:solidFill>
                  <a:srgbClr val="157E87"/>
                </a:solidFill>
              </a:rPr>
              <a:t>Latest ep006700</a:t>
            </a:r>
          </a:p>
          <a:p>
            <a:pPr>
              <a:buNone/>
              <a:defRPr sz="2325" b="1">
                <a:solidFill>
                  <a:srgbClr val="157E87"/>
                </a:solidFill>
              </a:defRPr>
            </a:pPr>
            <a:r>
              <a:rPr sz="2800" b="1" dirty="0">
                <a:solidFill>
                  <a:srgbClr val="157E87"/>
                </a:solidFill>
              </a:rPr>
              <a:t>46 / 54 wins = 85.2% · 0 timeouts</a:t>
            </a:r>
          </a:p>
        </p:txBody>
      </p:sp>
      <p:sp>
        <p:nvSpPr>
          <p:cNvPr id="30" name="evaluation-protocol">
            <a:extLst>
              <a:ext uri="{FF2B5EF4-FFF2-40B4-BE49-F238E27FC236}">
                <a16:creationId xmlns:a16="http://schemas.microsoft.com/office/drawing/2014/main" id="{309F838D-E1A9-E8E6-EEBB-B1916B9B166C}"/>
              </a:ext>
            </a:extLst>
          </p:cNvPr>
          <p:cNvSpPr>
            <a:spLocks noGrp="1"/>
          </p:cNvSpPr>
          <p:nvPr/>
        </p:nvSpPr>
        <p:spPr>
          <a:xfrm>
            <a:off x="1897742" y="26045669"/>
            <a:ext cx="3801699" cy="1752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250">
                <a:solidFill>
                  <a:srgbClr val="253B4C"/>
                </a:solidFill>
              </a:defRPr>
            </a:pPr>
            <a:r>
              <a:rPr sz="2800" dirty="0">
                <a:solidFill>
                  <a:srgbClr val="253B4C"/>
                </a:solidFill>
              </a:rPr>
              <a:t>54 games / checkpoint</a:t>
            </a:r>
          </a:p>
          <a:p>
            <a:pPr>
              <a:buNone/>
              <a:defRPr sz="2250">
                <a:solidFill>
                  <a:srgbClr val="253B4C"/>
                </a:solidFill>
              </a:defRPr>
            </a:pPr>
            <a:r>
              <a:rPr sz="2800" dirty="0">
                <a:solidFill>
                  <a:srgbClr val="253B4C"/>
                </a:solidFill>
              </a:rPr>
              <a:t>3 seeds · every learner seat</a:t>
            </a:r>
          </a:p>
          <a:p>
            <a:pPr>
              <a:buNone/>
              <a:defRPr sz="2250">
                <a:solidFill>
                  <a:srgbClr val="253B4C"/>
                </a:solidFill>
              </a:defRPr>
            </a:pPr>
            <a:r>
              <a:rPr sz="2800" dirty="0">
                <a:solidFill>
                  <a:srgbClr val="253B4C"/>
                </a:solidFill>
              </a:rPr>
              <a:t>ε = 0 · 2,000-step cap</a:t>
            </a:r>
          </a:p>
        </p:txBody>
      </p:sp>
      <p:sp>
        <p:nvSpPr>
          <p:cNvPr id="32" name="evaluation-latest-result">
            <a:extLst>
              <a:ext uri="{FF2B5EF4-FFF2-40B4-BE49-F238E27FC236}">
                <a16:creationId xmlns:a16="http://schemas.microsoft.com/office/drawing/2014/main" id="{3A1EFAB1-50F1-29EA-B1D4-7D5811B97C55}"/>
              </a:ext>
            </a:extLst>
          </p:cNvPr>
          <p:cNvSpPr>
            <a:spLocks noGrp="1"/>
          </p:cNvSpPr>
          <p:nvPr/>
        </p:nvSpPr>
        <p:spPr>
          <a:xfrm>
            <a:off x="1908960" y="28285290"/>
            <a:ext cx="3801699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325" b="1">
                <a:solidFill>
                  <a:srgbClr val="157E87"/>
                </a:solidFill>
              </a:defRPr>
            </a:pPr>
            <a:r>
              <a:rPr sz="2800" b="1" dirty="0">
                <a:solidFill>
                  <a:srgbClr val="157E87"/>
                </a:solidFill>
              </a:rPr>
              <a:t>Latest ep006700</a:t>
            </a:r>
          </a:p>
          <a:p>
            <a:pPr>
              <a:buNone/>
              <a:defRPr sz="2325" b="1">
                <a:solidFill>
                  <a:srgbClr val="157E87"/>
                </a:solidFill>
              </a:defRPr>
            </a:pPr>
            <a:r>
              <a:rPr sz="2800" b="1" dirty="0">
                <a:solidFill>
                  <a:srgbClr val="157E87"/>
                </a:solidFill>
              </a:rPr>
              <a:t>46 / 54 wins = 85.2% · 0 timeouts</a:t>
            </a:r>
          </a:p>
        </p:txBody>
      </p:sp>
      <p:sp>
        <p:nvSpPr>
          <p:cNvPr id="41" name="evaluation-protocol">
            <a:extLst>
              <a:ext uri="{FF2B5EF4-FFF2-40B4-BE49-F238E27FC236}">
                <a16:creationId xmlns:a16="http://schemas.microsoft.com/office/drawing/2014/main" id="{8DB1E572-DD15-D5D9-68BC-72F064BCE3F2}"/>
              </a:ext>
            </a:extLst>
          </p:cNvPr>
          <p:cNvSpPr>
            <a:spLocks noGrp="1"/>
          </p:cNvSpPr>
          <p:nvPr/>
        </p:nvSpPr>
        <p:spPr>
          <a:xfrm>
            <a:off x="15495199" y="25986693"/>
            <a:ext cx="3801699" cy="1752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250">
                <a:solidFill>
                  <a:srgbClr val="253B4C"/>
                </a:solidFill>
              </a:defRPr>
            </a:pPr>
            <a:r>
              <a:rPr sz="2800" dirty="0">
                <a:solidFill>
                  <a:srgbClr val="253B4C"/>
                </a:solidFill>
              </a:rPr>
              <a:t>54 games / checkpoint</a:t>
            </a:r>
          </a:p>
          <a:p>
            <a:pPr>
              <a:buNone/>
              <a:defRPr sz="2250">
                <a:solidFill>
                  <a:srgbClr val="253B4C"/>
                </a:solidFill>
              </a:defRPr>
            </a:pPr>
            <a:r>
              <a:rPr sz="2800" dirty="0">
                <a:solidFill>
                  <a:srgbClr val="253B4C"/>
                </a:solidFill>
              </a:rPr>
              <a:t>3 seeds · every learner seat</a:t>
            </a:r>
          </a:p>
          <a:p>
            <a:pPr>
              <a:buNone/>
              <a:defRPr sz="2250">
                <a:solidFill>
                  <a:srgbClr val="253B4C"/>
                </a:solidFill>
              </a:defRPr>
            </a:pPr>
            <a:r>
              <a:rPr sz="2800" dirty="0">
                <a:solidFill>
                  <a:srgbClr val="253B4C"/>
                </a:solidFill>
              </a:rPr>
              <a:t>ε = 0 · 2,000-step cap</a:t>
            </a:r>
          </a:p>
        </p:txBody>
      </p:sp>
      <p:sp>
        <p:nvSpPr>
          <p:cNvPr id="43" name="evaluation-latest-result">
            <a:extLst>
              <a:ext uri="{FF2B5EF4-FFF2-40B4-BE49-F238E27FC236}">
                <a16:creationId xmlns:a16="http://schemas.microsoft.com/office/drawing/2014/main" id="{8D4E53D0-AB7F-E915-D61A-A7CD388C57B1}"/>
              </a:ext>
            </a:extLst>
          </p:cNvPr>
          <p:cNvSpPr>
            <a:spLocks noGrp="1"/>
          </p:cNvSpPr>
          <p:nvPr/>
        </p:nvSpPr>
        <p:spPr>
          <a:xfrm>
            <a:off x="15506417" y="28226314"/>
            <a:ext cx="3801699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325" b="1">
                <a:solidFill>
                  <a:srgbClr val="157E87"/>
                </a:solidFill>
              </a:defRPr>
            </a:pPr>
            <a:r>
              <a:rPr sz="2800" b="1" dirty="0">
                <a:solidFill>
                  <a:srgbClr val="157E87"/>
                </a:solidFill>
              </a:rPr>
              <a:t>Latest ep006700</a:t>
            </a:r>
          </a:p>
          <a:p>
            <a:pPr>
              <a:buNone/>
              <a:defRPr sz="2325" b="1">
                <a:solidFill>
                  <a:srgbClr val="157E87"/>
                </a:solidFill>
              </a:defRPr>
            </a:pPr>
            <a:r>
              <a:rPr sz="2800" b="1" dirty="0">
                <a:solidFill>
                  <a:srgbClr val="157E87"/>
                </a:solidFill>
              </a:rPr>
              <a:t>46 / 54 wins = 85.2% · 0 timeouts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32131D9C-4ADD-F7C2-8402-47D369B5A52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183" y="25617675"/>
            <a:ext cx="7200745" cy="3782670"/>
          </a:xfrm>
          <a:prstGeom prst="rect">
            <a:avLst/>
          </a:prstGeom>
        </p:spPr>
      </p:pic>
      <p:sp>
        <p:nvSpPr>
          <p:cNvPr id="20" name="evaluation-latest-result">
            <a:extLst>
              <a:ext uri="{FF2B5EF4-FFF2-40B4-BE49-F238E27FC236}">
                <a16:creationId xmlns:a16="http://schemas.microsoft.com/office/drawing/2014/main" id="{C8DEDBEE-F670-B030-7FCD-C8FD858BBACD}"/>
              </a:ext>
            </a:extLst>
          </p:cNvPr>
          <p:cNvSpPr>
            <a:spLocks noGrp="1"/>
          </p:cNvSpPr>
          <p:nvPr/>
        </p:nvSpPr>
        <p:spPr>
          <a:xfrm>
            <a:off x="22131475" y="18649950"/>
            <a:ext cx="4274456" cy="209274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650" b="1">
                <a:solidFill>
                  <a:srgbClr val="147D86"/>
                </a:solidFill>
                <a:latin typeface="Calibri"/>
                <a:ea typeface="Calibri"/>
                <a:cs typeface="Calibri"/>
              </a:defRPr>
            </a:pPr>
            <a:r>
              <a:rPr sz="2000" b="1" dirty="0">
                <a:solidFill>
                  <a:srgbClr val="147D86"/>
                </a:solidFill>
                <a:latin typeface="Calibri"/>
                <a:ea typeface="Calibri"/>
                <a:cs typeface="Calibri"/>
              </a:rPr>
              <a:t>Reward = </a:t>
            </a:r>
            <a:endParaRPr lang="he-IL" sz="2000" b="1" dirty="0">
              <a:solidFill>
                <a:srgbClr val="147D86"/>
              </a:solidFill>
              <a:latin typeface="Calibri"/>
              <a:ea typeface="Calibri"/>
              <a:cs typeface="Calibri"/>
            </a:endParaRPr>
          </a:p>
          <a:p>
            <a:pPr>
              <a:buNone/>
              <a:defRPr sz="1650" b="1">
                <a:solidFill>
                  <a:srgbClr val="147D86"/>
                </a:solidFill>
                <a:latin typeface="Calibri"/>
                <a:ea typeface="Calibri"/>
                <a:cs typeface="Calibri"/>
              </a:defRPr>
            </a:pPr>
            <a:r>
              <a:rPr sz="2000" b="1" dirty="0">
                <a:solidFill>
                  <a:srgbClr val="147D86"/>
                </a:solidFill>
                <a:latin typeface="Calibri"/>
                <a:ea typeface="Calibri"/>
                <a:cs typeface="Calibri"/>
              </a:rPr>
              <a:t>terminal (+100 / -100)</a:t>
            </a:r>
            <a:r>
              <a:rPr lang="he-IL" sz="2000" b="1" dirty="0">
                <a:solidFill>
                  <a:srgbClr val="147D86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dirty="0">
                <a:solidFill>
                  <a:srgbClr val="147D86"/>
                </a:solidFill>
                <a:latin typeface="Calibri"/>
                <a:ea typeface="Calibri"/>
                <a:cs typeface="Calibri"/>
              </a:rPr>
              <a:t>+ </a:t>
            </a:r>
            <a:endParaRPr lang="he-IL" sz="2000" b="1" dirty="0">
              <a:solidFill>
                <a:srgbClr val="147D86"/>
              </a:solidFill>
              <a:latin typeface="Calibri"/>
              <a:ea typeface="Calibri"/>
              <a:cs typeface="Calibri"/>
            </a:endParaRPr>
          </a:p>
          <a:p>
            <a:pPr>
              <a:buNone/>
              <a:defRPr sz="1650" b="1">
                <a:solidFill>
                  <a:srgbClr val="147D86"/>
                </a:solidFill>
                <a:latin typeface="Calibri"/>
                <a:ea typeface="Calibri"/>
                <a:cs typeface="Calibri"/>
              </a:defRPr>
            </a:pPr>
            <a:r>
              <a:rPr sz="2000" b="1" dirty="0">
                <a:solidFill>
                  <a:srgbClr val="147D86"/>
                </a:solidFill>
                <a:latin typeface="Calibri"/>
                <a:ea typeface="Calibri"/>
                <a:cs typeface="Calibri"/>
              </a:rPr>
              <a:t>0.1 x clip[-10,+10](local action terms) + </a:t>
            </a:r>
            <a:endParaRPr lang="he-IL" sz="2000" b="1" dirty="0">
              <a:solidFill>
                <a:srgbClr val="147D86"/>
              </a:solidFill>
              <a:latin typeface="Calibri"/>
              <a:ea typeface="Calibri"/>
              <a:cs typeface="Calibri"/>
            </a:endParaRPr>
          </a:p>
          <a:p>
            <a:pPr>
              <a:buNone/>
              <a:defRPr sz="1650" b="1">
                <a:solidFill>
                  <a:srgbClr val="147D86"/>
                </a:solidFill>
                <a:latin typeface="Calibri"/>
                <a:ea typeface="Calibri"/>
                <a:cs typeface="Calibri"/>
              </a:defRPr>
            </a:pPr>
            <a:r>
              <a:rPr sz="2000" b="1" dirty="0">
                <a:solidFill>
                  <a:srgbClr val="147D86"/>
                </a:solidFill>
                <a:latin typeface="Calibri"/>
                <a:ea typeface="Calibri"/>
                <a:cs typeface="Calibri"/>
              </a:rPr>
              <a:t>0.1 x board progress after opponents.</a:t>
            </a:r>
            <a:endParaRPr lang="en-US" sz="2000" b="1" dirty="0">
              <a:solidFill>
                <a:srgbClr val="147D86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13DAC5-443F-59D8-596C-984E16CA30F4}"/>
              </a:ext>
            </a:extLst>
          </p:cNvPr>
          <p:cNvSpPr txBox="1"/>
          <p:nvPr/>
        </p:nvSpPr>
        <p:spPr>
          <a:xfrm>
            <a:off x="22131475" y="20745597"/>
            <a:ext cx="4361543" cy="16312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defRPr sz="1650" b="1">
                <a:solidFill>
                  <a:srgbClr val="147D86"/>
                </a:solidFill>
                <a:latin typeface="Calibri"/>
                <a:ea typeface="Calibri"/>
                <a:cs typeface="Calibri"/>
              </a:defRPr>
            </a:pPr>
            <a:r>
              <a:rPr lang="en-US" sz="2000" dirty="0">
                <a:solidFill>
                  <a:srgbClr val="5B6B78"/>
                </a:solidFill>
                <a:latin typeface="Calibri"/>
                <a:ea typeface="Calibri"/>
                <a:cs typeface="Calibri"/>
              </a:rPr>
              <a:t>Local shaping applies only to learner decisions; board progress is separately scaled (not clipped) after every opponent has played.</a:t>
            </a:r>
          </a:p>
          <a:p>
            <a:endParaRPr lang="he-IL" sz="2000" dirty="0"/>
          </a:p>
        </p:txBody>
      </p:sp>
    </p:spTree>
    <p:extLst>
      <p:ext uri="{BB962C8B-B14F-4D97-AF65-F5344CB8AC3E}">
        <p14:creationId xmlns:p14="http://schemas.microsoft.com/office/powerpoint/2010/main" val="10412949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980</Words>
  <Application>Microsoft Office PowerPoint</Application>
  <DocSecurity>0</DocSecurity>
  <PresentationFormat>Custom</PresentationFormat>
  <Paragraphs>99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Calibri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גלעד מרקמן</cp:lastModifiedBy>
  <cp:revision>15</cp:revision>
  <dcterms:created xsi:type="dcterms:W3CDTF">2026-08-14T13:01:29Z</dcterms:created>
  <dcterms:modified xsi:type="dcterms:W3CDTF">2026-08-14T14:26:30Z</dcterms:modified>
</cp:coreProperties>
</file>