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44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7189502"/>
            <a:ext cx="19665297" cy="5963068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335974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43125" y="5460896"/>
            <a:ext cx="38385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921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921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670000" y="6921292"/>
            <a:ext cx="146113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84582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96488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7279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63946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84582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63600" y="9620250"/>
            <a:ext cx="10591800" cy="6953250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7193875" y="77343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7193875" y="8458200"/>
            <a:ext cx="13573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Four TransformerConv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7670125" y="9620250"/>
            <a:ext cx="12611100" cy="7219950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7199027"/>
            <a:ext cx="20050125" cy="5963068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8145125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075" b="1" dirty="0" err="1"/>
              <a:t>How</a:t>
            </a:r>
            <a:r>
              <a:rPr lang="he-IL" sz="3075" b="1" dirty="0"/>
              <a:t> GATN </a:t>
            </a:r>
            <a:r>
              <a:rPr lang="he-IL" sz="3075" b="1" dirty="0" err="1"/>
              <a:t>attention</a:t>
            </a:r>
            <a:r>
              <a:rPr lang="he-IL" sz="3075" b="1" dirty="0"/>
              <a:t> </a:t>
            </a:r>
            <a:r>
              <a:rPr lang="he-IL" sz="3075" b="1" dirty="0" err="1"/>
              <a:t>uses</a:t>
            </a:r>
            <a:r>
              <a:rPr lang="he-IL" sz="3075" b="1" dirty="0"/>
              <a:t> </a:t>
            </a:r>
            <a:r>
              <a:rPr lang="he-IL" sz="3075" b="1" dirty="0" err="1"/>
              <a:t>the</a:t>
            </a:r>
            <a:r>
              <a:rPr lang="he-IL" sz="3075" b="1" dirty="0"/>
              <a:t> </a:t>
            </a:r>
            <a:r>
              <a:rPr lang="he-IL" sz="3075" b="1" dirty="0" err="1"/>
              <a:t>injected</a:t>
            </a:r>
            <a:r>
              <a:rPr lang="he-IL" sz="3075" b="1" dirty="0"/>
              <a:t> </a:t>
            </a:r>
            <a:r>
              <a:rPr lang="he-IL" sz="3075" b="1" dirty="0" err="1"/>
              <a:t>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43125" y="18999593"/>
            <a:ext cx="9245926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</a:t>
            </a:r>
            <a:r>
              <a:rPr lang="en-US" sz="2400" b="0" dirty="0" err="1">
                <a:solidFill>
                  <a:srgbClr val="5E6C76"/>
                </a:solidFill>
              </a:rPr>
              <a:t>neighbouring</a:t>
            </a:r>
            <a:r>
              <a:rPr lang="en-US" sz="2400" b="0" dirty="0">
                <a:solidFill>
                  <a:srgbClr val="5E6C76"/>
                </a:solidFill>
              </a:rPr>
              <a:t> territories. Q represents the receiving territory; K determines how relevant each </a:t>
            </a:r>
            <a:r>
              <a:rPr lang="en-US" sz="2400" b="0" dirty="0" err="1">
                <a:solidFill>
                  <a:srgbClr val="5E6C76"/>
                </a:solidFill>
              </a:rPr>
              <a:t>neighbour</a:t>
            </a:r>
            <a:r>
              <a:rPr lang="en-US" sz="2400" b="0" dirty="0">
                <a:solidFill>
                  <a:srgbClr val="5E6C76"/>
                </a:solidFill>
              </a:rPr>
              <a:t> is; V is the information that </a:t>
            </a:r>
            <a:r>
              <a:rPr lang="en-US" sz="2400" b="0" dirty="0" err="1">
                <a:solidFill>
                  <a:srgbClr val="5E6C76"/>
                </a:solidFill>
              </a:rPr>
              <a:t>neighbour</a:t>
            </a:r>
            <a:r>
              <a:rPr lang="en-US" sz="2400" b="0" dirty="0">
                <a:solidFill>
                  <a:srgbClr val="5E6C76"/>
                </a:solidFill>
              </a:rPr>
              <a:t>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36160" y="20977769"/>
            <a:ext cx="8953500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 err="1"/>
              <a:t>Four</a:t>
            </a:r>
            <a:r>
              <a:rPr lang="he-IL" sz="2400" b="1" dirty="0"/>
              <a:t> </a:t>
            </a:r>
            <a:r>
              <a:rPr lang="he-IL" sz="2400" b="1" dirty="0" err="1"/>
              <a:t>graph-attention</a:t>
            </a:r>
            <a:r>
              <a:rPr lang="he-IL" sz="2400" b="1" dirty="0"/>
              <a:t> </a:t>
            </a:r>
            <a:r>
              <a:rPr lang="he-IL" sz="2400" b="1" dirty="0" err="1"/>
              <a:t>layers</a:t>
            </a:r>
            <a:r>
              <a:rPr lang="he-IL" sz="2400" b="1" dirty="0"/>
              <a:t> </a:t>
            </a:r>
            <a:r>
              <a:rPr lang="he-IL" sz="2400" b="1" dirty="0" err="1"/>
              <a:t>aggregate</a:t>
            </a:r>
            <a:r>
              <a:rPr lang="he-IL" sz="2400" b="1" dirty="0"/>
              <a:t> </a:t>
            </a:r>
            <a:r>
              <a:rPr lang="he-IL" sz="2400" b="1" dirty="0" err="1"/>
              <a:t>these</a:t>
            </a:r>
            <a:r>
              <a:rPr lang="he-IL" sz="2400" b="1" dirty="0"/>
              <a:t> </a:t>
            </a:r>
            <a:r>
              <a:rPr lang="he-IL" sz="2400" b="1" dirty="0" err="1"/>
              <a:t>weighted</a:t>
            </a:r>
            <a:r>
              <a:rPr lang="he-IL" sz="2400" b="1" dirty="0"/>
              <a:t> </a:t>
            </a:r>
            <a:r>
              <a:rPr lang="he-IL" sz="2400" b="1" dirty="0" err="1"/>
              <a:t>neighbour</a:t>
            </a:r>
            <a:r>
              <a:rPr lang="he-IL" sz="2400" b="1" dirty="0"/>
              <a:t> </a:t>
            </a:r>
            <a:r>
              <a:rPr lang="he-IL" sz="2400" b="1" dirty="0" err="1"/>
              <a:t>messages</a:t>
            </a:r>
            <a:r>
              <a:rPr lang="he-IL" sz="2400" b="1" dirty="0"/>
              <a:t>—</a:t>
            </a:r>
            <a:r>
              <a:rPr lang="he-IL" sz="2400" b="1" dirty="0" err="1"/>
              <a:t>never</a:t>
            </a:r>
            <a:r>
              <a:rPr lang="he-IL" sz="2400" b="1" dirty="0"/>
              <a:t> </a:t>
            </a:r>
            <a:r>
              <a:rPr lang="he-IL" sz="2400" b="1" dirty="0" err="1"/>
              <a:t>all</a:t>
            </a:r>
            <a:r>
              <a:rPr lang="he-IL" sz="2400" b="1" dirty="0"/>
              <a:t> </a:t>
            </a:r>
            <a:r>
              <a:rPr lang="he-IL" sz="2400" b="1" dirty="0" err="1"/>
              <a:t>territory</a:t>
            </a:r>
            <a:r>
              <a:rPr lang="he-IL" sz="2400" b="1" dirty="0"/>
              <a:t> </a:t>
            </a:r>
            <a:r>
              <a:rPr lang="he-IL" sz="2400" b="1" dirty="0" err="1"/>
              <a:t>pairs</a:t>
            </a:r>
            <a:r>
              <a:rPr lang="he-IL" sz="2400" b="1" dirty="0"/>
              <a:t>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80975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1855776" y="17535509"/>
            <a:ext cx="9480224" cy="5394483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874488097"/>
              </p:ext>
            </p:extLst>
          </p:nvPr>
        </p:nvGraphicFramePr>
        <p:xfrm>
          <a:off x="26803350" y="17606229"/>
          <a:ext cx="13535024" cy="5585888"/>
        </p:xfrm>
        <a:graphic>
          <a:graphicData uri="http://schemas.openxmlformats.org/drawingml/2006/table">
            <a:tbl>
              <a:tblPr firstRow="1" firstCol="1" bandRow="1"/>
              <a:tblGrid>
                <a:gridCol w="26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2000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2000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2000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B5FDA4B-86C6-75F9-3E07-414808D0A1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185" y="25360163"/>
            <a:ext cx="7542857" cy="3962387"/>
          </a:xfrm>
          <a:prstGeom prst="rect">
            <a:avLst/>
          </a:prstGeom>
        </p:spPr>
      </p:pic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6045669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noGrp="1"/>
          </p:cNvSpPr>
          <p:nvPr/>
        </p:nvSpPr>
        <p:spPr>
          <a:xfrm>
            <a:off x="1908960" y="28285290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95199" y="25986693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noGrp="1"/>
          </p:cNvSpPr>
          <p:nvPr/>
        </p:nvSpPr>
        <p:spPr>
          <a:xfrm>
            <a:off x="15506417" y="28226314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2131D9C-4ADD-F7C2-8402-47D369B5A5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183" y="25617675"/>
            <a:ext cx="7200745" cy="3782670"/>
          </a:xfrm>
          <a:prstGeom prst="rect">
            <a:avLst/>
          </a:prstGeom>
        </p:spPr>
      </p:pic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649950"/>
            <a:ext cx="4274456" cy="2092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clip[-10,+10](local action terms)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5" y="20745597"/>
            <a:ext cx="4361543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  <a:p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980</Words>
  <Application>Microsoft Office PowerPoint</Application>
  <DocSecurity>0</DocSecurity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11</cp:revision>
  <dcterms:created xsi:type="dcterms:W3CDTF">2026-08-14T13:01:29Z</dcterms:created>
  <dcterms:modified xsi:type="dcterms:W3CDTF">2026-08-14T14:21:48Z</dcterms:modified>
</cp:coreProperties>
</file>