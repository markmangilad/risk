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2805350" cy="3027045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Content and local visual assets adapted from Docs/Poster.md.</a:t>
            </a:r>
          </a:p>
          <a:p>
            <a:r>
              <a:t>Assets: Assets/RiskMap/image.png; Assets/RiskMap/map_graph_nodes_edges.png; Assets/RiskMap/partial_graph_attributes.png; Assets/RiskMap/network_phase_heads_v2.png; Assets/encoder_matrix_summary.png; Assets/DQN Win.png (current DQN data, intentionally duplicated in the Dueling DQN and PPO slots only as clearly labelled temporary layout placeholders).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DQN_103 checkpoint chart: Checkpoints/DQN_103/evaluations/top5_checkpoint_win_rates_all_player_counts.png.</a:t>
            </a:r>
          </a:p>
          <a:p>
            <a:endParaRPr/>
          </a:p>
          <a:p>
            <a:r>
              <a:t>Evaluation facts: Checkpoints/DQN_103/evaluations/checkpoint_eval_ep006200_to_006700.json (54 games/checkpoint, 3 seeds, every learner seat, epsilon 0, 2,000-step cap; ep006700 46/54 wins and zero timeouts).</a:t>
            </a:r>
          </a:p>
          <a:p>
            <a:endParaRPr/>
          </a:p>
          <a:p>
            <a:r>
              <a:t>Method claim: Docs/ActionGraphBuilder.md and Docs/GraphAttentionNetwork.md.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th-panel">
            <a:extLst>
              <a:ext uri="{FF2B5EF4-FFF2-40B4-BE49-F238E27FC236}">
                <a16:creationId xmlns:a16="http://schemas.microsoft.com/office/drawing/2014/main" id="{C5062713-67A8-33A0-A869-B11CE15AB6C6}"/>
              </a:ext>
            </a:extLst>
          </p:cNvPr>
          <p:cNvSpPr>
            <a:spLocks noGrp="1"/>
          </p:cNvSpPr>
          <p:nvPr/>
        </p:nvSpPr>
        <p:spPr>
          <a:xfrm>
            <a:off x="21402675" y="17726024"/>
            <a:ext cx="19650075" cy="5268571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header">
            <a:extLst>
              <a:ext uri="{FF2B5EF4-FFF2-40B4-BE49-F238E27FC236}">
                <a16:creationId xmlns:a16="http://schemas.microsoft.com/office/drawing/2014/main" id="{18392ECE-BC05-4A30-A2F1-350F5C5720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05350" cy="4857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header-accent">
            <a:extLst>
              <a:ext uri="{FF2B5EF4-FFF2-40B4-BE49-F238E27FC236}">
                <a16:creationId xmlns:a16="http://schemas.microsoft.com/office/drawing/2014/main" id="{DB99EA98-A601-4193-B29C-C8059390258C}"/>
              </a:ext>
            </a:extLst>
          </p:cNvPr>
          <p:cNvSpPr>
            <a:spLocks noGrp="1"/>
          </p:cNvSpPr>
          <p:nvPr/>
        </p:nvSpPr>
        <p:spPr>
          <a:xfrm>
            <a:off x="0" y="4667250"/>
            <a:ext cx="42805350" cy="190500"/>
          </a:xfrm>
          <a:prstGeom prst="rect">
            <a:avLst/>
          </a:prstGeom>
          <a:solidFill>
            <a:srgbClr val="E8752A"/>
          </a:solidFill>
          <a:ln w="0">
            <a:solidFill>
              <a:srgbClr val="E875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A1C5D9-A7EF-467E-911C-38531DF05BF7}"/>
              </a:ext>
            </a:extLst>
          </p:cNvPr>
          <p:cNvSpPr>
            <a:spLocks noGrp="1"/>
          </p:cNvSpPr>
          <p:nvPr/>
        </p:nvSpPr>
        <p:spPr>
          <a:xfrm>
            <a:off x="1619250" y="685800"/>
            <a:ext cx="29527500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Learning to Play Risk with</a:t>
            </a:r>
          </a:p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Action-Injected Graph Neural Networks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C982B-75D9-4203-AF53-6CDB053E1D0D}"/>
              </a:ext>
            </a:extLst>
          </p:cNvPr>
          <p:cNvSpPr>
            <a:spLocks noGrp="1"/>
          </p:cNvSpPr>
          <p:nvPr/>
        </p:nvSpPr>
        <p:spPr>
          <a:xfrm>
            <a:off x="1666875" y="3476625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0">
                <a:solidFill>
                  <a:srgbClr val="C7D6E2"/>
                </a:solidFill>
              </a:defRPr>
            </a:pPr>
            <a:r>
              <a:rPr sz="3150" b="0" dirty="0">
                <a:solidFill>
                  <a:srgbClr val="C7D6E2"/>
                </a:solidFill>
              </a:rPr>
              <a:t>A graph-attention reinforcement-learning approach, compared across DQN, Dueling DQN, and PPO</a:t>
            </a:r>
          </a:p>
        </p:txBody>
      </p:sp>
      <p:sp>
        <p:nvSpPr>
          <p:cNvPr id="5" name="author">
            <a:extLst>
              <a:ext uri="{FF2B5EF4-FFF2-40B4-BE49-F238E27FC236}">
                <a16:creationId xmlns:a16="http://schemas.microsoft.com/office/drawing/2014/main" id="{1A629CBA-46CC-4E8F-85AE-E4B05D34F1DD}"/>
              </a:ext>
            </a:extLst>
          </p:cNvPr>
          <p:cNvSpPr>
            <a:spLocks noGrp="1"/>
          </p:cNvSpPr>
          <p:nvPr/>
        </p:nvSpPr>
        <p:spPr>
          <a:xfrm>
            <a:off x="1666875" y="3971925"/>
            <a:ext cx="2667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0">
                <a:solidFill>
                  <a:srgbClr val="9EC5D0"/>
                </a:solidFill>
              </a:defRPr>
            </a:pPr>
            <a:r>
              <a:rPr sz="2325" b="0">
                <a:solidFill>
                  <a:srgbClr val="9EC5D0"/>
                </a:solidFill>
              </a:rPr>
              <a:t>Gilad Markman  •  Practical Deep Learning for Science  •  2026</a:t>
            </a:r>
          </a:p>
        </p:txBody>
      </p:sp>
      <p:pic>
        <p:nvPicPr>
          <p:cNvPr id="122" name="Picture 81"/>
          <p:cNvPicPr>
            <a:picLocks noChangeAspect="1"/>
          </p:cNvPicPr>
          <p:nvPr/>
        </p:nvPicPr>
        <p:blipFill>
          <a:blip r:embed="rId3"/>
          <a:srcRect t="13891" b="13891"/>
          <a:stretch>
            <a:fillRect/>
          </a:stretch>
        </p:blipFill>
        <p:spPr>
          <a:xfrm>
            <a:off x="27146250" y="438564"/>
            <a:ext cx="8001000" cy="3714750"/>
          </a:xfrm>
          <a:prstGeom prst="roundRect">
            <a:avLst>
              <a:gd name="adj" fmla="val 4615"/>
            </a:avLst>
          </a:prstGeom>
        </p:spPr>
      </p:pic>
      <p:sp>
        <p:nvSpPr>
          <p:cNvPr id="7" name="claim">
            <a:extLst>
              <a:ext uri="{FF2B5EF4-FFF2-40B4-BE49-F238E27FC236}">
                <a16:creationId xmlns:a16="http://schemas.microsoft.com/office/drawing/2014/main" id="{FC781605-6676-4548-A245-310F531E5AF5}"/>
              </a:ext>
            </a:extLst>
          </p:cNvPr>
          <p:cNvSpPr>
            <a:spLocks noGrp="1"/>
          </p:cNvSpPr>
          <p:nvPr/>
        </p:nvSpPr>
        <p:spPr>
          <a:xfrm>
            <a:off x="1524000" y="5334000"/>
            <a:ext cx="39757350" cy="1562100"/>
          </a:xfrm>
          <a:prstGeom prst="roundRect">
            <a:avLst>
              <a:gd name="adj" fmla="val 12195"/>
            </a:avLst>
          </a:prstGeom>
          <a:solidFill>
            <a:srgbClr val="DDF3F2"/>
          </a:solidFill>
          <a:ln w="0">
            <a:solidFill>
              <a:srgbClr val="DDF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aim-text">
            <a:extLst>
              <a:ext uri="{FF2B5EF4-FFF2-40B4-BE49-F238E27FC236}">
                <a16:creationId xmlns:a16="http://schemas.microsoft.com/office/drawing/2014/main" id="{8AE3B966-105B-48EC-B80D-D416C24E6BE9}"/>
              </a:ext>
            </a:extLst>
          </p:cNvPr>
          <p:cNvSpPr>
            <a:spLocks noGrp="1"/>
          </p:cNvSpPr>
          <p:nvPr/>
        </p:nvSpPr>
        <p:spPr>
          <a:xfrm>
            <a:off x="2143125" y="5667375"/>
            <a:ext cx="38385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525" b="1">
                <a:solidFill>
                  <a:srgbClr val="102A43"/>
                </a:solidFill>
              </a:defRPr>
            </a:pPr>
            <a:r>
              <a:rPr sz="3525" b="1" dirty="0">
                <a:solidFill>
                  <a:srgbClr val="102A43"/>
                </a:solidFill>
              </a:rPr>
              <a:t>Instead of scoring one enormous fixed move list, the system injects each legal Risk move into the board graph and scores that state–action graph with one shared graph-attention encoder.</a:t>
            </a:r>
          </a:p>
        </p:txBody>
      </p:sp>
      <p:sp>
        <p:nvSpPr>
          <p:cNvPr id="9" name="panel-1">
            <a:extLst>
              <a:ext uri="{FF2B5EF4-FFF2-40B4-BE49-F238E27FC236}">
                <a16:creationId xmlns:a16="http://schemas.microsoft.com/office/drawing/2014/main" id="{427036A3-B448-4953-BC8C-5AFCA51A67AC}"/>
              </a:ext>
            </a:extLst>
          </p:cNvPr>
          <p:cNvSpPr>
            <a:spLocks noGrp="1"/>
          </p:cNvSpPr>
          <p:nvPr/>
        </p:nvSpPr>
        <p:spPr>
          <a:xfrm>
            <a:off x="1524000" y="7334250"/>
            <a:ext cx="95250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anel-2">
            <a:extLst>
              <a:ext uri="{FF2B5EF4-FFF2-40B4-BE49-F238E27FC236}">
                <a16:creationId xmlns:a16="http://schemas.microsoft.com/office/drawing/2014/main" id="{8F320233-D426-42B3-8B9E-C3F19171157D}"/>
              </a:ext>
            </a:extLst>
          </p:cNvPr>
          <p:cNvSpPr>
            <a:spLocks noGrp="1"/>
          </p:cNvSpPr>
          <p:nvPr/>
        </p:nvSpPr>
        <p:spPr>
          <a:xfrm>
            <a:off x="11715750" y="7334250"/>
            <a:ext cx="142875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anel-3">
            <a:extLst>
              <a:ext uri="{FF2B5EF4-FFF2-40B4-BE49-F238E27FC236}">
                <a16:creationId xmlns:a16="http://schemas.microsoft.com/office/drawing/2014/main" id="{74C5E218-7CF1-4321-A510-CA1D04E06CBD}"/>
              </a:ext>
            </a:extLst>
          </p:cNvPr>
          <p:cNvSpPr>
            <a:spLocks noGrp="1"/>
          </p:cNvSpPr>
          <p:nvPr/>
        </p:nvSpPr>
        <p:spPr>
          <a:xfrm>
            <a:off x="26670000" y="7334250"/>
            <a:ext cx="1461135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roblem-title">
            <a:extLst>
              <a:ext uri="{FF2B5EF4-FFF2-40B4-BE49-F238E27FC236}">
                <a16:creationId xmlns:a16="http://schemas.microsoft.com/office/drawing/2014/main" id="{E4A3E5BF-20DF-45F7-99D7-EA75EDE35B4B}"/>
              </a:ext>
            </a:extLst>
          </p:cNvPr>
          <p:cNvSpPr>
            <a:spLocks noGrp="1"/>
          </p:cNvSpPr>
          <p:nvPr/>
        </p:nvSpPr>
        <p:spPr>
          <a:xfrm>
            <a:off x="2047875" y="773430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1  Board as a graph</a:t>
            </a:r>
          </a:p>
        </p:txBody>
      </p:sp>
      <p:sp>
        <p:nvSpPr>
          <p:cNvPr id="13" name="problem-copy">
            <a:extLst>
              <a:ext uri="{FF2B5EF4-FFF2-40B4-BE49-F238E27FC236}">
                <a16:creationId xmlns:a16="http://schemas.microsoft.com/office/drawing/2014/main" id="{4ED55B3A-E48C-4A88-BDCE-2F08CB9811B1}"/>
              </a:ext>
            </a:extLst>
          </p:cNvPr>
          <p:cNvSpPr>
            <a:spLocks noGrp="1"/>
          </p:cNvSpPr>
          <p:nvPr/>
        </p:nvSpPr>
        <p:spPr>
          <a:xfrm>
            <a:off x="2047875" y="8458200"/>
            <a:ext cx="847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Risk's territories and borders are relational: move quality depends on neighbours, armies, and contested continents.</a:t>
            </a:r>
          </a:p>
        </p:txBody>
      </p:sp>
      <p:pic>
        <p:nvPicPr>
          <p:cNvPr id="130" name="Picture 8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57500" y="10001250"/>
            <a:ext cx="6858000" cy="4533900"/>
          </a:xfrm>
          <a:prstGeom prst="roundRect">
            <a:avLst>
              <a:gd name="adj" fmla="val 3158"/>
            </a:avLst>
          </a:prstGeom>
        </p:spPr>
      </p:pic>
      <p:sp>
        <p:nvSpPr>
          <p:cNvPr id="15" name="graph-label">
            <a:extLst>
              <a:ext uri="{FF2B5EF4-FFF2-40B4-BE49-F238E27FC236}">
                <a16:creationId xmlns:a16="http://schemas.microsoft.com/office/drawing/2014/main" id="{31424903-70C4-478B-9E69-B9C7B01D4B2C}"/>
              </a:ext>
            </a:extLst>
          </p:cNvPr>
          <p:cNvSpPr>
            <a:spLocks noGrp="1"/>
          </p:cNvSpPr>
          <p:nvPr/>
        </p:nvSpPr>
        <p:spPr>
          <a:xfrm>
            <a:off x="2047875" y="15049500"/>
            <a:ext cx="847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325" b="1">
                <a:solidFill>
                  <a:srgbClr val="0C7C86"/>
                </a:solidFill>
              </a:defRPr>
            </a:pPr>
            <a:r>
              <a:rPr sz="2325" b="1">
                <a:solidFill>
                  <a:srgbClr val="0C7C86"/>
                </a:solidFill>
              </a:rPr>
              <a:t>42 territory nodes  |  83 borders  |  166 directed edges</a:t>
            </a:r>
          </a:p>
        </p:txBody>
      </p:sp>
      <p:sp>
        <p:nvSpPr>
          <p:cNvPr id="16" name="graph-dims">
            <a:extLst>
              <a:ext uri="{FF2B5EF4-FFF2-40B4-BE49-F238E27FC236}">
                <a16:creationId xmlns:a16="http://schemas.microsoft.com/office/drawing/2014/main" id="{984942EC-C9B7-4FB0-810D-D1A6119101AC}"/>
              </a:ext>
            </a:extLst>
          </p:cNvPr>
          <p:cNvSpPr>
            <a:spLocks noGrp="1"/>
          </p:cNvSpPr>
          <p:nvPr/>
        </p:nvSpPr>
        <p:spPr>
          <a:xfrm>
            <a:off x="2047875" y="15716250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X [42 x 15]     E [166 x 2]     u [1 x 35]</a:t>
            </a:r>
          </a:p>
        </p:txBody>
      </p:sp>
      <p:sp>
        <p:nvSpPr>
          <p:cNvPr id="17" name="injection-title">
            <a:extLst>
              <a:ext uri="{FF2B5EF4-FFF2-40B4-BE49-F238E27FC236}">
                <a16:creationId xmlns:a16="http://schemas.microsoft.com/office/drawing/2014/main" id="{CCCAF54D-787A-4857-BA70-D15E833E6F30}"/>
              </a:ext>
            </a:extLst>
          </p:cNvPr>
          <p:cNvSpPr>
            <a:spLocks noGrp="1"/>
          </p:cNvSpPr>
          <p:nvPr/>
        </p:nvSpPr>
        <p:spPr>
          <a:xfrm>
            <a:off x="12239625" y="7734300"/>
            <a:ext cx="1323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2  Inject each legal candidate action</a:t>
            </a:r>
          </a:p>
        </p:txBody>
      </p:sp>
      <p:sp>
        <p:nvSpPr>
          <p:cNvPr id="18" name="injection-copy">
            <a:extLst>
              <a:ext uri="{FF2B5EF4-FFF2-40B4-BE49-F238E27FC236}">
                <a16:creationId xmlns:a16="http://schemas.microsoft.com/office/drawing/2014/main" id="{72921CD4-71B7-4495-B242-983CAB8B9414}"/>
              </a:ext>
            </a:extLst>
          </p:cNvPr>
          <p:cNvSpPr>
            <a:spLocks noGrp="1"/>
          </p:cNvSpPr>
          <p:nvPr/>
        </p:nvSpPr>
        <p:spPr>
          <a:xfrm>
            <a:off x="12239625" y="8458200"/>
            <a:ext cx="1323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The action becomes part of the graph: an attack changes one border; other phases mark affected territory rows.</a:t>
            </a:r>
          </a:p>
        </p:txBody>
      </p:sp>
      <p:pic>
        <p:nvPicPr>
          <p:cNvPr id="135" name="Picture 9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563600" y="9620250"/>
            <a:ext cx="10591800" cy="6953250"/>
          </a:xfrm>
          <a:prstGeom prst="roundRect">
            <a:avLst>
              <a:gd name="adj" fmla="val 3186"/>
            </a:avLst>
          </a:prstGeom>
        </p:spPr>
      </p:pic>
      <p:sp>
        <p:nvSpPr>
          <p:cNvPr id="23" name="encoder-title">
            <a:extLst>
              <a:ext uri="{FF2B5EF4-FFF2-40B4-BE49-F238E27FC236}">
                <a16:creationId xmlns:a16="http://schemas.microsoft.com/office/drawing/2014/main" id="{79B4DD3D-FDCC-451A-A34B-0083880088FB}"/>
              </a:ext>
            </a:extLst>
          </p:cNvPr>
          <p:cNvSpPr>
            <a:spLocks noGrp="1"/>
          </p:cNvSpPr>
          <p:nvPr/>
        </p:nvSpPr>
        <p:spPr>
          <a:xfrm>
            <a:off x="27193875" y="7734300"/>
            <a:ext cx="1357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3  Shared GATN encoder + phase heads</a:t>
            </a:r>
          </a:p>
        </p:txBody>
      </p:sp>
      <p:sp>
        <p:nvSpPr>
          <p:cNvPr id="24" name="encoder-copy">
            <a:extLst>
              <a:ext uri="{FF2B5EF4-FFF2-40B4-BE49-F238E27FC236}">
                <a16:creationId xmlns:a16="http://schemas.microsoft.com/office/drawing/2014/main" id="{34DE2DAF-F125-4785-B516-3B680970084E}"/>
              </a:ext>
            </a:extLst>
          </p:cNvPr>
          <p:cNvSpPr>
            <a:spLocks noGrp="1"/>
          </p:cNvSpPr>
          <p:nvPr/>
        </p:nvSpPr>
        <p:spPr>
          <a:xfrm>
            <a:off x="27193875" y="8458200"/>
            <a:ext cx="135731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Four TransformerConv layers read the injected graph; the current Risk phase selects its small scoring head.</a:t>
            </a:r>
          </a:p>
        </p:txBody>
      </p:sp>
      <p:pic>
        <p:nvPicPr>
          <p:cNvPr id="138" name="Picture 10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7670125" y="9620250"/>
            <a:ext cx="12611100" cy="7219950"/>
          </a:xfrm>
          <a:prstGeom prst="roundRect">
            <a:avLst>
              <a:gd name="adj" fmla="val 3186"/>
            </a:avLst>
          </a:prstGeom>
        </p:spPr>
      </p:pic>
      <p:sp>
        <p:nvSpPr>
          <p:cNvPr id="33" name="math-panel">
            <a:extLst>
              <a:ext uri="{FF2B5EF4-FFF2-40B4-BE49-F238E27FC236}">
                <a16:creationId xmlns:a16="http://schemas.microsoft.com/office/drawing/2014/main" id="{13CF350F-FBF5-4C7E-97D9-3BCF8C329FF6}"/>
              </a:ext>
            </a:extLst>
          </p:cNvPr>
          <p:cNvSpPr>
            <a:spLocks noGrp="1"/>
          </p:cNvSpPr>
          <p:nvPr/>
        </p:nvSpPr>
        <p:spPr>
          <a:xfrm>
            <a:off x="1428751" y="17735549"/>
            <a:ext cx="19430998" cy="5420971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math-title">
            <a:extLst>
              <a:ext uri="{FF2B5EF4-FFF2-40B4-BE49-F238E27FC236}">
                <a16:creationId xmlns:a16="http://schemas.microsoft.com/office/drawing/2014/main" id="{11EAAD89-D915-4F50-9800-DA85D550EAEF}"/>
              </a:ext>
            </a:extLst>
          </p:cNvPr>
          <p:cNvSpPr>
            <a:spLocks noGrp="1"/>
          </p:cNvSpPr>
          <p:nvPr/>
        </p:nvSpPr>
        <p:spPr>
          <a:xfrm>
            <a:off x="2095500" y="18145125"/>
            <a:ext cx="1809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75" b="1">
                <a:solidFill>
                  <a:srgbClr val="102A43"/>
                </a:solidFill>
              </a:defRPr>
            </a:pPr>
            <a:r>
              <a:rPr sz="3075" b="1">
                <a:solidFill>
                  <a:srgbClr val="102A43"/>
                </a:solidFill>
              </a:rPr>
              <a:t>How action injection changes sparse attention</a:t>
            </a:r>
          </a:p>
        </p:txBody>
      </p:sp>
      <p:sp>
        <p:nvSpPr>
          <p:cNvPr id="35" name="math-copy">
            <a:extLst>
              <a:ext uri="{FF2B5EF4-FFF2-40B4-BE49-F238E27FC236}">
                <a16:creationId xmlns:a16="http://schemas.microsoft.com/office/drawing/2014/main" id="{B89FBAD3-D610-4461-A645-277C32D1596C}"/>
              </a:ext>
            </a:extLst>
          </p:cNvPr>
          <p:cNvSpPr>
            <a:spLocks noGrp="1"/>
          </p:cNvSpPr>
          <p:nvPr/>
        </p:nvSpPr>
        <p:spPr>
          <a:xfrm>
            <a:off x="2095500" y="18811875"/>
            <a:ext cx="8953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0">
                <a:solidFill>
                  <a:srgbClr val="5E6C76"/>
                </a:solidFill>
              </a:defRPr>
            </a:pPr>
            <a:r>
              <a:rPr sz="2325" b="0" dirty="0">
                <a:solidFill>
                  <a:srgbClr val="5E6C76"/>
                </a:solidFill>
              </a:rPr>
              <a:t>Only the 166 directed Risk borders receive attention. An attack changes one selected edge row; reinforce, occupy, and fortify change affected node rows.</a:t>
            </a:r>
          </a:p>
        </p:txBody>
      </p:sp>
      <p:sp>
        <p:nvSpPr>
          <p:cNvPr id="37" name="math-footer">
            <a:extLst>
              <a:ext uri="{FF2B5EF4-FFF2-40B4-BE49-F238E27FC236}">
                <a16:creationId xmlns:a16="http://schemas.microsoft.com/office/drawing/2014/main" id="{6008C5A5-555A-4F08-876B-9CDD6C4B88C2}"/>
              </a:ext>
            </a:extLst>
          </p:cNvPr>
          <p:cNvSpPr>
            <a:spLocks noGrp="1"/>
          </p:cNvSpPr>
          <p:nvPr/>
        </p:nvSpPr>
        <p:spPr>
          <a:xfrm>
            <a:off x="2095500" y="23632771"/>
            <a:ext cx="1762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E8752A"/>
                </a:solidFill>
              </a:defRPr>
            </a:pPr>
            <a:r>
              <a:rPr sz="2100" b="1">
                <a:solidFill>
                  <a:srgbClr val="E8752A"/>
                </a:solidFill>
              </a:rPr>
              <a:t>E [166 x 2] -&gt; E_projected -&gt; K_edge / V_edge -&gt; segment softmax</a:t>
            </a:r>
          </a:p>
        </p:txBody>
      </p:sp>
      <p:sp>
        <p:nvSpPr>
          <p:cNvPr id="38" name="results-bg">
            <a:extLst>
              <a:ext uri="{FF2B5EF4-FFF2-40B4-BE49-F238E27FC236}">
                <a16:creationId xmlns:a16="http://schemas.microsoft.com/office/drawing/2014/main" id="{B283BC1F-15F7-4669-A7D9-1521AEE8E011}"/>
              </a:ext>
            </a:extLst>
          </p:cNvPr>
          <p:cNvSpPr>
            <a:spLocks noGrp="1"/>
          </p:cNvSpPr>
          <p:nvPr/>
        </p:nvSpPr>
        <p:spPr>
          <a:xfrm>
            <a:off x="0" y="23442271"/>
            <a:ext cx="42805350" cy="6762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sults-title">
            <a:extLst>
              <a:ext uri="{FF2B5EF4-FFF2-40B4-BE49-F238E27FC236}">
                <a16:creationId xmlns:a16="http://schemas.microsoft.com/office/drawing/2014/main" id="{F0545D8A-70C7-4FDD-9A4D-2711C0ADAF2B}"/>
              </a:ext>
            </a:extLst>
          </p:cNvPr>
          <p:cNvSpPr>
            <a:spLocks noGrp="1"/>
          </p:cNvSpPr>
          <p:nvPr/>
        </p:nvSpPr>
        <p:spPr>
          <a:xfrm>
            <a:off x="1524000" y="23728021"/>
            <a:ext cx="2714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Results: matched learner comparison</a:t>
            </a:r>
          </a:p>
        </p:txBody>
      </p:sp>
      <p:sp>
        <p:nvSpPr>
          <p:cNvPr id="40" name="results-subtitle">
            <a:extLst>
              <a:ext uri="{FF2B5EF4-FFF2-40B4-BE49-F238E27FC236}">
                <a16:creationId xmlns:a16="http://schemas.microsoft.com/office/drawing/2014/main" id="{9D364777-310B-4457-B161-8036260B7BDD}"/>
              </a:ext>
            </a:extLst>
          </p:cNvPr>
          <p:cNvSpPr>
            <a:spLocks noGrp="1"/>
          </p:cNvSpPr>
          <p:nvPr/>
        </p:nvSpPr>
        <p:spPr>
          <a:xfrm>
            <a:off x="8905875" y="23926800"/>
            <a:ext cx="388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C7D6E2"/>
                </a:solidFill>
              </a:defRPr>
            </a:pPr>
            <a:r>
              <a:rPr sz="2100" b="0" dirty="0">
                <a:solidFill>
                  <a:srgbClr val="C7D6E2"/>
                </a:solidFill>
              </a:rPr>
              <a:t>DQN shows the current training curve; Dueling DQN and PPO remain clearly labelled layout placeholders.</a:t>
            </a:r>
          </a:p>
        </p:txBody>
      </p:sp>
      <p:sp>
        <p:nvSpPr>
          <p:cNvPr id="83" name="result-card-dqn">
            <a:extLst>
              <a:ext uri="{FF2B5EF4-FFF2-40B4-BE49-F238E27FC236}">
                <a16:creationId xmlns:a16="http://schemas.microsoft.com/office/drawing/2014/main" id="{B1AB4D29-521C-4C1D-87F0-04C11C2027F7}"/>
              </a:ext>
            </a:extLst>
          </p:cNvPr>
          <p:cNvSpPr>
            <a:spLocks noGrp="1"/>
          </p:cNvSpPr>
          <p:nvPr/>
        </p:nvSpPr>
        <p:spPr>
          <a:xfrm>
            <a:off x="152400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4" name="result-title-dqn">
            <a:extLst>
              <a:ext uri="{FF2B5EF4-FFF2-40B4-BE49-F238E27FC236}">
                <a16:creationId xmlns:a16="http://schemas.microsoft.com/office/drawing/2014/main" id="{B293A5A7-2534-48C8-83B8-4363D4A43090}"/>
              </a:ext>
            </a:extLst>
          </p:cNvPr>
          <p:cNvSpPr>
            <a:spLocks noGrp="1"/>
          </p:cNvSpPr>
          <p:nvPr/>
        </p:nvSpPr>
        <p:spPr>
          <a:xfrm>
            <a:off x="192405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DQN</a:t>
            </a:r>
          </a:p>
        </p:txBody>
      </p:sp>
      <p:sp>
        <p:nvSpPr>
          <p:cNvPr id="85" name="result-subtitle-dqn">
            <a:extLst>
              <a:ext uri="{FF2B5EF4-FFF2-40B4-BE49-F238E27FC236}">
                <a16:creationId xmlns:a16="http://schemas.microsoft.com/office/drawing/2014/main" id="{2FE889F1-60A0-44E7-B32A-F986DB5ABF7E}"/>
              </a:ext>
            </a:extLst>
          </p:cNvPr>
          <p:cNvSpPr>
            <a:spLocks noGrp="1"/>
          </p:cNvSpPr>
          <p:nvPr/>
        </p:nvSpPr>
        <p:spPr>
          <a:xfrm>
            <a:off x="192405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15999B"/>
                </a:solidFill>
              </a:defRPr>
            </a:pPr>
            <a:r>
              <a:rPr sz="1800">
                <a:solidFill>
                  <a:srgbClr val="15999B"/>
                </a:solidFill>
              </a:rPr>
              <a:t>Current DQN data</a:t>
            </a:r>
          </a:p>
        </p:txBody>
      </p:sp>
      <p:pic>
        <p:nvPicPr>
          <p:cNvPr id="155" name="Picture 15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739767" y="25613971"/>
            <a:ext cx="7760465" cy="4076700"/>
          </a:xfrm>
          <a:prstGeom prst="rect">
            <a:avLst/>
          </a:prstGeom>
        </p:spPr>
      </p:pic>
      <p:sp>
        <p:nvSpPr>
          <p:cNvPr id="87" name="result-card-dueling-dqn">
            <a:extLst>
              <a:ext uri="{FF2B5EF4-FFF2-40B4-BE49-F238E27FC236}">
                <a16:creationId xmlns:a16="http://schemas.microsoft.com/office/drawing/2014/main" id="{EC528E95-60EA-42A3-B14F-0DC0932A6069}"/>
              </a:ext>
            </a:extLst>
          </p:cNvPr>
          <p:cNvSpPr>
            <a:spLocks noGrp="1"/>
          </p:cNvSpPr>
          <p:nvPr/>
        </p:nvSpPr>
        <p:spPr>
          <a:xfrm>
            <a:off x="15306675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8" name="result-title-dueling-dqn">
            <a:extLst>
              <a:ext uri="{FF2B5EF4-FFF2-40B4-BE49-F238E27FC236}">
                <a16:creationId xmlns:a16="http://schemas.microsoft.com/office/drawing/2014/main" id="{59DC663C-64C0-43BC-9009-41ECA65A1999}"/>
              </a:ext>
            </a:extLst>
          </p:cNvPr>
          <p:cNvSpPr>
            <a:spLocks noGrp="1"/>
          </p:cNvSpPr>
          <p:nvPr/>
        </p:nvSpPr>
        <p:spPr>
          <a:xfrm>
            <a:off x="15706725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Dueling DQN</a:t>
            </a:r>
          </a:p>
        </p:txBody>
      </p:sp>
      <p:sp>
        <p:nvSpPr>
          <p:cNvPr id="89" name="result-subtitle-dueling-dqn">
            <a:extLst>
              <a:ext uri="{FF2B5EF4-FFF2-40B4-BE49-F238E27FC236}">
                <a16:creationId xmlns:a16="http://schemas.microsoft.com/office/drawing/2014/main" id="{AC7BCCE6-9F71-4594-BD55-48B2CE8D6BF8}"/>
              </a:ext>
            </a:extLst>
          </p:cNvPr>
          <p:cNvSpPr>
            <a:spLocks noGrp="1"/>
          </p:cNvSpPr>
          <p:nvPr/>
        </p:nvSpPr>
        <p:spPr>
          <a:xfrm>
            <a:off x="15706725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>
                <a:solidFill>
                  <a:srgbClr val="E67E22"/>
                </a:solidFill>
              </a:rPr>
              <a:t>Temporary placeholder - DQN data</a:t>
            </a:r>
          </a:p>
        </p:txBody>
      </p:sp>
      <p:pic>
        <p:nvPicPr>
          <p:cNvPr id="159" name="Picture 15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7522442" y="25613971"/>
            <a:ext cx="7760465" cy="4076700"/>
          </a:xfrm>
          <a:prstGeom prst="rect">
            <a:avLst/>
          </a:prstGeom>
        </p:spPr>
      </p:pic>
      <p:sp>
        <p:nvSpPr>
          <p:cNvPr id="91" name="result-card-ppo">
            <a:extLst>
              <a:ext uri="{FF2B5EF4-FFF2-40B4-BE49-F238E27FC236}">
                <a16:creationId xmlns:a16="http://schemas.microsoft.com/office/drawing/2014/main" id="{57673F6F-E28F-4EE6-BC11-DC68E87C33A1}"/>
              </a:ext>
            </a:extLst>
          </p:cNvPr>
          <p:cNvSpPr>
            <a:spLocks noGrp="1"/>
          </p:cNvSpPr>
          <p:nvPr/>
        </p:nvSpPr>
        <p:spPr>
          <a:xfrm>
            <a:off x="2908935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2" name="result-title-ppo">
            <a:extLst>
              <a:ext uri="{FF2B5EF4-FFF2-40B4-BE49-F238E27FC236}">
                <a16:creationId xmlns:a16="http://schemas.microsoft.com/office/drawing/2014/main" id="{BF9D49F0-D5F5-468E-B382-5B3A3AEAED11}"/>
              </a:ext>
            </a:extLst>
          </p:cNvPr>
          <p:cNvSpPr>
            <a:spLocks noGrp="1"/>
          </p:cNvSpPr>
          <p:nvPr/>
        </p:nvSpPr>
        <p:spPr>
          <a:xfrm>
            <a:off x="2948940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PPO</a:t>
            </a:r>
          </a:p>
        </p:txBody>
      </p:sp>
      <p:sp>
        <p:nvSpPr>
          <p:cNvPr id="93" name="result-subtitle-ppo">
            <a:extLst>
              <a:ext uri="{FF2B5EF4-FFF2-40B4-BE49-F238E27FC236}">
                <a16:creationId xmlns:a16="http://schemas.microsoft.com/office/drawing/2014/main" id="{52013E00-3529-4392-B7E8-B164767E9221}"/>
              </a:ext>
            </a:extLst>
          </p:cNvPr>
          <p:cNvSpPr>
            <a:spLocks noGrp="1"/>
          </p:cNvSpPr>
          <p:nvPr/>
        </p:nvSpPr>
        <p:spPr>
          <a:xfrm>
            <a:off x="2948940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>
                <a:solidFill>
                  <a:srgbClr val="E67E22"/>
                </a:solidFill>
              </a:rPr>
              <a:t>Temporary placeholder - DQN data</a:t>
            </a:r>
          </a:p>
        </p:txBody>
      </p:sp>
      <p:pic>
        <p:nvPicPr>
          <p:cNvPr id="163" name="Picture 162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1305117" y="25613971"/>
            <a:ext cx="7760465" cy="4076700"/>
          </a:xfrm>
          <a:prstGeom prst="rect">
            <a:avLst/>
          </a:prstGeom>
        </p:spPr>
      </p:pic>
      <p:sp>
        <p:nvSpPr>
          <p:cNvPr id="102" name="middle-band-divider">
            <a:extLst>
              <a:ext uri="{FF2B5EF4-FFF2-40B4-BE49-F238E27FC236}">
                <a16:creationId xmlns:a16="http://schemas.microsoft.com/office/drawing/2014/main" id="{6A7FD259-3B58-4F45-A0B5-9CBF83CFCCD9}"/>
              </a:ext>
            </a:extLst>
          </p:cNvPr>
          <p:cNvSpPr>
            <a:spLocks noGrp="1"/>
          </p:cNvSpPr>
          <p:nvPr/>
        </p:nvSpPr>
        <p:spPr>
          <a:xfrm>
            <a:off x="20955000" y="18145125"/>
            <a:ext cx="0" cy="4238625"/>
          </a:xfrm>
          <a:prstGeom prst="line">
            <a:avLst/>
          </a:prstGeom>
          <a:ln w="19050">
            <a:solidFill>
              <a:srgbClr val="C9D8D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3" name="attention-novelty">
            <a:extLst>
              <a:ext uri="{FF2B5EF4-FFF2-40B4-BE49-F238E27FC236}">
                <a16:creationId xmlns:a16="http://schemas.microsoft.com/office/drawing/2014/main" id="{633905E1-9C10-49CD-96BA-3FA820E11FC6}"/>
              </a:ext>
            </a:extLst>
          </p:cNvPr>
          <p:cNvSpPr>
            <a:spLocks noGrp="1"/>
          </p:cNvSpPr>
          <p:nvPr/>
        </p:nvSpPr>
        <p:spPr>
          <a:xfrm>
            <a:off x="2095500" y="20574000"/>
            <a:ext cx="89535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550" b="1">
                <a:solidFill>
                  <a:srgbClr val="157E87"/>
                </a:solidFill>
              </a:defRPr>
            </a:pPr>
            <a:r>
              <a:rPr sz="2550" b="1" dirty="0">
                <a:solidFill>
                  <a:srgbClr val="157E87"/>
                </a:solidFill>
              </a:rPr>
              <a:t>Novelty: a legal move is a controlled graph perturbation, so one shared encoder scores the state and its candidate action together.</a:t>
            </a:r>
          </a:p>
        </p:txBody>
      </p:sp>
      <p:sp>
        <p:nvSpPr>
          <p:cNvPr id="104" name="evaluation-heading">
            <a:extLst>
              <a:ext uri="{FF2B5EF4-FFF2-40B4-BE49-F238E27FC236}">
                <a16:creationId xmlns:a16="http://schemas.microsoft.com/office/drawing/2014/main" id="{F26A0CBD-C049-4879-92AD-E84F959BBA73}"/>
              </a:ext>
            </a:extLst>
          </p:cNvPr>
          <p:cNvSpPr>
            <a:spLocks noGrp="1"/>
          </p:cNvSpPr>
          <p:nvPr/>
        </p:nvSpPr>
        <p:spPr>
          <a:xfrm>
            <a:off x="21907500" y="18040350"/>
            <a:ext cx="904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000" b="1">
                <a:solidFill>
                  <a:srgbClr val="142B40"/>
                </a:solidFill>
              </a:defRPr>
            </a:pPr>
            <a:r>
              <a:rPr sz="3000" b="1" dirty="0">
                <a:solidFill>
                  <a:srgbClr val="142B40"/>
                </a:solidFill>
              </a:rPr>
              <a:t>DQN_103 evaluated across 3–6 players</a:t>
            </a:r>
          </a:p>
        </p:txBody>
      </p:sp>
      <p:sp>
        <p:nvSpPr>
          <p:cNvPr id="105" name="evaluation-protocol">
            <a:extLst>
              <a:ext uri="{FF2B5EF4-FFF2-40B4-BE49-F238E27FC236}">
                <a16:creationId xmlns:a16="http://schemas.microsoft.com/office/drawing/2014/main" id="{863DAC7D-0B0E-4D1E-BA3B-42103DE3D8FD}"/>
              </a:ext>
            </a:extLst>
          </p:cNvPr>
          <p:cNvSpPr>
            <a:spLocks noGrp="1"/>
          </p:cNvSpPr>
          <p:nvPr/>
        </p:nvSpPr>
        <p:spPr>
          <a:xfrm>
            <a:off x="21907500" y="18669000"/>
            <a:ext cx="8096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25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25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25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106" name="evaluation-latest-result">
            <a:extLst>
              <a:ext uri="{FF2B5EF4-FFF2-40B4-BE49-F238E27FC236}">
                <a16:creationId xmlns:a16="http://schemas.microsoft.com/office/drawing/2014/main" id="{EF9BEEB4-D611-4D51-92F3-FF39A32D5BD2}"/>
              </a:ext>
            </a:extLst>
          </p:cNvPr>
          <p:cNvSpPr>
            <a:spLocks noGrp="1"/>
          </p:cNvSpPr>
          <p:nvPr/>
        </p:nvSpPr>
        <p:spPr>
          <a:xfrm>
            <a:off x="21907500" y="20097750"/>
            <a:ext cx="8096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325" b="1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325" b="1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107" name="evaluation-caveat">
            <a:extLst>
              <a:ext uri="{FF2B5EF4-FFF2-40B4-BE49-F238E27FC236}">
                <a16:creationId xmlns:a16="http://schemas.microsoft.com/office/drawing/2014/main" id="{F6490ACB-FC14-4E7A-BEA8-AC66087D2E74}"/>
              </a:ext>
            </a:extLst>
          </p:cNvPr>
          <p:cNvSpPr>
            <a:spLocks noGrp="1"/>
          </p:cNvSpPr>
          <p:nvPr/>
        </p:nvSpPr>
        <p:spPr>
          <a:xfrm>
            <a:off x="21907500" y="21278850"/>
            <a:ext cx="809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5B6B78"/>
                </a:solidFill>
              </a:defRPr>
            </a:pPr>
            <a:r>
              <a:rPr sz="1350" dirty="0">
                <a:solidFill>
                  <a:srgbClr val="5B6B78"/>
                </a:solidFill>
              </a:rPr>
              <a:t>Top 5 checkpoints; fixed checkpoint-selection suite.</a:t>
            </a:r>
          </a:p>
        </p:txBody>
      </p:sp>
      <p:sp>
        <p:nvSpPr>
          <p:cNvPr id="108" name="evaluation-chart-frame">
            <a:extLst>
              <a:ext uri="{FF2B5EF4-FFF2-40B4-BE49-F238E27FC236}">
                <a16:creationId xmlns:a16="http://schemas.microsoft.com/office/drawing/2014/main" id="{A8646FA7-C403-456F-A4A8-131E8D9EE762}"/>
              </a:ext>
            </a:extLst>
          </p:cNvPr>
          <p:cNvSpPr>
            <a:spLocks noGrp="1"/>
          </p:cNvSpPr>
          <p:nvPr/>
        </p:nvSpPr>
        <p:spPr>
          <a:xfrm>
            <a:off x="31242000" y="17954625"/>
            <a:ext cx="9239250" cy="4629150"/>
          </a:xfrm>
          <a:prstGeom prst="roundRect">
            <a:avLst>
              <a:gd name="adj" fmla="val 1646"/>
            </a:avLst>
          </a:prstGeom>
          <a:solidFill>
            <a:srgbClr val="F8FBFC"/>
          </a:solidFill>
          <a:ln w="9525">
            <a:solidFill>
              <a:srgbClr val="D7E2E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71" name="Picture 170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1928904" y="18021300"/>
            <a:ext cx="7865442" cy="4495800"/>
          </a:xfrm>
          <a:prstGeom prst="rect">
            <a:avLst/>
          </a:prstGeom>
        </p:spPr>
      </p:pic>
      <p:pic>
        <p:nvPicPr>
          <p:cNvPr id="20" name="Picture 111">
            <a:extLst>
              <a:ext uri="{FF2B5EF4-FFF2-40B4-BE49-F238E27FC236}">
                <a16:creationId xmlns:a16="http://schemas.microsoft.com/office/drawing/2014/main" id="{658B00CE-5901-0315-FEEB-8E85102EEE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129939" y="18002250"/>
            <a:ext cx="7884147" cy="4933950"/>
          </a:xfrm>
          <a:prstGeom prst="roundRect">
            <a:avLst>
              <a:gd name="adj" fmla="val 5143"/>
            </a:avLst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7BFF234-AF51-E46C-393D-FC65294F72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1777" y="685800"/>
            <a:ext cx="3444323" cy="344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94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531</Words>
  <Application>Microsoft Office PowerPoint</Application>
  <DocSecurity>0</DocSecurity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גלעד מרקמן</cp:lastModifiedBy>
  <cp:revision>6</cp:revision>
  <dcterms:created xsi:type="dcterms:W3CDTF">2026-08-12T20:41:23Z</dcterms:created>
  <dcterms:modified xsi:type="dcterms:W3CDTF">2026-08-12T20:59:23Z</dcterms:modified>
</cp:coreProperties>
</file>