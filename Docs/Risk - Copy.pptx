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3"/>
  </p:notesMasterIdLst>
  <p:sldIdLst>
    <p:sldId id="256" r:id="rId2"/>
  </p:sldIdLst>
  <p:sldSz cx="42805350" cy="30270450"/>
  <p:notesSz cx="6858000" cy="9144000"/>
  <p:defaultTextStyle>
    <a:defPPr>
      <a:defRPr lang="he-I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33" d="100"/>
          <a:sy n="33" d="100"/>
        </p:scale>
        <p:origin x="444" y="-10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Content and local visual assets adapted from Docs/Poster.md.</a:t>
            </a:r>
          </a:p>
          <a:p>
            <a:r>
              <a:t>Assets: Assets/RiskMap/image.png; Assets/RiskMap/map_graph_nodes_edges.png; Assets/RiskMap/partial_graph_attributes.png; Assets/RiskMap/network_phase_heads_v2.png; Assets/encoder_matrix_summary.png; Assets/DQN Win.png (current DQN data, intentionally duplicated in the Dueling DQN and PPO slots only as clearly labelled temporary layout placeholders).</a:t>
            </a:r>
          </a:p>
          <a:p>
            <a:endParaRPr/>
          </a:p>
          <a:p>
            <a:r>
              <a:t>[Sources]</a:t>
            </a:r>
          </a:p>
          <a:p>
            <a:endParaRPr/>
          </a:p>
          <a:p>
            <a:r>
              <a:t>DQN_103 checkpoint chart: Checkpoints/DQN_103/evaluations/top5_checkpoint_win_rates_all_player_counts.png.</a:t>
            </a:r>
          </a:p>
          <a:p>
            <a:endParaRPr/>
          </a:p>
          <a:p>
            <a:r>
              <a:t>Evaluation facts: Checkpoints/DQN_103/evaluations/checkpoint_eval_ep006200_to_006700.json (54 games/checkpoint, 3 seeds, every learner seat, epsilon 0, 2,000-step cap; ep006700 46/54 wins and zero timeouts).</a:t>
            </a:r>
          </a:p>
          <a:p>
            <a:endParaRPr/>
          </a:p>
          <a:p>
            <a:r>
              <a:t>Method claim: Docs/ActionGraphBuilder.md and Docs/GraphAttentionNetwork.md.</a:t>
            </a:r>
          </a:p>
          <a:p>
            <a:endParaRPr/>
          </a:p>
          <a:p>
            <a:r>
              <a:t>[Sources]</a:t>
            </a:r>
          </a:p>
          <a:p>
            <a:endParaRPr/>
          </a:p>
          <a:p>
            <a:r>
              <a:t>QR target: https://github.com/MarkmanGilad/RISK.</a:t>
            </a:r>
          </a:p>
          <a:p>
            <a:endParaRPr/>
          </a:p>
          <a:p>
            <a:r>
              <a:t>GitHub logo: Assets/GitHub_Lockup_White.png from GitHub official brand package https://brand.github.com/GitHub_Logos.zip.</a:t>
            </a:r>
          </a:p>
          <a:p>
            <a:endParaRPr/>
          </a:p>
          <a:p>
            <a:r>
              <a:t>[Sources]</a:t>
            </a:r>
          </a:p>
          <a:p>
            <a:endParaRPr/>
          </a:p>
          <a:p>
            <a:r>
              <a:t>Weizmann Institute of Science logo: user-provided file codex-clipboard-94f0a745-03d8-4df6-8fe6-056114cf70b0.png.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5" Type="http://schemas.openxmlformats.org/officeDocument/2006/relationships/image" Target="../media/image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5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math-panel">
            <a:extLst>
              <a:ext uri="{FF2B5EF4-FFF2-40B4-BE49-F238E27FC236}">
                <a16:creationId xmlns:a16="http://schemas.microsoft.com/office/drawing/2014/main" id="{C5062713-67A8-33A0-A869-B11CE15AB6C6}"/>
              </a:ext>
            </a:extLst>
          </p:cNvPr>
          <p:cNvSpPr>
            <a:spLocks noGrp="1"/>
          </p:cNvSpPr>
          <p:nvPr/>
        </p:nvSpPr>
        <p:spPr>
          <a:xfrm>
            <a:off x="21273939" y="17726024"/>
            <a:ext cx="20102660" cy="5420971"/>
          </a:xfrm>
          <a:prstGeom prst="roundRect">
            <a:avLst>
              <a:gd name="adj" fmla="val 4151"/>
            </a:avLst>
          </a:prstGeom>
          <a:solidFill>
            <a:srgbClr val="FFFFFF"/>
          </a:solidFill>
          <a:ln w="0">
            <a:solidFill>
              <a:srgbClr val="D8E1E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2" name="header">
            <a:extLst>
              <a:ext uri="{FF2B5EF4-FFF2-40B4-BE49-F238E27FC236}">
                <a16:creationId xmlns:a16="http://schemas.microsoft.com/office/drawing/2014/main" id="{18392ECE-BC05-4A30-A2F1-350F5C5720A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42805350" cy="4857750"/>
          </a:xfrm>
          <a:prstGeom prst="rect">
            <a:avLst/>
          </a:prstGeom>
          <a:solidFill>
            <a:srgbClr val="102A43"/>
          </a:solidFill>
          <a:ln w="0">
            <a:solidFill>
              <a:srgbClr val="102A4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" name="header-accent">
            <a:extLst>
              <a:ext uri="{FF2B5EF4-FFF2-40B4-BE49-F238E27FC236}">
                <a16:creationId xmlns:a16="http://schemas.microsoft.com/office/drawing/2014/main" id="{DB99EA98-A601-4193-B29C-C8059390258C}"/>
              </a:ext>
            </a:extLst>
          </p:cNvPr>
          <p:cNvSpPr>
            <a:spLocks noGrp="1"/>
          </p:cNvSpPr>
          <p:nvPr/>
        </p:nvSpPr>
        <p:spPr>
          <a:xfrm>
            <a:off x="0" y="4667250"/>
            <a:ext cx="42805350" cy="190500"/>
          </a:xfrm>
          <a:prstGeom prst="rect">
            <a:avLst/>
          </a:prstGeom>
          <a:solidFill>
            <a:srgbClr val="E8752A"/>
          </a:solidFill>
          <a:ln w="0">
            <a:solidFill>
              <a:srgbClr val="E8752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3DA1C5D9-A7EF-467E-911C-38531DF05BF7}"/>
              </a:ext>
            </a:extLst>
          </p:cNvPr>
          <p:cNvSpPr>
            <a:spLocks noGrp="1"/>
          </p:cNvSpPr>
          <p:nvPr/>
        </p:nvSpPr>
        <p:spPr>
          <a:xfrm>
            <a:off x="1524000" y="360705"/>
            <a:ext cx="17619406" cy="2428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8250" b="1">
                <a:solidFill>
                  <a:srgbClr val="FFFFFF"/>
                </a:solidFill>
              </a:defRPr>
            </a:pPr>
            <a:r>
              <a:rPr sz="8250" b="1" dirty="0">
                <a:solidFill>
                  <a:srgbClr val="FFFFFF"/>
                </a:solidFill>
              </a:rPr>
              <a:t>Learning to Play Risk with</a:t>
            </a:r>
          </a:p>
          <a:p>
            <a:pPr algn="l">
              <a:buNone/>
              <a:defRPr sz="8250" b="1">
                <a:solidFill>
                  <a:srgbClr val="FFFFFF"/>
                </a:solidFill>
              </a:defRPr>
            </a:pPr>
            <a:r>
              <a:rPr sz="8250" b="1" dirty="0">
                <a:solidFill>
                  <a:srgbClr val="FFFFFF"/>
                </a:solidFill>
              </a:rPr>
              <a:t>Action-Injected Graph Neural Networks</a:t>
            </a:r>
          </a:p>
        </p:txBody>
      </p:sp>
      <p:sp>
        <p:nvSpPr>
          <p:cNvPr id="4" name="subtitle">
            <a:extLst>
              <a:ext uri="{FF2B5EF4-FFF2-40B4-BE49-F238E27FC236}">
                <a16:creationId xmlns:a16="http://schemas.microsoft.com/office/drawing/2014/main" id="{DBEC982B-75D9-4203-AF53-6CDB053E1D0D}"/>
              </a:ext>
            </a:extLst>
          </p:cNvPr>
          <p:cNvSpPr>
            <a:spLocks noGrp="1"/>
          </p:cNvSpPr>
          <p:nvPr/>
        </p:nvSpPr>
        <p:spPr>
          <a:xfrm>
            <a:off x="1524000" y="2830170"/>
            <a:ext cx="22884848" cy="5035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3150" b="0">
                <a:solidFill>
                  <a:srgbClr val="C7D6E2"/>
                </a:solidFill>
              </a:defRPr>
            </a:pPr>
            <a:r>
              <a:rPr sz="3150" b="0" dirty="0">
                <a:solidFill>
                  <a:srgbClr val="C7D6E2"/>
                </a:solidFill>
              </a:rPr>
              <a:t>A graph-attention reinforcement-learning approach, compared across DQN, Dueling DQN, and PPO</a:t>
            </a:r>
          </a:p>
        </p:txBody>
      </p:sp>
      <p:sp>
        <p:nvSpPr>
          <p:cNvPr id="5" name="author">
            <a:extLst>
              <a:ext uri="{FF2B5EF4-FFF2-40B4-BE49-F238E27FC236}">
                <a16:creationId xmlns:a16="http://schemas.microsoft.com/office/drawing/2014/main" id="{1A629CBA-46CC-4E8F-85AE-E4B05D34F1DD}"/>
              </a:ext>
            </a:extLst>
          </p:cNvPr>
          <p:cNvSpPr>
            <a:spLocks noGrp="1"/>
          </p:cNvSpPr>
          <p:nvPr/>
        </p:nvSpPr>
        <p:spPr>
          <a:xfrm>
            <a:off x="1522947" y="3952875"/>
            <a:ext cx="16144875" cy="40833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2325" b="0">
                <a:solidFill>
                  <a:srgbClr val="9EC5D0"/>
                </a:solidFill>
              </a:defRPr>
            </a:pPr>
            <a:r>
              <a:rPr sz="2325" b="0" dirty="0">
                <a:solidFill>
                  <a:srgbClr val="9EC5D0"/>
                </a:solidFill>
              </a:rPr>
              <a:t>Practical Deep Learning for Science  •  </a:t>
            </a:r>
            <a:r>
              <a:rPr sz="2325" b="1" dirty="0">
                <a:solidFill>
                  <a:srgbClr val="9EC5D0"/>
                </a:solidFill>
              </a:rPr>
              <a:t>Prof. Eilam Gross</a:t>
            </a:r>
            <a:endParaRPr sz="2325" b="0" dirty="0">
              <a:solidFill>
                <a:srgbClr val="9EC5D0"/>
              </a:solidFill>
            </a:endParaRPr>
          </a:p>
        </p:txBody>
      </p:sp>
      <p:sp>
        <p:nvSpPr>
          <p:cNvPr id="7" name="claim">
            <a:extLst>
              <a:ext uri="{FF2B5EF4-FFF2-40B4-BE49-F238E27FC236}">
                <a16:creationId xmlns:a16="http://schemas.microsoft.com/office/drawing/2014/main" id="{FC781605-6676-4548-A245-310F531E5AF5}"/>
              </a:ext>
            </a:extLst>
          </p:cNvPr>
          <p:cNvSpPr>
            <a:spLocks noGrp="1"/>
          </p:cNvSpPr>
          <p:nvPr/>
        </p:nvSpPr>
        <p:spPr>
          <a:xfrm>
            <a:off x="1524000" y="5334000"/>
            <a:ext cx="39757350" cy="1562100"/>
          </a:xfrm>
          <a:prstGeom prst="roundRect">
            <a:avLst>
              <a:gd name="adj" fmla="val 12195"/>
            </a:avLst>
          </a:prstGeom>
          <a:solidFill>
            <a:srgbClr val="DDF3F2"/>
          </a:solidFill>
          <a:ln w="0">
            <a:solidFill>
              <a:srgbClr val="DDF3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claim-text">
            <a:extLst>
              <a:ext uri="{FF2B5EF4-FFF2-40B4-BE49-F238E27FC236}">
                <a16:creationId xmlns:a16="http://schemas.microsoft.com/office/drawing/2014/main" id="{8AE3B966-105B-48EC-B80D-D416C24E6BE9}"/>
              </a:ext>
            </a:extLst>
          </p:cNvPr>
          <p:cNvSpPr>
            <a:spLocks noGrp="1"/>
          </p:cNvSpPr>
          <p:nvPr/>
        </p:nvSpPr>
        <p:spPr>
          <a:xfrm>
            <a:off x="2143125" y="5667375"/>
            <a:ext cx="38385750" cy="933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3525" b="1">
                <a:solidFill>
                  <a:srgbClr val="102A43"/>
                </a:solidFill>
              </a:defRPr>
            </a:pPr>
            <a:r>
              <a:rPr sz="3525" b="1">
                <a:solidFill>
                  <a:srgbClr val="102A43"/>
                </a:solidFill>
              </a:rPr>
              <a:t>Instead of scoring one enormous fixed move list, the system injects each legal Risk move into the board graph and scores that state–action graph with one shared graph-attention encoder.</a:t>
            </a:r>
          </a:p>
        </p:txBody>
      </p:sp>
      <p:sp>
        <p:nvSpPr>
          <p:cNvPr id="9" name="panel-1">
            <a:extLst>
              <a:ext uri="{FF2B5EF4-FFF2-40B4-BE49-F238E27FC236}">
                <a16:creationId xmlns:a16="http://schemas.microsoft.com/office/drawing/2014/main" id="{427036A3-B448-4953-BC8C-5AFCA51A67AC}"/>
              </a:ext>
            </a:extLst>
          </p:cNvPr>
          <p:cNvSpPr>
            <a:spLocks noGrp="1"/>
          </p:cNvSpPr>
          <p:nvPr/>
        </p:nvSpPr>
        <p:spPr>
          <a:xfrm>
            <a:off x="1524000" y="7334250"/>
            <a:ext cx="9525000" cy="9953625"/>
          </a:xfrm>
          <a:prstGeom prst="roundRect">
            <a:avLst>
              <a:gd name="adj" fmla="val 2105"/>
            </a:avLst>
          </a:prstGeom>
          <a:solidFill>
            <a:srgbClr val="FFFFFF"/>
          </a:solidFill>
          <a:ln w="0">
            <a:solidFill>
              <a:srgbClr val="D8E1E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panel-2">
            <a:extLst>
              <a:ext uri="{FF2B5EF4-FFF2-40B4-BE49-F238E27FC236}">
                <a16:creationId xmlns:a16="http://schemas.microsoft.com/office/drawing/2014/main" id="{8F320233-D426-42B3-8B9E-C3F19171157D}"/>
              </a:ext>
            </a:extLst>
          </p:cNvPr>
          <p:cNvSpPr>
            <a:spLocks noGrp="1"/>
          </p:cNvSpPr>
          <p:nvPr/>
        </p:nvSpPr>
        <p:spPr>
          <a:xfrm>
            <a:off x="11715750" y="7334250"/>
            <a:ext cx="14287500" cy="9953625"/>
          </a:xfrm>
          <a:prstGeom prst="roundRect">
            <a:avLst>
              <a:gd name="adj" fmla="val 2105"/>
            </a:avLst>
          </a:prstGeom>
          <a:solidFill>
            <a:srgbClr val="FFFFFF"/>
          </a:solidFill>
          <a:ln w="0">
            <a:solidFill>
              <a:srgbClr val="D8E1E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panel-3">
            <a:extLst>
              <a:ext uri="{FF2B5EF4-FFF2-40B4-BE49-F238E27FC236}">
                <a16:creationId xmlns:a16="http://schemas.microsoft.com/office/drawing/2014/main" id="{74C5E218-7CF1-4321-A510-CA1D04E06CBD}"/>
              </a:ext>
            </a:extLst>
          </p:cNvPr>
          <p:cNvSpPr>
            <a:spLocks noGrp="1"/>
          </p:cNvSpPr>
          <p:nvPr/>
        </p:nvSpPr>
        <p:spPr>
          <a:xfrm>
            <a:off x="26670000" y="7334250"/>
            <a:ext cx="14611350" cy="9953625"/>
          </a:xfrm>
          <a:prstGeom prst="roundRect">
            <a:avLst>
              <a:gd name="adj" fmla="val 2105"/>
            </a:avLst>
          </a:prstGeom>
          <a:solidFill>
            <a:srgbClr val="FFFFFF"/>
          </a:solidFill>
          <a:ln w="0">
            <a:solidFill>
              <a:srgbClr val="D8E1E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problem-title">
            <a:extLst>
              <a:ext uri="{FF2B5EF4-FFF2-40B4-BE49-F238E27FC236}">
                <a16:creationId xmlns:a16="http://schemas.microsoft.com/office/drawing/2014/main" id="{E4A3E5BF-20DF-45F7-99D7-EA75EDE35B4B}"/>
              </a:ext>
            </a:extLst>
          </p:cNvPr>
          <p:cNvSpPr>
            <a:spLocks noGrp="1"/>
          </p:cNvSpPr>
          <p:nvPr/>
        </p:nvSpPr>
        <p:spPr>
          <a:xfrm>
            <a:off x="2047875" y="7734300"/>
            <a:ext cx="8477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3225" b="1">
                <a:solidFill>
                  <a:srgbClr val="102A43"/>
                </a:solidFill>
              </a:defRPr>
            </a:pPr>
            <a:r>
              <a:rPr sz="3225" b="1">
                <a:solidFill>
                  <a:srgbClr val="102A43"/>
                </a:solidFill>
              </a:rPr>
              <a:t>1  Board as a graph</a:t>
            </a:r>
          </a:p>
        </p:txBody>
      </p:sp>
      <p:sp>
        <p:nvSpPr>
          <p:cNvPr id="13" name="problem-copy">
            <a:extLst>
              <a:ext uri="{FF2B5EF4-FFF2-40B4-BE49-F238E27FC236}">
                <a16:creationId xmlns:a16="http://schemas.microsoft.com/office/drawing/2014/main" id="{4ED55B3A-E48C-4A88-BDCE-2F08CB9811B1}"/>
              </a:ext>
            </a:extLst>
          </p:cNvPr>
          <p:cNvSpPr>
            <a:spLocks noGrp="1"/>
          </p:cNvSpPr>
          <p:nvPr/>
        </p:nvSpPr>
        <p:spPr>
          <a:xfrm>
            <a:off x="2047875" y="8458200"/>
            <a:ext cx="8477250" cy="952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2475" b="0">
                <a:solidFill>
                  <a:srgbClr val="5E6C76"/>
                </a:solidFill>
              </a:defRPr>
            </a:pPr>
            <a:r>
              <a:rPr sz="2475" b="0" dirty="0">
                <a:solidFill>
                  <a:srgbClr val="5E6C76"/>
                </a:solidFill>
              </a:rPr>
              <a:t>Risk's territories and borders are relational: move quality depends on </a:t>
            </a:r>
            <a:r>
              <a:rPr sz="2475" b="0" dirty="0" err="1">
                <a:solidFill>
                  <a:srgbClr val="5E6C76"/>
                </a:solidFill>
              </a:rPr>
              <a:t>neighbours</a:t>
            </a:r>
            <a:r>
              <a:rPr sz="2475" b="0" dirty="0">
                <a:solidFill>
                  <a:srgbClr val="5E6C76"/>
                </a:solidFill>
              </a:rPr>
              <a:t>, armies, and contested continents.</a:t>
            </a:r>
          </a:p>
        </p:txBody>
      </p:sp>
      <p:pic>
        <p:nvPicPr>
          <p:cNvPr id="146" name="Picture 89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2143125" y="9648825"/>
            <a:ext cx="8382000" cy="5541434"/>
          </a:xfrm>
          <a:prstGeom prst="roundRect">
            <a:avLst>
              <a:gd name="adj" fmla="val 3158"/>
            </a:avLst>
          </a:prstGeom>
        </p:spPr>
      </p:pic>
      <p:sp>
        <p:nvSpPr>
          <p:cNvPr id="15" name="graph-label">
            <a:extLst>
              <a:ext uri="{FF2B5EF4-FFF2-40B4-BE49-F238E27FC236}">
                <a16:creationId xmlns:a16="http://schemas.microsoft.com/office/drawing/2014/main" id="{31424903-70C4-478B-9E69-B9C7B01D4B2C}"/>
              </a:ext>
            </a:extLst>
          </p:cNvPr>
          <p:cNvSpPr>
            <a:spLocks noGrp="1"/>
          </p:cNvSpPr>
          <p:nvPr/>
        </p:nvSpPr>
        <p:spPr>
          <a:xfrm>
            <a:off x="2047875" y="15727931"/>
            <a:ext cx="84772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2325" b="1">
                <a:solidFill>
                  <a:srgbClr val="0C7C86"/>
                </a:solidFill>
              </a:defRPr>
            </a:pPr>
            <a:r>
              <a:rPr sz="2325" b="1" dirty="0">
                <a:solidFill>
                  <a:srgbClr val="0C7C86"/>
                </a:solidFill>
              </a:rPr>
              <a:t>42 territory nodes  |  83 borders  |  166 directed edges</a:t>
            </a:r>
          </a:p>
        </p:txBody>
      </p:sp>
      <p:sp>
        <p:nvSpPr>
          <p:cNvPr id="16" name="graph-dims">
            <a:extLst>
              <a:ext uri="{FF2B5EF4-FFF2-40B4-BE49-F238E27FC236}">
                <a16:creationId xmlns:a16="http://schemas.microsoft.com/office/drawing/2014/main" id="{984942EC-C9B7-4FB0-810D-D1A6119101AC}"/>
              </a:ext>
            </a:extLst>
          </p:cNvPr>
          <p:cNvSpPr>
            <a:spLocks noGrp="1"/>
          </p:cNvSpPr>
          <p:nvPr/>
        </p:nvSpPr>
        <p:spPr>
          <a:xfrm>
            <a:off x="2047875" y="16394681"/>
            <a:ext cx="847725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2250" b="1">
                <a:solidFill>
                  <a:srgbClr val="102A43"/>
                </a:solidFill>
              </a:defRPr>
            </a:pPr>
            <a:r>
              <a:rPr sz="2250" b="1" dirty="0">
                <a:solidFill>
                  <a:srgbClr val="102A43"/>
                </a:solidFill>
              </a:rPr>
              <a:t>X [42 x 15]     E [166 x 2]     u [1 x 35]</a:t>
            </a:r>
          </a:p>
        </p:txBody>
      </p:sp>
      <p:sp>
        <p:nvSpPr>
          <p:cNvPr id="17" name="injection-title">
            <a:extLst>
              <a:ext uri="{FF2B5EF4-FFF2-40B4-BE49-F238E27FC236}">
                <a16:creationId xmlns:a16="http://schemas.microsoft.com/office/drawing/2014/main" id="{CCCAF54D-787A-4857-BA70-D15E833E6F30}"/>
              </a:ext>
            </a:extLst>
          </p:cNvPr>
          <p:cNvSpPr>
            <a:spLocks noGrp="1"/>
          </p:cNvSpPr>
          <p:nvPr/>
        </p:nvSpPr>
        <p:spPr>
          <a:xfrm>
            <a:off x="12239625" y="7734300"/>
            <a:ext cx="132397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3225" b="1">
                <a:solidFill>
                  <a:srgbClr val="102A43"/>
                </a:solidFill>
              </a:defRPr>
            </a:pPr>
            <a:r>
              <a:rPr sz="3225" b="1">
                <a:solidFill>
                  <a:srgbClr val="102A43"/>
                </a:solidFill>
              </a:rPr>
              <a:t>2  Inject each legal candidate action</a:t>
            </a:r>
          </a:p>
        </p:txBody>
      </p:sp>
      <p:sp>
        <p:nvSpPr>
          <p:cNvPr id="18" name="injection-copy">
            <a:extLst>
              <a:ext uri="{FF2B5EF4-FFF2-40B4-BE49-F238E27FC236}">
                <a16:creationId xmlns:a16="http://schemas.microsoft.com/office/drawing/2014/main" id="{72921CD4-71B7-4495-B242-983CAB8B9414}"/>
              </a:ext>
            </a:extLst>
          </p:cNvPr>
          <p:cNvSpPr>
            <a:spLocks noGrp="1"/>
          </p:cNvSpPr>
          <p:nvPr/>
        </p:nvSpPr>
        <p:spPr>
          <a:xfrm>
            <a:off x="12239625" y="8458200"/>
            <a:ext cx="13239750" cy="904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2475" b="0">
                <a:solidFill>
                  <a:srgbClr val="5E6C76"/>
                </a:solidFill>
              </a:defRPr>
            </a:pPr>
            <a:r>
              <a:rPr sz="2475" b="0">
                <a:solidFill>
                  <a:srgbClr val="5E6C76"/>
                </a:solidFill>
              </a:rPr>
              <a:t>The action becomes part of the graph: an attack changes one border; other phases mark affected territory rows.</a:t>
            </a:r>
          </a:p>
        </p:txBody>
      </p:sp>
      <p:pic>
        <p:nvPicPr>
          <p:cNvPr id="151" name="Picture 94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13563600" y="9620250"/>
            <a:ext cx="10591800" cy="6953250"/>
          </a:xfrm>
          <a:prstGeom prst="roundRect">
            <a:avLst>
              <a:gd name="adj" fmla="val 3186"/>
            </a:avLst>
          </a:prstGeom>
        </p:spPr>
      </p:pic>
      <p:sp>
        <p:nvSpPr>
          <p:cNvPr id="23" name="encoder-title">
            <a:extLst>
              <a:ext uri="{FF2B5EF4-FFF2-40B4-BE49-F238E27FC236}">
                <a16:creationId xmlns:a16="http://schemas.microsoft.com/office/drawing/2014/main" id="{79B4DD3D-FDCC-451A-A34B-0083880088FB}"/>
              </a:ext>
            </a:extLst>
          </p:cNvPr>
          <p:cNvSpPr>
            <a:spLocks noGrp="1"/>
          </p:cNvSpPr>
          <p:nvPr/>
        </p:nvSpPr>
        <p:spPr>
          <a:xfrm>
            <a:off x="27193875" y="7734300"/>
            <a:ext cx="13573125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3225" b="1">
                <a:solidFill>
                  <a:srgbClr val="102A43"/>
                </a:solidFill>
              </a:defRPr>
            </a:pPr>
            <a:r>
              <a:rPr sz="3225" b="1">
                <a:solidFill>
                  <a:srgbClr val="102A43"/>
                </a:solidFill>
              </a:rPr>
              <a:t>3  Shared GATN encoder + phase heads</a:t>
            </a:r>
          </a:p>
        </p:txBody>
      </p:sp>
      <p:sp>
        <p:nvSpPr>
          <p:cNvPr id="24" name="encoder-copy">
            <a:extLst>
              <a:ext uri="{FF2B5EF4-FFF2-40B4-BE49-F238E27FC236}">
                <a16:creationId xmlns:a16="http://schemas.microsoft.com/office/drawing/2014/main" id="{34DE2DAF-F125-4785-B516-3B680970084E}"/>
              </a:ext>
            </a:extLst>
          </p:cNvPr>
          <p:cNvSpPr>
            <a:spLocks noGrp="1"/>
          </p:cNvSpPr>
          <p:nvPr/>
        </p:nvSpPr>
        <p:spPr>
          <a:xfrm>
            <a:off x="27193875" y="8458200"/>
            <a:ext cx="13573125" cy="904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2475" b="0">
                <a:solidFill>
                  <a:srgbClr val="5E6C76"/>
                </a:solidFill>
              </a:defRPr>
            </a:pPr>
            <a:r>
              <a:rPr sz="2475" b="0">
                <a:solidFill>
                  <a:srgbClr val="5E6C76"/>
                </a:solidFill>
              </a:rPr>
              <a:t>Four TransformerConv layers read the injected graph; the current Risk phase selects its small scoring head.</a:t>
            </a:r>
          </a:p>
        </p:txBody>
      </p:sp>
      <p:pic>
        <p:nvPicPr>
          <p:cNvPr id="154" name="Picture 100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27670125" y="9620250"/>
            <a:ext cx="12611100" cy="7219950"/>
          </a:xfrm>
          <a:prstGeom prst="roundRect">
            <a:avLst>
              <a:gd name="adj" fmla="val 3186"/>
            </a:avLst>
          </a:prstGeom>
        </p:spPr>
      </p:pic>
      <p:sp>
        <p:nvSpPr>
          <p:cNvPr id="33" name="math-panel">
            <a:extLst>
              <a:ext uri="{FF2B5EF4-FFF2-40B4-BE49-F238E27FC236}">
                <a16:creationId xmlns:a16="http://schemas.microsoft.com/office/drawing/2014/main" id="{13CF350F-FBF5-4C7E-97D9-3BCF8C329FF6}"/>
              </a:ext>
            </a:extLst>
          </p:cNvPr>
          <p:cNvSpPr>
            <a:spLocks noGrp="1"/>
          </p:cNvSpPr>
          <p:nvPr/>
        </p:nvSpPr>
        <p:spPr>
          <a:xfrm>
            <a:off x="1428751" y="17735549"/>
            <a:ext cx="19430998" cy="5420971"/>
          </a:xfrm>
          <a:prstGeom prst="roundRect">
            <a:avLst>
              <a:gd name="adj" fmla="val 4151"/>
            </a:avLst>
          </a:prstGeom>
          <a:solidFill>
            <a:srgbClr val="FFFFFF"/>
          </a:solidFill>
          <a:ln w="0">
            <a:solidFill>
              <a:srgbClr val="D8E1E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4" name="math-title">
            <a:extLst>
              <a:ext uri="{FF2B5EF4-FFF2-40B4-BE49-F238E27FC236}">
                <a16:creationId xmlns:a16="http://schemas.microsoft.com/office/drawing/2014/main" id="{11EAAD89-D915-4F50-9800-DA85D550EAEF}"/>
              </a:ext>
            </a:extLst>
          </p:cNvPr>
          <p:cNvSpPr>
            <a:spLocks noGrp="1"/>
          </p:cNvSpPr>
          <p:nvPr/>
        </p:nvSpPr>
        <p:spPr>
          <a:xfrm>
            <a:off x="2095500" y="18145125"/>
            <a:ext cx="9188776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3075" b="1">
                <a:solidFill>
                  <a:srgbClr val="102A43"/>
                </a:solidFill>
              </a:defRPr>
            </a:pPr>
            <a:r>
              <a:rPr sz="3200" b="1" dirty="0">
                <a:solidFill>
                  <a:srgbClr val="102A43"/>
                </a:solidFill>
              </a:rPr>
              <a:t>How action injection changes sparse attention</a:t>
            </a:r>
          </a:p>
        </p:txBody>
      </p:sp>
      <p:sp>
        <p:nvSpPr>
          <p:cNvPr id="35" name="math-copy">
            <a:extLst>
              <a:ext uri="{FF2B5EF4-FFF2-40B4-BE49-F238E27FC236}">
                <a16:creationId xmlns:a16="http://schemas.microsoft.com/office/drawing/2014/main" id="{B89FBAD3-D610-4461-A645-277C32D1596C}"/>
              </a:ext>
            </a:extLst>
          </p:cNvPr>
          <p:cNvSpPr>
            <a:spLocks noGrp="1"/>
          </p:cNvSpPr>
          <p:nvPr/>
        </p:nvSpPr>
        <p:spPr>
          <a:xfrm>
            <a:off x="2143125" y="19338823"/>
            <a:ext cx="8953500" cy="1428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2325" b="0">
                <a:solidFill>
                  <a:srgbClr val="5E6C76"/>
                </a:solidFill>
              </a:defRPr>
            </a:pPr>
            <a:r>
              <a:rPr sz="2800" b="0" dirty="0">
                <a:solidFill>
                  <a:srgbClr val="5E6C76"/>
                </a:solidFill>
              </a:rPr>
              <a:t>Only the 166 directed Risk borders receive attention. An attack changes one selected edge row; reinforce, occupy, and fortify change affected node rows.</a:t>
            </a:r>
          </a:p>
        </p:txBody>
      </p:sp>
      <p:sp>
        <p:nvSpPr>
          <p:cNvPr id="37" name="math-footer">
            <a:extLst>
              <a:ext uri="{FF2B5EF4-FFF2-40B4-BE49-F238E27FC236}">
                <a16:creationId xmlns:a16="http://schemas.microsoft.com/office/drawing/2014/main" id="{6008C5A5-555A-4F08-876B-9CDD6C4B88C2}"/>
              </a:ext>
            </a:extLst>
          </p:cNvPr>
          <p:cNvSpPr>
            <a:spLocks noGrp="1"/>
          </p:cNvSpPr>
          <p:nvPr/>
        </p:nvSpPr>
        <p:spPr>
          <a:xfrm>
            <a:off x="2095500" y="23632771"/>
            <a:ext cx="176212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2100" b="1">
                <a:solidFill>
                  <a:srgbClr val="E8752A"/>
                </a:solidFill>
              </a:defRPr>
            </a:pPr>
            <a:r>
              <a:rPr sz="2100" b="1">
                <a:solidFill>
                  <a:srgbClr val="E8752A"/>
                </a:solidFill>
              </a:rPr>
              <a:t>E [166 x 2] -&gt; E_projected -&gt; K_edge / V_edge -&gt; segment softmax</a:t>
            </a:r>
          </a:p>
        </p:txBody>
      </p:sp>
      <p:sp>
        <p:nvSpPr>
          <p:cNvPr id="38" name="results-bg">
            <a:extLst>
              <a:ext uri="{FF2B5EF4-FFF2-40B4-BE49-F238E27FC236}">
                <a16:creationId xmlns:a16="http://schemas.microsoft.com/office/drawing/2014/main" id="{B283BC1F-15F7-4669-A7D9-1521AEE8E011}"/>
              </a:ext>
            </a:extLst>
          </p:cNvPr>
          <p:cNvSpPr>
            <a:spLocks noGrp="1"/>
          </p:cNvSpPr>
          <p:nvPr/>
        </p:nvSpPr>
        <p:spPr>
          <a:xfrm>
            <a:off x="0" y="23442271"/>
            <a:ext cx="42805350" cy="6762750"/>
          </a:xfrm>
          <a:prstGeom prst="rect">
            <a:avLst/>
          </a:prstGeom>
          <a:solidFill>
            <a:srgbClr val="102A43"/>
          </a:solidFill>
          <a:ln w="0">
            <a:solidFill>
              <a:srgbClr val="102A43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9" name="results-title">
            <a:extLst>
              <a:ext uri="{FF2B5EF4-FFF2-40B4-BE49-F238E27FC236}">
                <a16:creationId xmlns:a16="http://schemas.microsoft.com/office/drawing/2014/main" id="{F0545D8A-70C7-4FDD-9A4D-2711C0ADAF2B}"/>
              </a:ext>
            </a:extLst>
          </p:cNvPr>
          <p:cNvSpPr>
            <a:spLocks noGrp="1"/>
          </p:cNvSpPr>
          <p:nvPr/>
        </p:nvSpPr>
        <p:spPr>
          <a:xfrm>
            <a:off x="1524000" y="23728020"/>
            <a:ext cx="7649497" cy="7334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3450" b="1">
                <a:solidFill>
                  <a:srgbClr val="FFFFFF"/>
                </a:solidFill>
              </a:defRPr>
            </a:pPr>
            <a:r>
              <a:rPr sz="3450" b="1" dirty="0">
                <a:solidFill>
                  <a:srgbClr val="FFFFFF"/>
                </a:solidFill>
              </a:rPr>
              <a:t>Results: matched learner comparison</a:t>
            </a:r>
          </a:p>
        </p:txBody>
      </p:sp>
      <p:sp>
        <p:nvSpPr>
          <p:cNvPr id="40" name="results-subtitle">
            <a:extLst>
              <a:ext uri="{FF2B5EF4-FFF2-40B4-BE49-F238E27FC236}">
                <a16:creationId xmlns:a16="http://schemas.microsoft.com/office/drawing/2014/main" id="{9D364777-310B-4457-B161-8036260B7BDD}"/>
              </a:ext>
            </a:extLst>
          </p:cNvPr>
          <p:cNvSpPr>
            <a:spLocks noGrp="1"/>
          </p:cNvSpPr>
          <p:nvPr/>
        </p:nvSpPr>
        <p:spPr>
          <a:xfrm>
            <a:off x="9595055" y="23796544"/>
            <a:ext cx="18192750" cy="57243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buNone/>
              <a:defRPr sz="2100" b="0">
                <a:solidFill>
                  <a:srgbClr val="C7D6E2"/>
                </a:solidFill>
              </a:defRPr>
            </a:pPr>
            <a:r>
              <a:rPr sz="2800" b="0" dirty="0">
                <a:solidFill>
                  <a:srgbClr val="C7D6E2"/>
                </a:solidFill>
              </a:rPr>
              <a:t>DQN shows the current training curve; Dueling DQN and PPO remain clearly labelled layout placeholders.</a:t>
            </a:r>
          </a:p>
        </p:txBody>
      </p:sp>
      <p:sp>
        <p:nvSpPr>
          <p:cNvPr id="83" name="result-card-dqn">
            <a:extLst>
              <a:ext uri="{FF2B5EF4-FFF2-40B4-BE49-F238E27FC236}">
                <a16:creationId xmlns:a16="http://schemas.microsoft.com/office/drawing/2014/main" id="{B1AB4D29-521C-4C1D-87F0-04C11C2027F7}"/>
              </a:ext>
            </a:extLst>
          </p:cNvPr>
          <p:cNvSpPr>
            <a:spLocks noGrp="1"/>
          </p:cNvSpPr>
          <p:nvPr/>
        </p:nvSpPr>
        <p:spPr>
          <a:xfrm>
            <a:off x="1524000" y="24699571"/>
            <a:ext cx="12192000" cy="5219700"/>
          </a:xfrm>
          <a:prstGeom prst="roundRect">
            <a:avLst>
              <a:gd name="adj" fmla="val 2190"/>
            </a:avLst>
          </a:prstGeom>
          <a:solidFill>
            <a:srgbClr val="FFFFFF"/>
          </a:solidFill>
          <a:ln w="19050">
            <a:solidFill>
              <a:srgbClr val="D8E3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4" name="result-title-dqn">
            <a:extLst>
              <a:ext uri="{FF2B5EF4-FFF2-40B4-BE49-F238E27FC236}">
                <a16:creationId xmlns:a16="http://schemas.microsoft.com/office/drawing/2014/main" id="{B293A5A7-2534-48C8-83B8-4363D4A43090}"/>
              </a:ext>
            </a:extLst>
          </p:cNvPr>
          <p:cNvSpPr>
            <a:spLocks noGrp="1"/>
          </p:cNvSpPr>
          <p:nvPr/>
        </p:nvSpPr>
        <p:spPr>
          <a:xfrm>
            <a:off x="1924050" y="24909121"/>
            <a:ext cx="11391900" cy="4095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2850" b="1">
                <a:solidFill>
                  <a:srgbClr val="153653"/>
                </a:solidFill>
              </a:defRPr>
            </a:pPr>
            <a:r>
              <a:rPr sz="2850" b="1">
                <a:solidFill>
                  <a:srgbClr val="153653"/>
                </a:solidFill>
              </a:rPr>
              <a:t>DQN</a:t>
            </a:r>
          </a:p>
        </p:txBody>
      </p:sp>
      <p:sp>
        <p:nvSpPr>
          <p:cNvPr id="85" name="result-subtitle-dqn">
            <a:extLst>
              <a:ext uri="{FF2B5EF4-FFF2-40B4-BE49-F238E27FC236}">
                <a16:creationId xmlns:a16="http://schemas.microsoft.com/office/drawing/2014/main" id="{2FE889F1-60A0-44E7-B32A-F986DB5ABF7E}"/>
              </a:ext>
            </a:extLst>
          </p:cNvPr>
          <p:cNvSpPr>
            <a:spLocks noGrp="1"/>
          </p:cNvSpPr>
          <p:nvPr/>
        </p:nvSpPr>
        <p:spPr>
          <a:xfrm>
            <a:off x="1924050" y="25290121"/>
            <a:ext cx="113919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800">
                <a:solidFill>
                  <a:srgbClr val="15999B"/>
                </a:solidFill>
              </a:defRPr>
            </a:pPr>
            <a:r>
              <a:rPr sz="1800">
                <a:solidFill>
                  <a:srgbClr val="15999B"/>
                </a:solidFill>
              </a:rPr>
              <a:t>Current DQN data</a:t>
            </a:r>
          </a:p>
        </p:txBody>
      </p:sp>
      <p:pic>
        <p:nvPicPr>
          <p:cNvPr id="165" name="Picture 154"/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3739767" y="25613971"/>
            <a:ext cx="7760465" cy="4076700"/>
          </a:xfrm>
          <a:prstGeom prst="rect">
            <a:avLst/>
          </a:prstGeom>
        </p:spPr>
      </p:pic>
      <p:sp>
        <p:nvSpPr>
          <p:cNvPr id="87" name="result-card-dueling-dqn">
            <a:extLst>
              <a:ext uri="{FF2B5EF4-FFF2-40B4-BE49-F238E27FC236}">
                <a16:creationId xmlns:a16="http://schemas.microsoft.com/office/drawing/2014/main" id="{EC528E95-60EA-42A3-B14F-0DC0932A6069}"/>
              </a:ext>
            </a:extLst>
          </p:cNvPr>
          <p:cNvSpPr>
            <a:spLocks noGrp="1"/>
          </p:cNvSpPr>
          <p:nvPr/>
        </p:nvSpPr>
        <p:spPr>
          <a:xfrm>
            <a:off x="15306675" y="24699571"/>
            <a:ext cx="12192000" cy="5219700"/>
          </a:xfrm>
          <a:prstGeom prst="roundRect">
            <a:avLst>
              <a:gd name="adj" fmla="val 2190"/>
            </a:avLst>
          </a:prstGeom>
          <a:solidFill>
            <a:srgbClr val="FFFFFF"/>
          </a:solidFill>
          <a:ln w="19050">
            <a:solidFill>
              <a:srgbClr val="D8E3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8" name="result-title-dueling-dqn">
            <a:extLst>
              <a:ext uri="{FF2B5EF4-FFF2-40B4-BE49-F238E27FC236}">
                <a16:creationId xmlns:a16="http://schemas.microsoft.com/office/drawing/2014/main" id="{59DC663C-64C0-43BC-9009-41ECA65A1999}"/>
              </a:ext>
            </a:extLst>
          </p:cNvPr>
          <p:cNvSpPr>
            <a:spLocks noGrp="1"/>
          </p:cNvSpPr>
          <p:nvPr/>
        </p:nvSpPr>
        <p:spPr>
          <a:xfrm>
            <a:off x="15706725" y="24909121"/>
            <a:ext cx="11391900" cy="4095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2850" b="1">
                <a:solidFill>
                  <a:srgbClr val="153653"/>
                </a:solidFill>
              </a:defRPr>
            </a:pPr>
            <a:r>
              <a:rPr sz="2850" b="1">
                <a:solidFill>
                  <a:srgbClr val="153653"/>
                </a:solidFill>
              </a:rPr>
              <a:t>Dueling DQN</a:t>
            </a:r>
          </a:p>
        </p:txBody>
      </p:sp>
      <p:sp>
        <p:nvSpPr>
          <p:cNvPr id="89" name="result-subtitle-dueling-dqn">
            <a:extLst>
              <a:ext uri="{FF2B5EF4-FFF2-40B4-BE49-F238E27FC236}">
                <a16:creationId xmlns:a16="http://schemas.microsoft.com/office/drawing/2014/main" id="{AC7BCCE6-9F71-4594-BD55-48B2CE8D6BF8}"/>
              </a:ext>
            </a:extLst>
          </p:cNvPr>
          <p:cNvSpPr>
            <a:spLocks noGrp="1"/>
          </p:cNvSpPr>
          <p:nvPr/>
        </p:nvSpPr>
        <p:spPr>
          <a:xfrm>
            <a:off x="15706725" y="25290121"/>
            <a:ext cx="113919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800">
                <a:solidFill>
                  <a:srgbClr val="E67E22"/>
                </a:solidFill>
              </a:defRPr>
            </a:pPr>
            <a:r>
              <a:rPr sz="1800">
                <a:solidFill>
                  <a:srgbClr val="E67E22"/>
                </a:solidFill>
              </a:rPr>
              <a:t>Temporary placeholder - DQN data</a:t>
            </a:r>
          </a:p>
        </p:txBody>
      </p:sp>
      <p:pic>
        <p:nvPicPr>
          <p:cNvPr id="169" name="Picture 158"/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17522442" y="25613971"/>
            <a:ext cx="7760465" cy="4076700"/>
          </a:xfrm>
          <a:prstGeom prst="rect">
            <a:avLst/>
          </a:prstGeom>
        </p:spPr>
      </p:pic>
      <p:sp>
        <p:nvSpPr>
          <p:cNvPr id="91" name="result-card-ppo">
            <a:extLst>
              <a:ext uri="{FF2B5EF4-FFF2-40B4-BE49-F238E27FC236}">
                <a16:creationId xmlns:a16="http://schemas.microsoft.com/office/drawing/2014/main" id="{57673F6F-E28F-4EE6-BC11-DC68E87C33A1}"/>
              </a:ext>
            </a:extLst>
          </p:cNvPr>
          <p:cNvSpPr>
            <a:spLocks noGrp="1"/>
          </p:cNvSpPr>
          <p:nvPr/>
        </p:nvSpPr>
        <p:spPr>
          <a:xfrm>
            <a:off x="29089350" y="24699571"/>
            <a:ext cx="12192000" cy="5219700"/>
          </a:xfrm>
          <a:prstGeom prst="roundRect">
            <a:avLst>
              <a:gd name="adj" fmla="val 2190"/>
            </a:avLst>
          </a:prstGeom>
          <a:solidFill>
            <a:srgbClr val="FFFFFF"/>
          </a:solidFill>
          <a:ln w="19050">
            <a:solidFill>
              <a:srgbClr val="D8E3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2" name="result-title-ppo">
            <a:extLst>
              <a:ext uri="{FF2B5EF4-FFF2-40B4-BE49-F238E27FC236}">
                <a16:creationId xmlns:a16="http://schemas.microsoft.com/office/drawing/2014/main" id="{BF9D49F0-D5F5-468E-B382-5B3A3AEAED11}"/>
              </a:ext>
            </a:extLst>
          </p:cNvPr>
          <p:cNvSpPr>
            <a:spLocks noGrp="1"/>
          </p:cNvSpPr>
          <p:nvPr/>
        </p:nvSpPr>
        <p:spPr>
          <a:xfrm>
            <a:off x="29489400" y="24909121"/>
            <a:ext cx="11391900" cy="4095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2850" b="1">
                <a:solidFill>
                  <a:srgbClr val="153653"/>
                </a:solidFill>
              </a:defRPr>
            </a:pPr>
            <a:r>
              <a:rPr sz="2850" b="1">
                <a:solidFill>
                  <a:srgbClr val="153653"/>
                </a:solidFill>
              </a:rPr>
              <a:t>PPO</a:t>
            </a:r>
          </a:p>
        </p:txBody>
      </p:sp>
      <p:sp>
        <p:nvSpPr>
          <p:cNvPr id="93" name="result-subtitle-ppo">
            <a:extLst>
              <a:ext uri="{FF2B5EF4-FFF2-40B4-BE49-F238E27FC236}">
                <a16:creationId xmlns:a16="http://schemas.microsoft.com/office/drawing/2014/main" id="{52013E00-3529-4392-B7E8-B164767E9221}"/>
              </a:ext>
            </a:extLst>
          </p:cNvPr>
          <p:cNvSpPr>
            <a:spLocks noGrp="1"/>
          </p:cNvSpPr>
          <p:nvPr/>
        </p:nvSpPr>
        <p:spPr>
          <a:xfrm>
            <a:off x="29489400" y="25290121"/>
            <a:ext cx="113919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800">
                <a:solidFill>
                  <a:srgbClr val="E67E22"/>
                </a:solidFill>
              </a:defRPr>
            </a:pPr>
            <a:r>
              <a:rPr sz="1800">
                <a:solidFill>
                  <a:srgbClr val="E67E22"/>
                </a:solidFill>
              </a:rPr>
              <a:t>Temporary placeholder - DQN data</a:t>
            </a:r>
          </a:p>
        </p:txBody>
      </p:sp>
      <p:pic>
        <p:nvPicPr>
          <p:cNvPr id="173" name="Picture 162"/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31305117" y="25613971"/>
            <a:ext cx="7760465" cy="4076700"/>
          </a:xfrm>
          <a:prstGeom prst="rect">
            <a:avLst/>
          </a:prstGeom>
        </p:spPr>
      </p:pic>
      <p:sp>
        <p:nvSpPr>
          <p:cNvPr id="103" name="attention-novelty">
            <a:extLst>
              <a:ext uri="{FF2B5EF4-FFF2-40B4-BE49-F238E27FC236}">
                <a16:creationId xmlns:a16="http://schemas.microsoft.com/office/drawing/2014/main" id="{633905E1-9C10-49CD-96BA-3FA820E11FC6}"/>
              </a:ext>
            </a:extLst>
          </p:cNvPr>
          <p:cNvSpPr>
            <a:spLocks noGrp="1"/>
          </p:cNvSpPr>
          <p:nvPr/>
        </p:nvSpPr>
        <p:spPr>
          <a:xfrm>
            <a:off x="2095500" y="21180841"/>
            <a:ext cx="8953500" cy="13362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>
              <a:buNone/>
              <a:defRPr sz="2550" b="1">
                <a:solidFill>
                  <a:srgbClr val="157E87"/>
                </a:solidFill>
              </a:defRPr>
            </a:pPr>
            <a:r>
              <a:rPr lang="en-US" sz="2800" b="1" dirty="0"/>
              <a:t>A legal move is represented as an injected graph feature, allowing one shared encoder to score the state–action pair together.</a:t>
            </a:r>
            <a:endParaRPr sz="3200" b="1" dirty="0">
              <a:solidFill>
                <a:srgbClr val="157E87"/>
              </a:solidFill>
            </a:endParaRPr>
          </a:p>
        </p:txBody>
      </p:sp>
      <p:sp>
        <p:nvSpPr>
          <p:cNvPr id="104" name="evaluation-heading">
            <a:extLst>
              <a:ext uri="{FF2B5EF4-FFF2-40B4-BE49-F238E27FC236}">
                <a16:creationId xmlns:a16="http://schemas.microsoft.com/office/drawing/2014/main" id="{F26A0CBD-C049-4879-92AD-E84F959BBA73}"/>
              </a:ext>
            </a:extLst>
          </p:cNvPr>
          <p:cNvSpPr>
            <a:spLocks noGrp="1"/>
          </p:cNvSpPr>
          <p:nvPr/>
        </p:nvSpPr>
        <p:spPr>
          <a:xfrm>
            <a:off x="21907500" y="18217332"/>
            <a:ext cx="904875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>
              <a:buNone/>
              <a:defRPr sz="3000" b="1">
                <a:solidFill>
                  <a:srgbClr val="142B40"/>
                </a:solidFill>
              </a:defRPr>
            </a:pPr>
            <a:r>
              <a:rPr sz="3200" b="1" dirty="0">
                <a:solidFill>
                  <a:srgbClr val="142B40"/>
                </a:solidFill>
              </a:rPr>
              <a:t>DQN_103 evaluated across 3–6 players</a:t>
            </a:r>
          </a:p>
        </p:txBody>
      </p:sp>
      <p:sp>
        <p:nvSpPr>
          <p:cNvPr id="105" name="evaluation-protocol">
            <a:extLst>
              <a:ext uri="{FF2B5EF4-FFF2-40B4-BE49-F238E27FC236}">
                <a16:creationId xmlns:a16="http://schemas.microsoft.com/office/drawing/2014/main" id="{863DAC7D-0B0E-4D1E-BA3B-42103DE3D8FD}"/>
              </a:ext>
            </a:extLst>
          </p:cNvPr>
          <p:cNvSpPr>
            <a:spLocks noGrp="1"/>
          </p:cNvSpPr>
          <p:nvPr/>
        </p:nvSpPr>
        <p:spPr>
          <a:xfrm>
            <a:off x="21907500" y="19465419"/>
            <a:ext cx="8096250" cy="1238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>
              <a:buNone/>
              <a:defRPr sz="2250">
                <a:solidFill>
                  <a:srgbClr val="253B4C"/>
                </a:solidFill>
              </a:defRPr>
            </a:pPr>
            <a:r>
              <a:rPr sz="2800" dirty="0">
                <a:solidFill>
                  <a:srgbClr val="253B4C"/>
                </a:solidFill>
              </a:rPr>
              <a:t>54 games / checkpoint</a:t>
            </a:r>
          </a:p>
          <a:p>
            <a:pPr>
              <a:buNone/>
              <a:defRPr sz="2250">
                <a:solidFill>
                  <a:srgbClr val="253B4C"/>
                </a:solidFill>
              </a:defRPr>
            </a:pPr>
            <a:r>
              <a:rPr sz="2800" dirty="0">
                <a:solidFill>
                  <a:srgbClr val="253B4C"/>
                </a:solidFill>
              </a:rPr>
              <a:t>3 seeds · every learner seat</a:t>
            </a:r>
          </a:p>
          <a:p>
            <a:pPr>
              <a:buNone/>
              <a:defRPr sz="2250">
                <a:solidFill>
                  <a:srgbClr val="253B4C"/>
                </a:solidFill>
              </a:defRPr>
            </a:pPr>
            <a:r>
              <a:rPr sz="2800" dirty="0">
                <a:solidFill>
                  <a:srgbClr val="253B4C"/>
                </a:solidFill>
              </a:rPr>
              <a:t>ε = 0 · 2,000-step cap</a:t>
            </a:r>
          </a:p>
        </p:txBody>
      </p:sp>
      <p:sp>
        <p:nvSpPr>
          <p:cNvPr id="106" name="evaluation-latest-result">
            <a:extLst>
              <a:ext uri="{FF2B5EF4-FFF2-40B4-BE49-F238E27FC236}">
                <a16:creationId xmlns:a16="http://schemas.microsoft.com/office/drawing/2014/main" id="{EF9BEEB4-D611-4D51-92F3-FF39A32D5BD2}"/>
              </a:ext>
            </a:extLst>
          </p:cNvPr>
          <p:cNvSpPr>
            <a:spLocks noGrp="1"/>
          </p:cNvSpPr>
          <p:nvPr/>
        </p:nvSpPr>
        <p:spPr>
          <a:xfrm>
            <a:off x="21907500" y="20894169"/>
            <a:ext cx="8096250" cy="857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>
              <a:buNone/>
              <a:defRPr sz="2325" b="1">
                <a:solidFill>
                  <a:srgbClr val="157E87"/>
                </a:solidFill>
              </a:defRPr>
            </a:pPr>
            <a:r>
              <a:rPr sz="2800" b="1" dirty="0">
                <a:solidFill>
                  <a:srgbClr val="157E87"/>
                </a:solidFill>
              </a:rPr>
              <a:t>Latest ep006700</a:t>
            </a:r>
          </a:p>
          <a:p>
            <a:pPr>
              <a:buNone/>
              <a:defRPr sz="2325" b="1">
                <a:solidFill>
                  <a:srgbClr val="157E87"/>
                </a:solidFill>
              </a:defRPr>
            </a:pPr>
            <a:r>
              <a:rPr sz="2800" b="1" dirty="0">
                <a:solidFill>
                  <a:srgbClr val="157E87"/>
                </a:solidFill>
              </a:rPr>
              <a:t>46 / 54 wins = 85.2% · 0 timeouts</a:t>
            </a:r>
          </a:p>
        </p:txBody>
      </p:sp>
      <p:sp>
        <p:nvSpPr>
          <p:cNvPr id="107" name="evaluation-caveat">
            <a:extLst>
              <a:ext uri="{FF2B5EF4-FFF2-40B4-BE49-F238E27FC236}">
                <a16:creationId xmlns:a16="http://schemas.microsoft.com/office/drawing/2014/main" id="{F6490ACB-FC14-4E7A-BEA8-AC66087D2E74}"/>
              </a:ext>
            </a:extLst>
          </p:cNvPr>
          <p:cNvSpPr>
            <a:spLocks noGrp="1"/>
          </p:cNvSpPr>
          <p:nvPr/>
        </p:nvSpPr>
        <p:spPr>
          <a:xfrm>
            <a:off x="21907500" y="22075269"/>
            <a:ext cx="80962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>
              <a:buNone/>
              <a:defRPr sz="1350">
                <a:solidFill>
                  <a:srgbClr val="5B6B78"/>
                </a:solidFill>
              </a:defRPr>
            </a:pPr>
            <a:r>
              <a:rPr sz="2800" dirty="0">
                <a:solidFill>
                  <a:srgbClr val="5B6B78"/>
                </a:solidFill>
              </a:rPr>
              <a:t>Top 5 checkpoints; fixed checkpoint-selection suite.</a:t>
            </a:r>
          </a:p>
        </p:txBody>
      </p:sp>
      <p:sp>
        <p:nvSpPr>
          <p:cNvPr id="108" name="evaluation-chart-frame">
            <a:extLst>
              <a:ext uri="{FF2B5EF4-FFF2-40B4-BE49-F238E27FC236}">
                <a16:creationId xmlns:a16="http://schemas.microsoft.com/office/drawing/2014/main" id="{A8646FA7-C403-456F-A4A8-131E8D9EE762}"/>
              </a:ext>
            </a:extLst>
          </p:cNvPr>
          <p:cNvSpPr>
            <a:spLocks noGrp="1"/>
          </p:cNvSpPr>
          <p:nvPr/>
        </p:nvSpPr>
        <p:spPr>
          <a:xfrm>
            <a:off x="31242000" y="17954625"/>
            <a:ext cx="9239250" cy="4629150"/>
          </a:xfrm>
          <a:prstGeom prst="roundRect">
            <a:avLst>
              <a:gd name="adj" fmla="val 1646"/>
            </a:avLst>
          </a:prstGeom>
          <a:solidFill>
            <a:srgbClr val="F8FBFC"/>
          </a:solidFill>
          <a:ln w="9525">
            <a:solidFill>
              <a:srgbClr val="D7E2E7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180" name="Picture 170"/>
          <p:cNvPicPr>
            <a:picLocks noChangeAspect="1"/>
          </p:cNvPicPr>
          <p:nvPr/>
        </p:nvPicPr>
        <p:blipFill>
          <a:blip r:embed="rId7"/>
          <a:stretch/>
        </p:blipFill>
        <p:spPr>
          <a:xfrm>
            <a:off x="31928904" y="18021300"/>
            <a:ext cx="7865442" cy="4495800"/>
          </a:xfrm>
          <a:prstGeom prst="rect">
            <a:avLst/>
          </a:prstGeom>
        </p:spPr>
      </p:pic>
      <p:pic>
        <p:nvPicPr>
          <p:cNvPr id="181" name="Picture 111"/>
          <p:cNvPicPr>
            <a:picLocks noChangeAspect="1"/>
          </p:cNvPicPr>
          <p:nvPr/>
        </p:nvPicPr>
        <p:blipFill>
          <a:blip r:embed="rId8"/>
          <a:stretch/>
        </p:blipFill>
        <p:spPr>
          <a:xfrm>
            <a:off x="12129939" y="18002250"/>
            <a:ext cx="7884147" cy="4933950"/>
          </a:xfrm>
          <a:prstGeom prst="roundRect">
            <a:avLst>
              <a:gd name="adj" fmla="val 5143"/>
            </a:avLst>
          </a:prstGeom>
        </p:spPr>
      </p:pic>
      <p:pic>
        <p:nvPicPr>
          <p:cNvPr id="182" name="Picture 27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7976175" y="400050"/>
            <a:ext cx="2952750" cy="2952750"/>
          </a:xfrm>
          <a:prstGeom prst="rect">
            <a:avLst/>
          </a:prstGeom>
        </p:spPr>
      </p:pic>
      <p:sp>
        <p:nvSpPr>
          <p:cNvPr id="119" name="github-repository-caption">
            <a:extLst>
              <a:ext uri="{FF2B5EF4-FFF2-40B4-BE49-F238E27FC236}">
                <a16:creationId xmlns:a16="http://schemas.microsoft.com/office/drawing/2014/main" id="{2503D635-8807-49AD-A03A-469A3E594595}"/>
              </a:ext>
            </a:extLst>
          </p:cNvPr>
          <p:cNvSpPr>
            <a:spLocks noGrp="1"/>
          </p:cNvSpPr>
          <p:nvPr/>
        </p:nvSpPr>
        <p:spPr>
          <a:xfrm>
            <a:off x="37861875" y="3371850"/>
            <a:ext cx="3190875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buNone/>
              <a:defRPr sz="1275" b="1" spc="1">
                <a:solidFill>
                  <a:srgbClr val="FFFFFF"/>
                </a:solidFill>
              </a:defRPr>
            </a:pPr>
            <a:r>
              <a:rPr sz="1800" b="1" spc="1">
                <a:solidFill>
                  <a:srgbClr val="FFFFFF"/>
                </a:solidFill>
              </a:rPr>
              <a:t>PROJECT REPOSITORY</a:t>
            </a:r>
          </a:p>
        </p:txBody>
      </p:sp>
      <p:pic>
        <p:nvPicPr>
          <p:cNvPr id="184" name="Picture 173"/>
          <p:cNvPicPr>
            <a:picLocks noChangeAspect="1"/>
          </p:cNvPicPr>
          <p:nvPr/>
        </p:nvPicPr>
        <p:blipFill>
          <a:blip r:embed="rId10"/>
          <a:stretch/>
        </p:blipFill>
        <p:spPr>
          <a:xfrm>
            <a:off x="38653503" y="3752850"/>
            <a:ext cx="1626669" cy="371475"/>
          </a:xfrm>
          <a:prstGeom prst="rect">
            <a:avLst/>
          </a:prstGeom>
        </p:spPr>
      </p:pic>
      <p:pic>
        <p:nvPicPr>
          <p:cNvPr id="185" name="Picture 184"/>
          <p:cNvPicPr>
            <a:picLocks noChangeAspect="1"/>
          </p:cNvPicPr>
          <p:nvPr/>
        </p:nvPicPr>
        <p:blipFill>
          <a:blip r:embed="rId11"/>
          <a:stretch/>
        </p:blipFill>
        <p:spPr>
          <a:xfrm>
            <a:off x="29489400" y="304800"/>
            <a:ext cx="7246473" cy="1856748"/>
          </a:xfrm>
          <a:prstGeom prst="rect">
            <a:avLst/>
          </a:prstGeom>
        </p:spPr>
      </p:pic>
      <p:sp>
        <p:nvSpPr>
          <p:cNvPr id="19" name="subtitle">
            <a:extLst>
              <a:ext uri="{FF2B5EF4-FFF2-40B4-BE49-F238E27FC236}">
                <a16:creationId xmlns:a16="http://schemas.microsoft.com/office/drawing/2014/main" id="{2D49C382-0EBE-24CA-189A-DDB7C4206746}"/>
              </a:ext>
            </a:extLst>
          </p:cNvPr>
          <p:cNvSpPr>
            <a:spLocks noGrp="1"/>
          </p:cNvSpPr>
          <p:nvPr/>
        </p:nvSpPr>
        <p:spPr>
          <a:xfrm>
            <a:off x="1524000" y="3400425"/>
            <a:ext cx="22884848" cy="5035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3150" b="0">
                <a:solidFill>
                  <a:srgbClr val="C7D6E2"/>
                </a:solidFill>
              </a:defRPr>
            </a:pPr>
            <a:r>
              <a:rPr lang="en-US" sz="3150" b="0" dirty="0">
                <a:solidFill>
                  <a:srgbClr val="C7D6E2"/>
                </a:solidFill>
              </a:rPr>
              <a:t>Gilad Markman </a:t>
            </a:r>
            <a:r>
              <a:rPr lang="he-IL" sz="3200" dirty="0">
                <a:solidFill>
                  <a:srgbClr val="9EC5D0"/>
                </a:solidFill>
              </a:rPr>
              <a:t>•</a:t>
            </a:r>
            <a:r>
              <a:rPr lang="en-US" sz="3200" dirty="0">
                <a:solidFill>
                  <a:srgbClr val="9EC5D0"/>
                </a:solidFill>
              </a:rPr>
              <a:t> </a:t>
            </a:r>
            <a:r>
              <a:rPr lang="he-IL" sz="2800" dirty="0">
                <a:solidFill>
                  <a:srgbClr val="9EC5D0"/>
                </a:solidFill>
              </a:rPr>
              <a:t>2026</a:t>
            </a:r>
            <a:endParaRPr sz="3150" b="0" dirty="0">
              <a:solidFill>
                <a:srgbClr val="C7D6E2"/>
              </a:solidFill>
            </a:endParaRP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BA5EC74A-6222-CEC9-E605-BB762015EB61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363697" y="283153"/>
            <a:ext cx="6552543" cy="42126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129497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13</TotalTime>
  <Words>599</Words>
  <Application>Microsoft Office PowerPoint</Application>
  <DocSecurity>0</DocSecurity>
  <PresentationFormat>Custom</PresentationFormat>
  <Paragraphs>55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3" baseType="lpstr">
      <vt:lpstr>Calibri</vt:lpstr>
      <vt:lpstr>ChatGPT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גלעד מרקמן</cp:lastModifiedBy>
  <cp:revision>6</cp:revision>
  <dcterms:created xsi:type="dcterms:W3CDTF">2026-08-13T07:16:00Z</dcterms:created>
  <dcterms:modified xsi:type="dcterms:W3CDTF">2026-08-13T07:35:06Z</dcterms:modified>
</cp:coreProperties>
</file>