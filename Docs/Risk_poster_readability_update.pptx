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168a6ed3184389" /><Relationship Type="http://schemas.openxmlformats.org/officeDocument/2006/relationships/extended-properties" Target="/docProps/app.xml" Id="R5780167da3e0471a" /><Relationship Type="http://schemas.openxmlformats.org/officeDocument/2006/relationships/officeDocument" Target="/ppt/presentation.xml" Id="Rfe30414b2af84d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37a509e67406e"/>
  </p:sldMasterIdLst>
  <p:notesMasterIdLst>
    <p:notesMasterId xmlns:r="http://schemas.openxmlformats.org/officeDocument/2006/relationships" r:id="Rf8cbfb147c2f4473"/>
  </p:notesMasterIdLst>
  <p:sldIdLst>
    <p:sldId xmlns:r="http://schemas.openxmlformats.org/officeDocument/2006/relationships" id="256" r:id="R8e15c63453b149f8"/>
  </p:sldIdLst>
  <p:sldSz cx="42805350" cy="30270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d992573f08484e" /><Relationship Type="http://schemas.openxmlformats.org/officeDocument/2006/relationships/slideMaster" Target="/ppt/slideMasters/slideMaster1.xml" Id="Rd6837a509e67406e" /><Relationship Type="http://schemas.openxmlformats.org/officeDocument/2006/relationships/notesMaster" Target="/ppt/notesMasters/notesMaster1.xml" Id="Rf8cbfb147c2f4473" /><Relationship Type="http://schemas.openxmlformats.org/officeDocument/2006/relationships/presProps" Target="/ppt/presProps.xml" Id="R0ac6ef597c03470d" /><Relationship Type="http://schemas.openxmlformats.org/officeDocument/2006/relationships/viewProps" Target="/ppt/viewProps.xml" Id="Re8fd0ab087ce4e02" /><Relationship Type="http://schemas.openxmlformats.org/officeDocument/2006/relationships/tableStyles" Target="/ppt/tableStyles.xml" Id="R9958352e817f4285" /><Relationship Type="http://schemas.openxmlformats.org/officeDocument/2006/relationships/slide" Target="/ppt/slides/slide1.xml" Id="R8e15c63453b149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c3a3aa03a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abfea79724409" /><Relationship Type="http://schemas.openxmlformats.org/officeDocument/2006/relationships/notesMaster" Target="/ppt/notesMasters/notesMaster1.xml" Id="R3c4996037dda4c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Poster narrative and local visual assets adapted from Docs/Poster.md.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Results:</a:t>
            </a:r>
          </a:p>
          <a:p xmlns:a="http://schemas.openxmlformats.org/drawingml/2006/main">
            <a:r>
              <a:t> - DQN card and temporary learner-comparison graphic: Assets/DQN Win.png.</a:t>
            </a:r>
          </a:p>
          <a:p xmlns:a="http://schemas.openxmlformats.org/drawingml/2006/main">
            <a:r>
              <a:t> - DQN_103 cross-player-count evaluation: Checkpoints/DQN_103/evaluations/top5_checkpoint_win_rates_all_player_counts.png; checkpoint_eval_ep006200_to_006700.json. Evaluation protocol: 54 games per checkpoint (3 seeds x learner seat x 3-6 total players), epsilon 0, 2,000-step cap.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Reward shaping behind DQN_103:</a:t>
            </a:r>
          </a:p>
          <a:p xmlns:a="http://schemas.openxmlformats.org/drawingml/2006/main">
            <a:r>
              <a:t> - Historical checkpoint configuration: wandb/run-20260801_170850-sad3393d/logs/debug.log (REWARD_SHAPING_SCALE=0.1; terminal +/-100).</a:t>
            </a:r>
          </a:p>
          <a:p xmlns:a="http://schemas.openxmlformats.org/drawingml/2006/main">
            <a:r>
              <a:t> - Historical implementation: commit 1411c0d (reward.py and train_constants.py). Dense learner-action terms were summed, clipped to [-10,+10], then multiplied by 0.1; terminal reward was unscaled. End-of-turn board progress was separately scaled by 0.1 and measured after opponents acted.</a:t>
            </a:r>
          </a:p>
          <a:p xmlns:a="http://schemas.openxmlformats.org/drawingml/2006/main">
            <a:r>
              <a:t> - The poster table summarizes terminal, trade, reinforce, attack, occupy/fortify, and board-progress terms in plain language. Docs/Reward.md contains the full current reward reference; it does not retroactively describe DQN_103's historical values.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Methods and architecture:</a:t>
            </a:r>
          </a:p>
          <a:p xmlns:a="http://schemas.openxmlformats.org/drawingml/2006/main">
            <a:r>
              <a:t> - Docs/NetworkArchitectures.md, Docs/DuelingDQN.md, Docs/PPO.md, Docs/Reward.md.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Branding and QR assets are local project assets; Weizmann logo was user-provided.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a621058cb44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ffaa36ead4b96" /><Relationship Type="http://schemas.openxmlformats.org/officeDocument/2006/relationships/slideLayout" Target="/ppt/slideLayouts/slideLayout1.xml" Id="R1cb0ee1d351f43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b0ee1d351f43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4562ec9ae4a8f" /><Relationship Type="http://schemas.openxmlformats.org/officeDocument/2006/relationships/image" Target="/ppt/media/image.png" Id="Rd005a4d83c634ea3" /><Relationship Type="http://schemas.openxmlformats.org/officeDocument/2006/relationships/image" Target="/ppt/media/image2.png" Id="R98557ec8c8de4478" /><Relationship Type="http://schemas.openxmlformats.org/officeDocument/2006/relationships/image" Target="/ppt/media/image3.png" Id="R10563d828a934ae1" /><Relationship Type="http://schemas.openxmlformats.org/officeDocument/2006/relationships/image" Target="/ppt/media/image4.png" Id="Rcc2644845a1c45b5" /><Relationship Type="http://schemas.openxmlformats.org/officeDocument/2006/relationships/image" Target="/ppt/media/image5.png" Id="Rc69954170dbd4856" /><Relationship Type="http://schemas.openxmlformats.org/officeDocument/2006/relationships/image" Target="/ppt/media/image6.png" Id="R0e86bf7eaf474fc2" /><Relationship Type="http://schemas.openxmlformats.org/officeDocument/2006/relationships/image" Target="/ppt/media/image7.png" Id="R9de20388f62c4620" /><Relationship Type="http://schemas.openxmlformats.org/officeDocument/2006/relationships/image" Target="/ppt/media/image8.png" Id="R48c124c7c1964f6e" /><Relationship Type="http://schemas.openxmlformats.org/officeDocument/2006/relationships/image" Target="/ppt/media/image9.png" Id="R64727bc967514eb1" /><Relationship Type="http://schemas.openxmlformats.org/officeDocument/2006/relationships/image" Target="/ppt/media/image10.png" Id="R8f605834571744fc" /><Relationship Type="http://schemas.openxmlformats.org/officeDocument/2006/relationships/image" Target="/ppt/media/image11.png" Id="Rd125f93a20a24450" /><Relationship Type="http://schemas.openxmlformats.org/officeDocument/2006/relationships/notesSlide" Target="/ppt/notesSlides/notesSlide1.xml" Id="R2af9d12f455a40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th-panel">
            <a:extLst xmlns:a="http://schemas.openxmlformats.org/drawingml/2006/main"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939" y="17726024"/>
            <a:ext cx="20102660" cy="5420971"/>
          </a:xfrm>
          <a:prstGeom xmlns:a="http://schemas.openxmlformats.org/drawingml/2006/main" prst="roundRect">
            <a:avLst>
              <a:gd name="adj" fmla="val 4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header">
            <a:extLst xmlns:a="http://schemas.openxmlformats.org/drawingml/2006/main"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DB99EA98-A601-4193-B29C-C8059390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4280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A"/>
          </a:solidFill>
          <a:ln xmlns:a="http://schemas.openxmlformats.org/drawingml/2006/main" w="0">
            <a:solidFill>
              <a:srgbClr val="E875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705"/>
            <a:ext cx="17619406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 xmlns:a="http://schemas.openxmlformats.org/drawingml/2006/main"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0170"/>
            <a:ext cx="22884848" cy="503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47" y="3952875"/>
            <a:ext cx="16144875" cy="408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Practical Deep Learning for Science  •  </a:t>
            </a:r>
            <a:r>
              <a:rPr sz="2325" b="1">
                <a:solidFill>
                  <a:srgbClr val="9EC5D0"/>
                </a:solidFill>
              </a:rPr>
              <a:t>Prof. Eilam Gross</a:t>
            </a:r>
            <a:endParaRPr sz="2325" b="0">
              <a:solidFill>
                <a:srgbClr val="9EC5D0"/>
              </a:solidFill>
            </a:endParaRPr>
          </a:p>
        </p:txBody>
      </p:sp>
      <p:sp>
        <p:nvSpPr>
          <p:cNvPr id="7" name="claim">
            <a:extLst xmlns:a="http://schemas.openxmlformats.org/drawingml/2006/main"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397573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0">
            <a:solidFill>
              <a:srgbClr val="DDF3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laim-text">
            <a:extLst xmlns:a="http://schemas.openxmlformats.org/drawingml/2006/main"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67375"/>
            <a:ext cx="3838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>
                <a:solidFill>
                  <a:srgbClr val="102A43"/>
                </a:solidFill>
              </a:rPr>
              <a:t>Each legal Risk move is injected into the board graph. One shared graph-attention encoder scores the resulting state–action graph.</a:t>
            </a:r>
          </a:p>
        </p:txBody>
      </p:sp>
      <p:sp>
        <p:nvSpPr>
          <p:cNvPr id="9" name="panel-1">
            <a:extLst xmlns:a="http://schemas.openxmlformats.org/drawingml/2006/main"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34250"/>
            <a:ext cx="9525000" cy="9953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panel-2">
            <a:extLst xmlns:a="http://schemas.openxmlformats.org/drawingml/2006/main"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334250"/>
            <a:ext cx="14287500" cy="9953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panel-3">
            <a:extLst xmlns:a="http://schemas.openxmlformats.org/drawingml/2006/main"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0" y="7334250"/>
            <a:ext cx="14611350" cy="9953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7734300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845820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60" name="Picture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5a4d83c634ea3"/>
          <a:stretch xmlns:a="http://schemas.openxmlformats.org/drawingml/2006/main"/>
        </p:blipFill>
        <p:spPr>
          <a:xfrm xmlns:a="http://schemas.openxmlformats.org/drawingml/2006/main">
            <a:off x="2143125" y="9648825"/>
            <a:ext cx="8382000" cy="5541434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15" name="graph-label">
            <a:extLst xmlns:a="http://schemas.openxmlformats.org/drawingml/2006/main"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727931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 xmlns:a="http://schemas.openxmlformats.org/drawingml/2006/main"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394681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 xmlns:a="http://schemas.openxmlformats.org/drawingml/2006/main"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734300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 xmlns:a="http://schemas.openxmlformats.org/drawingml/2006/main"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8458200"/>
            <a:ext cx="1323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65" name="Picture 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57ec8c8de4478"/>
          <a:stretch xmlns:a="http://schemas.openxmlformats.org/drawingml/2006/main"/>
        </p:blipFill>
        <p:spPr>
          <a:xfrm xmlns:a="http://schemas.openxmlformats.org/drawingml/2006/main">
            <a:off x="13563600" y="9620250"/>
            <a:ext cx="10591800" cy="6953250"/>
          </a:xfrm>
          <a:prstGeom xmlns:a="http://schemas.openxmlformats.org/drawingml/2006/main" prst="roundRect">
            <a:avLst>
              <a:gd name="adj" fmla="val 3186"/>
            </a:avLst>
          </a:prstGeom>
        </p:spPr>
      </p:pic>
      <p:sp>
        <p:nvSpPr>
          <p:cNvPr id="23" name="encoder-title">
            <a:extLst xmlns:a="http://schemas.openxmlformats.org/drawingml/2006/main"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875" y="7734300"/>
            <a:ext cx="1357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 xmlns:a="http://schemas.openxmlformats.org/drawingml/2006/main"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875" y="8458200"/>
            <a:ext cx="13573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Injected state–action graph → four shared GATN layers → the active phase's scoring head.</a:t>
            </a:r>
          </a:p>
        </p:txBody>
      </p:sp>
      <p:pic>
        <p:nvPicPr>
          <p:cNvPr id="168" name="Picture 1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63d828a934ae1"/>
          <a:stretch xmlns:a="http://schemas.openxmlformats.org/drawingml/2006/main"/>
        </p:blipFill>
        <p:spPr>
          <a:xfrm xmlns:a="http://schemas.openxmlformats.org/drawingml/2006/main">
            <a:off x="27670125" y="9620250"/>
            <a:ext cx="12611100" cy="7219950"/>
          </a:xfrm>
          <a:prstGeom xmlns:a="http://schemas.openxmlformats.org/drawingml/2006/main" prst="roundRect">
            <a:avLst>
              <a:gd name="adj" fmla="val 3186"/>
            </a:avLst>
          </a:prstGeom>
        </p:spPr>
      </p:pic>
      <p:sp>
        <p:nvSpPr>
          <p:cNvPr id="33" name="math-panel">
            <a:extLst xmlns:a="http://schemas.openxmlformats.org/drawingml/2006/main"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1" y="17735549"/>
            <a:ext cx="19430998" cy="5420971"/>
          </a:xfrm>
          <a:prstGeom xmlns:a="http://schemas.openxmlformats.org/drawingml/2006/main" prst="roundRect">
            <a:avLst>
              <a:gd name="adj" fmla="val 4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math-title">
            <a:extLst xmlns:a="http://schemas.openxmlformats.org/drawingml/2006/main"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145125"/>
            <a:ext cx="9188776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75" b="1">
                <a:solidFill>
                  <a:srgbClr val="102A43"/>
                </a:solidFill>
              </a:defRPr>
            </a:pPr>
            <a:r>
              <a:rPr sz="3075" b="1"/>
              <a:t>4  How GATN attention uses the injected action</a:t>
            </a:r>
            <a:endParaRPr sz="3200" b="1">
              <a:solidFill>
                <a:srgbClr val="102A43"/>
              </a:solidFill>
            </a:endParaRPr>
          </a:p>
        </p:txBody>
      </p:sp>
      <p:sp>
        <p:nvSpPr>
          <p:cNvPr id="35" name="math-copy">
            <a:extLst xmlns:a="http://schemas.openxmlformats.org/drawingml/2006/main"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999592"/>
            <a:ext cx="8953500" cy="2321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5E6C76"/>
                </a:solidFill>
              </a:defRPr>
            </a:pPr>
            <a:r>
              <a:rPr sz="2800" b="0">
                <a:solidFill>
                  <a:srgbClr val="5E6C76"/>
                </a:solidFill>
              </a:rPr>
              <a:t>GATN attends only across </a:t>
            </a:r>
            <a:r>
              <a:rPr sz="2800" b="0">
                <a:solidFill>
                  <a:srgbClr val="5E6C76"/>
                </a:solidFill>
              </a:rPr>
              <a:t>neighbouring</a:t>
            </a:r>
            <a:r>
              <a:rPr sz="2800" b="0">
                <a:solidFill>
                  <a:srgbClr val="5E6C76"/>
                </a:solidFill>
              </a:rPr>
              <a:t> territories. Q represents the receiving territory; K determines how relevant each </a:t>
            </a:r>
            <a:r>
              <a:rPr sz="2800" b="0">
                <a:solidFill>
                  <a:srgbClr val="5E6C76"/>
                </a:solidFill>
              </a:rPr>
              <a:t>neighbour</a:t>
            </a:r>
            <a:r>
              <a:rPr sz="2800" b="0">
                <a:solidFill>
                  <a:srgbClr val="5E6C76"/>
                </a:solidFill>
              </a:rPr>
              <a:t> is; V is the information that </a:t>
            </a:r>
            <a:r>
              <a:rPr sz="2800" b="0">
                <a:solidFill>
                  <a:srgbClr val="5E6C76"/>
                </a:solidFill>
              </a:rPr>
              <a:t>neighbour</a:t>
            </a:r>
            <a:r>
              <a:rPr sz="2800" b="0">
                <a:solidFill>
                  <a:srgbClr val="5E6C76"/>
                </a:solidFill>
              </a:rPr>
              <a:t> sends. The injected action changes K and V on the affected border, changing its attention weight and message.</a:t>
            </a:r>
            <a:endParaRPr sz="2800" b="0">
              <a:solidFill>
                <a:srgbClr val="5E6C76"/>
              </a:solidFill>
            </a:endParaRPr>
          </a:p>
        </p:txBody>
      </p:sp>
      <p:sp>
        <p:nvSpPr>
          <p:cNvPr id="37" name="math-footer">
            <a:extLst xmlns:a="http://schemas.openxmlformats.org/drawingml/2006/main"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632771"/>
            <a:ext cx="1762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 xmlns:a="http://schemas.openxmlformats.org/drawingml/2006/main"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442271"/>
            <a:ext cx="428053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728020"/>
            <a:ext cx="7649497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Results: training + held-out evaluation</a:t>
            </a:r>
          </a:p>
        </p:txBody>
      </p:sp>
      <p:sp>
        <p:nvSpPr>
          <p:cNvPr id="40" name="results-subtitle">
            <a:extLst xmlns:a="http://schemas.openxmlformats.org/drawingml/2006/main">
              <a:ext uri="{FF2B5EF4-FFF2-40B4-BE49-F238E27FC236}">
                <a16:creationId xmlns:a16="http://schemas.microsoft.com/office/drawing/2014/main" id="{9D364777-310B-4457-B161-8036260B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055" y="23796544"/>
            <a:ext cx="18192750" cy="57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C7D6E2"/>
                </a:solidFill>
              </a:defRPr>
            </a:pPr>
            <a:r>
              <a:rPr sz="2800" b="0">
                <a:solidFill>
                  <a:srgbClr val="C7D6E2"/>
                </a:solidFill>
              </a:rPr>
              <a:t>DQN learning; learner comparison; DQN evaluated across 3–6 players.</a:t>
            </a:r>
          </a:p>
        </p:txBody>
      </p:sp>
      <p:sp>
        <p:nvSpPr>
          <p:cNvPr id="83" name="result-card-dqn">
            <a:extLst xmlns:a="http://schemas.openxmlformats.org/drawingml/2006/main"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699571"/>
            <a:ext cx="12192000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4" name="result-title-dqn">
            <a:extLst xmlns:a="http://schemas.openxmlformats.org/drawingml/2006/main"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909121"/>
            <a:ext cx="11391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DQN</a:t>
            </a:r>
          </a:p>
        </p:txBody>
      </p:sp>
      <p:sp>
        <p:nvSpPr>
          <p:cNvPr id="85" name="result-subtitle-dqn">
            <a:extLst xmlns:a="http://schemas.openxmlformats.org/drawingml/2006/main">
              <a:ext uri="{FF2B5EF4-FFF2-40B4-BE49-F238E27FC236}">
                <a16:creationId xmlns:a16="http://schemas.microsoft.com/office/drawing/2014/main" id="{2FE889F1-60A0-44E7-B32A-F986DB5A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290121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15999B"/>
                </a:solidFill>
              </a:defRPr>
            </a:pPr>
            <a:r>
              <a:rPr sz="1800">
                <a:solidFill>
                  <a:srgbClr val="15999B"/>
                </a:solidFill>
              </a:rPr>
              <a:t>Current DQN data</a:t>
            </a:r>
          </a:p>
        </p:txBody>
      </p:sp>
      <p:sp>
        <p:nvSpPr>
          <p:cNvPr id="87" name="result-card-dueling-dqn">
            <a:extLst xmlns:a="http://schemas.openxmlformats.org/drawingml/2006/main"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24699571"/>
            <a:ext cx="12192000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result-title-dueling-dqn">
            <a:extLst xmlns:a="http://schemas.openxmlformats.org/drawingml/2006/main"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4909121"/>
            <a:ext cx="11391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Learner comparison</a:t>
            </a:r>
          </a:p>
        </p:txBody>
      </p:sp>
      <p:sp>
        <p:nvSpPr>
          <p:cNvPr id="89" name="result-subtitle-dueling-dqn">
            <a:extLst xmlns:a="http://schemas.openxmlformats.org/drawingml/2006/main"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5290121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91" name="result-card-ppo">
            <a:extLst xmlns:a="http://schemas.openxmlformats.org/drawingml/2006/main"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350" y="24699571"/>
            <a:ext cx="12192000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2" name="result-title-ppo">
            <a:extLst xmlns:a="http://schemas.openxmlformats.org/drawingml/2006/main"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0" y="24909121"/>
            <a:ext cx="11391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DQN</a:t>
            </a:r>
            <a:r>
              <a:rPr sz="2850" b="1">
                <a:solidFill>
                  <a:srgbClr val="153653"/>
                </a:solidFill>
              </a:rPr>
              <a:t> </a:t>
            </a:r>
            <a:r>
              <a:rPr sz="2850" b="1">
                <a:solidFill>
                  <a:srgbClr val="153653"/>
                </a:solidFill>
              </a:rPr>
              <a:t> evaluation</a:t>
            </a:r>
          </a:p>
        </p:txBody>
      </p:sp>
      <p:sp>
        <p:nvSpPr>
          <p:cNvPr id="93" name="result-subtitle-ppo">
            <a:extLst xmlns:a="http://schemas.openxmlformats.org/drawingml/2006/main"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0" y="25290121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Top 5 checkpoints · 54 games each</a:t>
            </a:r>
          </a:p>
        </p:txBody>
      </p:sp>
      <p:pic>
        <p:nvPicPr>
          <p:cNvPr id="185" name="Picture 1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644845a1c45b5"/>
          <a:stretch xmlns:a="http://schemas.openxmlformats.org/drawingml/2006/main"/>
        </p:blipFill>
        <p:spPr>
          <a:xfrm xmlns:a="http://schemas.openxmlformats.org/drawingml/2006/main">
            <a:off x="33538751" y="25528246"/>
            <a:ext cx="7132223" cy="4076700"/>
          </a:xfrm>
          <a:prstGeom xmlns:a="http://schemas.openxmlformats.org/drawingml/2006/main" prst="rect">
            <a:avLst/>
          </a:prstGeom>
        </p:spPr>
      </p:pic>
      <p:sp>
        <p:nvSpPr>
          <p:cNvPr id="103" name="attention-novelty">
            <a:extLst xmlns:a="http://schemas.openxmlformats.org/drawingml/2006/main"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180841"/>
            <a:ext cx="8953500" cy="133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sz="2800" b="1"/>
              <a:t>Four</a:t>
            </a:r>
            <a:r>
              <a:rPr sz="2800" b="1"/>
              <a:t> </a:t>
            </a:r>
            <a:r>
              <a:rPr sz="2800" b="1"/>
              <a:t>graph-attention</a:t>
            </a:r>
            <a:r>
              <a:rPr sz="2800" b="1"/>
              <a:t> </a:t>
            </a:r>
            <a:r>
              <a:rPr sz="2800" b="1"/>
              <a:t>layers</a:t>
            </a:r>
            <a:r>
              <a:rPr sz="2800" b="1"/>
              <a:t> </a:t>
            </a:r>
            <a:r>
              <a:rPr sz="2800" b="1"/>
              <a:t>aggregate</a:t>
            </a:r>
            <a:r>
              <a:rPr sz="2800" b="1"/>
              <a:t> </a:t>
            </a:r>
            <a:r>
              <a:rPr sz="2800" b="1"/>
              <a:t>these</a:t>
            </a:r>
            <a:r>
              <a:rPr sz="2800" b="1"/>
              <a:t> </a:t>
            </a:r>
            <a:r>
              <a:rPr sz="2800" b="1"/>
              <a:t>weighted</a:t>
            </a:r>
            <a:r>
              <a:rPr sz="2800" b="1"/>
              <a:t> </a:t>
            </a:r>
            <a:r>
              <a:rPr sz="2800" b="1"/>
              <a:t>neighbour</a:t>
            </a:r>
            <a:r>
              <a:rPr sz="2800" b="1"/>
              <a:t> </a:t>
            </a:r>
            <a:r>
              <a:rPr sz="2800" b="1"/>
              <a:t>messages</a:t>
            </a:r>
            <a:r>
              <a:rPr sz="2800" b="1"/>
              <a:t>—</a:t>
            </a:r>
            <a:r>
              <a:rPr sz="2800" b="1"/>
              <a:t>never</a:t>
            </a:r>
            <a:r>
              <a:rPr sz="2800" b="1"/>
              <a:t> </a:t>
            </a:r>
            <a:r>
              <a:rPr sz="2800" b="1"/>
              <a:t>all</a:t>
            </a:r>
            <a:r>
              <a:rPr sz="2800" b="1"/>
              <a:t> </a:t>
            </a:r>
            <a:r>
              <a:rPr sz="2800" b="1"/>
              <a:t>territory</a:t>
            </a:r>
            <a:r>
              <a:rPr sz="2800" b="1"/>
              <a:t> </a:t>
            </a:r>
            <a:r>
              <a:rPr sz="2800" b="1"/>
              <a:t>pairs</a:t>
            </a:r>
            <a:r>
              <a:rPr sz="2800" b="1"/>
              <a:t>.</a:t>
            </a:r>
            <a:endParaRPr sz="3600" b="1">
              <a:solidFill>
                <a:srgbClr val="157E87"/>
              </a:solidFill>
            </a:endParaRPr>
          </a:p>
        </p:txBody>
      </p:sp>
      <p:sp>
        <p:nvSpPr>
          <p:cNvPr id="104" name="evaluation-heading">
            <a:extLst xmlns:a="http://schemas.openxmlformats.org/drawingml/2006/main"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0" y="18097500"/>
            <a:ext cx="1843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5  Reward shaping</a:t>
            </a:r>
          </a:p>
        </p:txBody>
      </p:sp>
      <p:sp>
        <p:nvSpPr>
          <p:cNvPr id="106" name="evaluation-latest-result">
            <a:extLst xmlns:a="http://schemas.openxmlformats.org/drawingml/2006/main">
              <a:ext uri="{FF2B5EF4-FFF2-40B4-BE49-F238E27FC236}">
                <a16:creationId xmlns:a16="http://schemas.microsoft.com/office/drawing/2014/main" id="{EF9BEEB4-D611-4D51-92F3-FF39A32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0" y="18649950"/>
            <a:ext cx="1843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Reward = terminal (+100 / -100) + 0.1 x clip[-10,+10](local action terms) + 0.1 x board progress after opponents.</a:t>
            </a:r>
          </a:p>
        </p:txBody>
      </p:sp>
      <p:sp>
        <p:nvSpPr>
          <p:cNvPr id="107" name="evaluation-caveat">
            <a:extLst xmlns:a="http://schemas.openxmlformats.org/drawingml/2006/main">
              <a:ext uri="{FF2B5EF4-FFF2-40B4-BE49-F238E27FC236}">
                <a16:creationId xmlns:a16="http://schemas.microsoft.com/office/drawing/2014/main" id="{F6490ACB-FC14-4E7A-BEA8-AC66087D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0" y="22555200"/>
            <a:ext cx="1843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Action terms: clip then ×0.1. Board progress: separately ×0.1, not clipped, after opponents act.</a:t>
            </a:r>
          </a:p>
        </p:txBody>
      </p:sp>
      <p:pic>
        <p:nvPicPr>
          <p:cNvPr id="190" name="Picture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954170dbd4856"/>
          <a:stretch xmlns:a="http://schemas.openxmlformats.org/drawingml/2006/main"/>
        </p:blipFill>
        <p:spPr>
          <a:xfrm xmlns:a="http://schemas.openxmlformats.org/drawingml/2006/main">
            <a:off x="12129939" y="18002250"/>
            <a:ext cx="7884147" cy="49339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pic>
        <p:nvPicPr>
          <p:cNvPr id="19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6bf7eaf474f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976175" y="40005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119" name="github-repository-caption">
            <a:extLst xmlns:a="http://schemas.openxmlformats.org/drawingml/2006/main">
              <a:ext uri="{FF2B5EF4-FFF2-40B4-BE49-F238E27FC236}">
                <a16:creationId xmlns:a16="http://schemas.microsoft.com/office/drawing/2014/main" id="{2503D635-8807-49AD-A03A-469A3E59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75" y="33718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spc="1">
                <a:solidFill>
                  <a:srgbClr val="FFFFFF"/>
                </a:solidFill>
              </a:defRPr>
            </a:pPr>
            <a:r>
              <a:rPr sz="1800" b="1" spc="1">
                <a:solidFill>
                  <a:srgbClr val="FFFFFF"/>
                </a:solidFill>
              </a:rPr>
              <a:t>PROJECT REPOSITORY</a:t>
            </a:r>
          </a:p>
        </p:txBody>
      </p:sp>
      <p:pic>
        <p:nvPicPr>
          <p:cNvPr id="193" name="Picture 1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20388f62c4620"/>
          <a:stretch xmlns:a="http://schemas.openxmlformats.org/drawingml/2006/main"/>
        </p:blipFill>
        <p:spPr>
          <a:xfrm xmlns:a="http://schemas.openxmlformats.org/drawingml/2006/main">
            <a:off x="38653503" y="3752850"/>
            <a:ext cx="1626669" cy="371475"/>
          </a:xfrm>
          <a:prstGeom xmlns:a="http://schemas.openxmlformats.org/drawingml/2006/main" prst="rect">
            <a:avLst/>
          </a:prstGeom>
        </p:spPr>
      </p:pic>
      <p:pic>
        <p:nvPicPr>
          <p:cNvPr id="194" name="Picture 1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124c7c1964f6e"/>
          <a:stretch xmlns:a="http://schemas.openxmlformats.org/drawingml/2006/main"/>
        </p:blipFill>
        <p:spPr>
          <a:xfrm xmlns:a="http://schemas.openxmlformats.org/drawingml/2006/main">
            <a:off x="29489400" y="304800"/>
            <a:ext cx="7246473" cy="1856748"/>
          </a:xfrm>
          <a:prstGeom xmlns:a="http://schemas.openxmlformats.org/drawingml/2006/main" prst="rect">
            <a:avLst/>
          </a:prstGeom>
        </p:spPr>
      </p:pic>
      <p:sp>
        <p:nvSpPr>
          <p:cNvPr id="19" name="subtitle">
            <a:extLst xmlns:a="http://schemas.openxmlformats.org/drawingml/2006/main">
              <a:ext uri="{FF2B5EF4-FFF2-40B4-BE49-F238E27FC236}">
                <a16:creationId xmlns:a16="http://schemas.microsoft.com/office/drawing/2014/main" id="{2D49C382-0EBE-24CA-189A-DDB7C420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0425"/>
            <a:ext cx="22884848" cy="503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Gilad Markman </a:t>
            </a:r>
            <a:r>
              <a:rPr sz="3200">
                <a:solidFill>
                  <a:srgbClr val="9EC5D0"/>
                </a:solidFill>
              </a:rPr>
              <a:t>• </a:t>
            </a:r>
            <a:r>
              <a:rPr sz="2800">
                <a:solidFill>
                  <a:srgbClr val="9EC5D0"/>
                </a:solidFill>
              </a:rPr>
              <a:t>2026</a:t>
            </a:r>
            <a:endParaRPr sz="3150" b="0">
              <a:solidFill>
                <a:srgbClr val="C7D6E2"/>
              </a:solidFill>
            </a:endParaRPr>
          </a:p>
        </p:txBody>
      </p:sp>
      <p:pic>
        <p:nvPicPr>
          <p:cNvPr id="19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27bc967514e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63697" y="283153"/>
            <a:ext cx="6552543" cy="4212647"/>
          </a:xfrm>
          <a:prstGeom xmlns:a="http://schemas.openxmlformats.org/drawingml/2006/main" prst="rect">
            <a:avLst/>
          </a:prstGeom>
        </p:spPr>
      </p:pic>
      <p:graphicFrame>
        <p:nvGraphicFramePr>
          <p:cNvPr id="197" name="Table 183"/>
          <p:cNvGraphicFramePr/>
          <p:nvPr/>
        </p:nvGraphicFramePr>
        <p:xfrm>
          <a:off xmlns:a="http://schemas.openxmlformats.org/drawingml/2006/main" x="21907500" y="19107150"/>
          <a:ext xmlns:a="http://schemas.openxmlformats.org/drawingml/2006/main" cx="18430875" cy="33909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762250"/>
                <a:gridCol w="9001125"/>
                <a:gridCol w="6667500"/>
              </a:tblGrid>
              <a:tr h="342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</a:t>
                      </a:r>
                    </a:p>
                  </a:txBody>
                  <a:tcPr marL="76200" marR="76200" marT="28575" marB="28575" anchor="ctr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DQN_103 signal</a:t>
                      </a:r>
                    </a:p>
                  </a:txBody>
                  <a:tcPr marL="76200" marR="76200" marT="28575" marB="28575" anchor="ctr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teaches</a:t>
                      </a:r>
                    </a:p>
                  </a:txBody>
                  <a:tcPr marL="76200" marR="76200" marT="28575" marB="28575" anchor="ctr">
                    <a:solidFill>
                      <a:srgbClr val="173A5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Terminal</a:t>
                      </a:r>
                    </a:p>
                  </a:txBody>
                  <a:tcPr marL="76200" marR="76200" marT="28575" marB="28575" anchor="ctr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+100 win / −100 loss (unscaled)</a:t>
                      </a:r>
                    </a:p>
                  </a:txBody>
                  <a:tcPr marL="76200" marR="76200" marT="28575" marB="28575" anchor="ctr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Winning remains the objective.</a:t>
                      </a:r>
                    </a:p>
                  </a:txBody>
                  <a:tcPr marL="76200" marR="76200" marT="28575" marB="28575" anchor="ctr">
                    <a:solidFill>
                      <a:srgbClr val="F7FBFC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Trade-in</a:t>
                      </a:r>
                    </a:p>
                  </a:txBody>
                  <a:tcPr marL="76200" marR="76200" marT="28575" marB="28575" anchor="ctr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±0.30 optional trade; +0.60 owned-territory card</a:t>
                      </a:r>
                    </a:p>
                  </a:txBody>
                  <a:tcPr marL="76200" marR="76200" marT="28575" marB="28575"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Wait unless the trade creates value.</a:t>
                      </a:r>
                    </a:p>
                  </a:txBody>
                  <a:tcPr marL="76200" marR="76200" marT="28575" marB="28575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Reinforce</a:t>
                      </a:r>
                    </a:p>
                  </a:txBody>
                  <a:tcPr marL="76200" marR="76200" marT="28575" marB="28575" anchor="ctr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Enemy-border placement + strength vs. weakest neighbour; −0.8 safe interior</a:t>
                      </a:r>
                    </a:p>
                  </a:txBody>
                  <a:tcPr marL="76200" marR="76200" marT="28575" marB="28575" anchor="ctr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Build a border that can attack.</a:t>
                      </a:r>
                    </a:p>
                  </a:txBody>
                  <a:tcPr marL="76200" marR="76200" marT="28575" marB="28575" anchor="ctr">
                    <a:solidFill>
                      <a:srgbClr val="F7FBF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</a:txBody>
                  <a:tcPr marL="76200" marR="76200" marT="28575" marB="28575" anchor="ctr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Good odds + army exchange; +1.2 conquest; +4 continent; elimination bonus</a:t>
                      </a:r>
                    </a:p>
                  </a:txBody>
                  <a:tcPr marL="76200" marR="76200" marT="28575" marB="28575"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Use strong odds and profitable battles.</a:t>
                      </a:r>
                    </a:p>
                  </a:txBody>
                  <a:tcPr marL="76200" marR="76200" marT="28575" marB="28575" anchor="ctr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Occupy + fortify</a:t>
                      </a:r>
                    </a:p>
                  </a:txBody>
                  <a:tcPr marL="76200" marR="76200" marT="28575" marB="28575" anchor="ctr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Move armies into a capture / toward an enemy border; penalize weakening it</a:t>
                      </a:r>
                    </a:p>
                  </a:txBody>
                  <a:tcPr marL="76200" marR="76200" marT="28575" marB="28575" anchor="ctr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Keep force where opponents can attack.</a:t>
                      </a:r>
                    </a:p>
                  </a:txBody>
                  <a:tcPr marL="76200" marR="76200" marT="28575" marB="28575" anchor="ctr">
                    <a:solidFill>
                      <a:srgbClr val="F7FB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Board progress</a:t>
                      </a:r>
                    </a:p>
                  </a:txBody>
                  <a:tcPr marL="76200" marR="76200" marT="28575" marB="28575" anchor="ctr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20 Δ territory + 0.1 Δ army + 2.5 Δ continent; loss penalty</a:t>
                      </a:r>
                    </a:p>
                  </a:txBody>
                  <a:tcPr marL="76200" marR="76200" marT="28575" marB="28575"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B4C"/>
                          </a:solidFill>
                          <a:latin typeface="Calibri"/>
                          <a:ea typeface="Calibri"/>
                          <a:cs typeface="Calibri"/>
                        </a:rPr>
                        <a:t>Reward gains that survive the full round.</a:t>
                      </a:r>
                    </a:p>
                  </a:txBody>
                  <a:tcPr marL="76200" marR="76200" marT="28575" marB="28575" anchor="ctr"/>
                </a:tc>
              </a:tr>
            </a:tbl>
          </a:graphicData>
        </a:graphic>
      </p:graphicFrame>
      <p:pic>
        <p:nvPicPr>
          <p:cNvPr id="198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05834571744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43185" y="25360163"/>
            <a:ext cx="7542857" cy="3962387"/>
          </a:xfrm>
          <a:prstGeom xmlns:a="http://schemas.openxmlformats.org/drawingml/2006/main" prst="rect">
            <a:avLst/>
          </a:prstGeom>
        </p:spPr>
      </p:pic>
      <p:sp>
        <p:nvSpPr>
          <p:cNvPr id="26" name="evaluation-protocol">
            <a:extLst xmlns:a="http://schemas.openxmlformats.org/drawingml/2006/main">
              <a:ext uri="{FF2B5EF4-FFF2-40B4-BE49-F238E27FC236}">
                <a16:creationId xmlns:a16="http://schemas.microsoft.com/office/drawing/2014/main" id="{1DB17C7A-A67F-E21E-AC5E-D1A7B840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1" y="25955625"/>
            <a:ext cx="3801699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>
                <a:solidFill>
                  <a:srgbClr val="253B4C"/>
                </a:solidFill>
              </a:rPr>
              <a:t>54 games / checkpoint</a:t>
            </a:r>
          </a:p>
          <a:p xmlns:a="http://schemas.openxmlformats.org/drawingml/2006/main"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>
                <a:solidFill>
                  <a:srgbClr val="253B4C"/>
                </a:solidFill>
              </a:rPr>
              <a:t>3 seeds · every learner seat</a:t>
            </a:r>
          </a:p>
          <a:p xmlns:a="http://schemas.openxmlformats.org/drawingml/2006/main"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28" name="evaluation-latest-result">
            <a:extLst xmlns:a="http://schemas.openxmlformats.org/drawingml/2006/main">
              <a:ext uri="{FF2B5EF4-FFF2-40B4-BE49-F238E27FC236}">
                <a16:creationId xmlns:a16="http://schemas.microsoft.com/office/drawing/2014/main" id="{E232D059-1EF2-BE5C-C629-314F0D3F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4419" y="28195246"/>
            <a:ext cx="3801699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>
                <a:solidFill>
                  <a:srgbClr val="157E87"/>
                </a:solidFill>
              </a:rPr>
              <a:t>Latest ep006700</a:t>
            </a:r>
          </a:p>
          <a:p xmlns:a="http://schemas.openxmlformats.org/drawingml/2006/main"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30" name="evaluation-protocol">
            <a:extLst xmlns:a="http://schemas.openxmlformats.org/drawingml/2006/main">
              <a:ext uri="{FF2B5EF4-FFF2-40B4-BE49-F238E27FC236}">
                <a16:creationId xmlns:a16="http://schemas.microsoft.com/office/drawing/2014/main" id="{309F838D-E1A9-E8E6-EEBB-B1916B9B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742" y="26045669"/>
            <a:ext cx="3801699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>
                <a:solidFill>
                  <a:srgbClr val="253B4C"/>
                </a:solidFill>
              </a:rPr>
              <a:t>54 games / checkpoint</a:t>
            </a:r>
          </a:p>
          <a:p xmlns:a="http://schemas.openxmlformats.org/drawingml/2006/main"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>
                <a:solidFill>
                  <a:srgbClr val="253B4C"/>
                </a:solidFill>
              </a:rPr>
              <a:t>3 seeds · every learner seat</a:t>
            </a:r>
          </a:p>
          <a:p xmlns:a="http://schemas.openxmlformats.org/drawingml/2006/main"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32" name="evaluation-latest-result">
            <a:extLst xmlns:a="http://schemas.openxmlformats.org/drawingml/2006/main">
              <a:ext uri="{FF2B5EF4-FFF2-40B4-BE49-F238E27FC236}">
                <a16:creationId xmlns:a16="http://schemas.microsoft.com/office/drawing/2014/main" id="{3A1EFAB1-50F1-29EA-B1D4-7D5811B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960" y="28285290"/>
            <a:ext cx="3801699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>
                <a:solidFill>
                  <a:srgbClr val="157E87"/>
                </a:solidFill>
              </a:rPr>
              <a:t>Latest ep006700</a:t>
            </a:r>
          </a:p>
          <a:p xmlns:a="http://schemas.openxmlformats.org/drawingml/2006/main"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41" name="evaluation-protocol">
            <a:extLst xmlns:a="http://schemas.openxmlformats.org/drawingml/2006/main">
              <a:ext uri="{FF2B5EF4-FFF2-40B4-BE49-F238E27FC236}">
                <a16:creationId xmlns:a16="http://schemas.microsoft.com/office/drawing/2014/main" id="{8DB1E572-DD15-D5D9-68BC-72F064BC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5199" y="25986693"/>
            <a:ext cx="3801699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>
                <a:solidFill>
                  <a:srgbClr val="253B4C"/>
                </a:solidFill>
              </a:rPr>
              <a:t>54 games / checkpoint</a:t>
            </a:r>
          </a:p>
          <a:p xmlns:a="http://schemas.openxmlformats.org/drawingml/2006/main"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>
                <a:solidFill>
                  <a:srgbClr val="253B4C"/>
                </a:solidFill>
              </a:rPr>
              <a:t>3 seeds · every learner seat</a:t>
            </a:r>
          </a:p>
          <a:p xmlns:a="http://schemas.openxmlformats.org/drawingml/2006/main"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43" name="evaluation-latest-result">
            <a:extLst xmlns:a="http://schemas.openxmlformats.org/drawingml/2006/main">
              <a:ext uri="{FF2B5EF4-FFF2-40B4-BE49-F238E27FC236}">
                <a16:creationId xmlns:a16="http://schemas.microsoft.com/office/drawing/2014/main" id="{8D4E53D0-AB7F-E915-D61A-A7CD388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417" y="28226314"/>
            <a:ext cx="3801699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>
                <a:solidFill>
                  <a:srgbClr val="157E87"/>
                </a:solidFill>
              </a:rPr>
              <a:t>Latest ep006700</a:t>
            </a:r>
          </a:p>
          <a:p xmlns:a="http://schemas.openxmlformats.org/drawingml/2006/main"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>
                <a:solidFill>
                  <a:srgbClr val="157E87"/>
                </a:solidFill>
              </a:rPr>
              <a:t>46 / 54 wins = 85.2% · 0 timeouts</a:t>
            </a:r>
          </a:p>
        </p:txBody>
      </p:sp>
      <p:pic>
        <p:nvPicPr>
          <p:cNvPr id="205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5f93a20a244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3183" y="25617675"/>
            <a:ext cx="7200745" cy="3782670"/>
          </a:xfrm>
          <a:prstGeom xmlns:a="http://schemas.openxmlformats.org/drawingml/2006/main" prst="rect">
            <a:avLst/>
          </a:prstGeom>
        </p:spPr>
      </p:pic>
      <p:sp>
        <p:nvSpPr>
          <p:cNvPr id="132" name="attention-flow-background">
            <a:extLst xmlns:a="http://schemas.openxmlformats.org/drawingml/2006/main">
              <a:ext uri="{FF2B5EF4-FFF2-40B4-BE49-F238E27FC236}">
                <a16:creationId xmlns:a16="http://schemas.microsoft.com/office/drawing/2014/main" id="{61285425-6386-4E2E-BB76-4259E699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9897" y="18002250"/>
            <a:ext cx="7884128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5"/>
            </a:solidFill>
            <a:prstDash val="solid"/>
          </a:ln>
        </p:spPr>
      </p:sp>
      <p:sp>
        <p:nvSpPr>
          <p:cNvPr id="133" name="attention-flow-title">
            <a:extLst xmlns:a="http://schemas.openxmlformats.org/drawingml/2006/main">
              <a:ext uri="{FF2B5EF4-FFF2-40B4-BE49-F238E27FC236}">
                <a16:creationId xmlns:a16="http://schemas.microsoft.com/office/drawing/2014/main" id="{98AB088D-1536-4F78-98E6-D2D54F73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18202275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Sparse attention on one directed border</a:t>
            </a:r>
          </a:p>
        </p:txBody>
      </p:sp>
      <p:sp>
        <p:nvSpPr>
          <p:cNvPr id="134" name="attention-flow-formula-one">
            <a:extLst xmlns:a="http://schemas.openxmlformats.org/drawingml/2006/main">
              <a:ext uri="{FF2B5EF4-FFF2-40B4-BE49-F238E27FC236}">
                <a16:creationId xmlns:a16="http://schemas.microsoft.com/office/drawing/2014/main" id="{24E7EC7C-2F0C-4D9A-9B92-62CC9DF2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96215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A627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A627E"/>
                </a:solidFill>
                <a:latin typeface="Calibri"/>
                <a:ea typeface="Calibri"/>
                <a:cs typeface="Calibri"/>
              </a:rPr>
              <a:t>Q × K  →  α  (attention weight)</a:t>
            </a:r>
          </a:p>
        </p:txBody>
      </p:sp>
      <p:sp>
        <p:nvSpPr>
          <p:cNvPr id="135" name="attention-flow-formula-two">
            <a:extLst xmlns:a="http://schemas.openxmlformats.org/drawingml/2006/main">
              <a:ext uri="{FF2B5EF4-FFF2-40B4-BE49-F238E27FC236}">
                <a16:creationId xmlns:a16="http://schemas.microsoft.com/office/drawing/2014/main" id="{389EB57E-908B-4FB4-A7BB-700B41C7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A627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A627E"/>
                </a:solidFill>
                <a:latin typeface="Calibri"/>
                <a:ea typeface="Calibri"/>
                <a:cs typeface="Calibri"/>
              </a:rPr>
              <a:t>α × V  →  weighted neighbour message</a:t>
            </a:r>
          </a:p>
        </p:txBody>
      </p:sp>
      <p:sp>
        <p:nvSpPr>
          <p:cNvPr id="136" name="attention-arrow-one">
            <a:extLst xmlns:a="http://schemas.openxmlformats.org/drawingml/2006/main">
              <a:ext uri="{FF2B5EF4-FFF2-40B4-BE49-F238E27FC236}">
                <a16:creationId xmlns:a16="http://schemas.microsoft.com/office/drawing/2014/main" id="{E3B10232-181D-4E74-A6A8-D3C6F74D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8916650"/>
            <a:ext cx="40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718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B7183"/>
                </a:solidFill>
                <a:latin typeface="Calibri"/>
                <a:ea typeface="Calibri"/>
                <a:cs typeface="Calibri"/>
              </a:rPr>
              <a:t>×</a:t>
            </a:r>
          </a:p>
        </p:txBody>
      </p:sp>
      <p:sp>
        <p:nvSpPr>
          <p:cNvPr id="137" name="attention-arrow-two">
            <a:extLst xmlns:a="http://schemas.openxmlformats.org/drawingml/2006/main">
              <a:ext uri="{FF2B5EF4-FFF2-40B4-BE49-F238E27FC236}">
                <a16:creationId xmlns:a16="http://schemas.microsoft.com/office/drawing/2014/main" id="{2EC89E5B-4FC2-40C7-A7EB-06DE8AB5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18916650"/>
            <a:ext cx="45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B718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5B718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38" name="attention-arrow-three">
            <a:extLst xmlns:a="http://schemas.openxmlformats.org/drawingml/2006/main">
              <a:ext uri="{FF2B5EF4-FFF2-40B4-BE49-F238E27FC236}">
                <a16:creationId xmlns:a16="http://schemas.microsoft.com/office/drawing/2014/main" id="{D725302A-7DC9-41B4-A9A5-29BD509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0221575"/>
            <a:ext cx="45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718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B7183"/>
                </a:solidFill>
                <a:latin typeface="Calibri"/>
                <a:ea typeface="Calibri"/>
                <a:cs typeface="Calibri"/>
              </a:rPr>
              <a:t>×</a:t>
            </a:r>
          </a:p>
        </p:txBody>
      </p:sp>
      <p:sp>
        <p:nvSpPr>
          <p:cNvPr id="139" name="attention-arrow-four">
            <a:extLst xmlns:a="http://schemas.openxmlformats.org/drawingml/2006/main">
              <a:ext uri="{FF2B5EF4-FFF2-40B4-BE49-F238E27FC236}">
                <a16:creationId xmlns:a16="http://schemas.microsoft.com/office/drawing/2014/main" id="{69EA33C6-F1F2-4199-9E70-9D311CF0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20221575"/>
            <a:ext cx="45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B718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5B718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40" name="attention-q-card">
            <a:extLst xmlns:a="http://schemas.openxmlformats.org/drawingml/2006/main">
              <a:ext uri="{FF2B5EF4-FFF2-40B4-BE49-F238E27FC236}">
                <a16:creationId xmlns:a16="http://schemas.microsoft.com/office/drawing/2014/main" id="{E7A1C2E6-425C-403B-9D6F-4373B55B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8859500"/>
            <a:ext cx="147637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3D7CC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Q</a:t>
            </a:r>
          </a:p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receiving territory</a:t>
            </a:r>
          </a:p>
        </p:txBody>
      </p:sp>
      <p:sp>
        <p:nvSpPr>
          <p:cNvPr id="141" name="attention-k-card">
            <a:extLst xmlns:a="http://schemas.openxmlformats.org/drawingml/2006/main">
              <a:ext uri="{FF2B5EF4-FFF2-40B4-BE49-F238E27FC236}">
                <a16:creationId xmlns:a16="http://schemas.microsoft.com/office/drawing/2014/main" id="{BE9C4874-6144-4479-89EC-CB5F5805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18859500"/>
            <a:ext cx="17621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14288">
            <a:solidFill>
              <a:srgbClr val="7C5AC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K</a:t>
            </a:r>
          </a:p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neighbour relevance</a:t>
            </a:r>
          </a:p>
        </p:txBody>
      </p:sp>
      <p:sp>
        <p:nvSpPr>
          <p:cNvPr id="142" name="attention-alpha-card">
            <a:extLst xmlns:a="http://schemas.openxmlformats.org/drawingml/2006/main">
              <a:ext uri="{FF2B5EF4-FFF2-40B4-BE49-F238E27FC236}">
                <a16:creationId xmlns:a16="http://schemas.microsoft.com/office/drawing/2014/main" id="{644BDA7A-7A03-4912-8682-60338AF1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8859500"/>
            <a:ext cx="2667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9F1"/>
          </a:solidFill>
          <a:ln xmlns:a="http://schemas.openxmlformats.org/drawingml/2006/main" w="14288">
            <a:solidFill>
              <a:srgbClr val="3B9C7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α</a:t>
            </a:r>
          </a:p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attention weight</a:t>
            </a:r>
          </a:p>
        </p:txBody>
      </p:sp>
      <p:sp>
        <p:nvSpPr>
          <p:cNvPr id="143" name="attention-v-card">
            <a:extLst xmlns:a="http://schemas.openxmlformats.org/drawingml/2006/main">
              <a:ext uri="{FF2B5EF4-FFF2-40B4-BE49-F238E27FC236}">
                <a16:creationId xmlns:a16="http://schemas.microsoft.com/office/drawing/2014/main" id="{890E21B4-8D5E-42DA-B250-F4C2C9C0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164425"/>
            <a:ext cx="166687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AF6"/>
          </a:solidFill>
          <a:ln xmlns:a="http://schemas.openxmlformats.org/drawingml/2006/main" w="14288">
            <a:solidFill>
              <a:srgbClr val="249B9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V</a:t>
            </a:r>
          </a:p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neighbour message</a:t>
            </a:r>
          </a:p>
        </p:txBody>
      </p:sp>
      <p:sp>
        <p:nvSpPr>
          <p:cNvPr id="144" name="attention-message-card">
            <a:extLst xmlns:a="http://schemas.openxmlformats.org/drawingml/2006/main">
              <a:ext uri="{FF2B5EF4-FFF2-40B4-BE49-F238E27FC236}">
                <a16:creationId xmlns:a16="http://schemas.microsoft.com/office/drawing/2014/main" id="{BC60AE00-A77C-47C5-AA58-C67A0469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20164425"/>
            <a:ext cx="25241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173A5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message</a:t>
            </a:r>
          </a:p>
          <a:p xmlns:a="http://schemas.openxmlformats.org/drawingml/2006/main">
            <a:pPr algn="ctr">
              <a:defRPr sz="1125" b="0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sent to the receiving territory</a:t>
            </a:r>
          </a:p>
        </p:txBody>
      </p:sp>
      <p:sp>
        <p:nvSpPr>
          <p:cNvPr id="145" name="attention-flow-aggregate">
            <a:extLst xmlns:a="http://schemas.openxmlformats.org/drawingml/2006/main">
              <a:ext uri="{FF2B5EF4-FFF2-40B4-BE49-F238E27FC236}">
                <a16:creationId xmlns:a16="http://schemas.microsoft.com/office/drawing/2014/main" id="{6736F007-6653-4662-B7F1-B2E3F9C7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1431250"/>
            <a:ext cx="70485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F6F6"/>
          </a:solidFill>
          <a:ln xmlns:a="http://schemas.openxmlformats.org/drawingml/2006/main" w="9525">
            <a:solidFill>
              <a:srgbClr val="A7D8D5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5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3A56"/>
                </a:solidFill>
                <a:latin typeface="Calibri"/>
                <a:ea typeface="Calibri"/>
                <a:cs typeface="Calibri"/>
              </a:rPr>
              <a:t>Messages are summed by receiving territory, then passed to the next GATN layer.</a:t>
            </a:r>
          </a:p>
        </p:txBody>
      </p:sp>
      <p:sp>
        <p:nvSpPr>
          <p:cNvPr id="146" name="attention-flow-injection-note">
            <a:extLst xmlns:a="http://schemas.openxmlformats.org/drawingml/2006/main">
              <a:ext uri="{FF2B5EF4-FFF2-40B4-BE49-F238E27FC236}">
                <a16:creationId xmlns:a16="http://schemas.microsoft.com/office/drawing/2014/main" id="{80A76338-ACF3-4D93-AF76-BE782150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2021800"/>
            <a:ext cx="7048500" cy="5334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3E7"/>
          </a:solidFill>
          <a:ln xmlns:a="http://schemas.openxmlformats.org/drawingml/2006/main" w="9525">
            <a:solidFill>
              <a:srgbClr val="F4C38C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56A1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56A18"/>
                </a:solidFill>
                <a:latin typeface="Calibri"/>
                <a:ea typeface="Calibri"/>
                <a:cs typeface="Calibri"/>
              </a:rPr>
              <a:t>Injected action: changes K and V on its selected border.</a:t>
            </a:r>
          </a:p>
        </p:txBody>
      </p:sp>
    </p:spTree>
    <p:extLst>
      <p:ext uri="{BB962C8B-B14F-4D97-AF65-F5344CB8AC3E}">
        <p14:creationId xmlns:p14="http://schemas.microsoft.com/office/powerpoint/2010/main" val="104129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2026-08-14T14:17:49.2150000Z</dcterms:created>
  <dcterms:modified xsi:type="dcterms:W3CDTF">2026-08-14T14:17:49.2150000Z</dcterms:modified>
</coreProperties>
</file>