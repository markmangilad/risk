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8160" y="-58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6795978"/>
            <a:ext cx="19665297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168845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13774" y="5346597"/>
            <a:ext cx="38385750" cy="814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540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540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250900" y="6540292"/>
            <a:ext cx="150304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0104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89249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0040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56707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0104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73928" y="8709217"/>
            <a:ext cx="11106150" cy="7290908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6946225" y="70104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 dirty="0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6946225" y="7734300"/>
            <a:ext cx="137350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 dirty="0">
                <a:solidFill>
                  <a:srgbClr val="5E6C76"/>
                </a:solidFill>
              </a:rPr>
              <a:t>Four </a:t>
            </a:r>
            <a:r>
              <a:rPr sz="2475" b="0" dirty="0" err="1">
                <a:solidFill>
                  <a:srgbClr val="5E6C76"/>
                </a:solidFill>
              </a:rPr>
              <a:t>TransformerConv</a:t>
            </a:r>
            <a:r>
              <a:rPr sz="2475" b="0" dirty="0">
                <a:solidFill>
                  <a:srgbClr val="5E6C76"/>
                </a:solidFill>
              </a:rPr>
              <a:t>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rcRect b="6170"/>
          <a:stretch>
            <a:fillRect/>
          </a:stretch>
        </p:blipFill>
        <p:spPr>
          <a:xfrm>
            <a:off x="26769363" y="8639176"/>
            <a:ext cx="13819162" cy="7423378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6805503"/>
            <a:ext cx="20050125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7373421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200" b="1" dirty="0"/>
              <a:t>How GATN attention uses the injected 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13774" y="18390469"/>
            <a:ext cx="8382000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neighboring territories. Q represents the receiving territory; K determines how relevant each neighbor is; V is the information that neighbor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121920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FFFFFF"/>
                </a:solidFill>
              </a:defRPr>
            </a:pPr>
            <a:r>
              <a:rPr sz="3450" b="1" dirty="0">
                <a:solidFill>
                  <a:srgbClr val="FFFFFF"/>
                </a:solidFill>
              </a:rPr>
              <a:t>Results: </a:t>
            </a:r>
            <a:r>
              <a:rPr lang="en-US" sz="3450" b="1" dirty="0">
                <a:solidFill>
                  <a:srgbClr val="FFFFFF"/>
                </a:solidFill>
              </a:rPr>
              <a:t>Win Rate evaluated during training</a:t>
            </a:r>
            <a:endParaRPr sz="3450" b="1" dirty="0">
              <a:solidFill>
                <a:srgbClr val="FFFFFF"/>
              </a:solidFill>
            </a:endParaRP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lang="en-US" sz="2850" b="1" dirty="0">
                <a:solidFill>
                  <a:srgbClr val="153653"/>
                </a:solidFill>
              </a:rPr>
              <a:t>Win Rate</a:t>
            </a:r>
            <a:endParaRPr sz="2850" b="1" dirty="0">
              <a:solidFill>
                <a:srgbClr val="153653"/>
              </a:solidFill>
            </a:endParaRP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41493" y="20827692"/>
            <a:ext cx="8483632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/>
              <a:t>Four graph-attention layers aggregate these weighted neighbor messages—never all territory pairs.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7480059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0940985" y="16980939"/>
            <a:ext cx="10395016" cy="5915022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297627186"/>
              </p:ext>
            </p:extLst>
          </p:nvPr>
        </p:nvGraphicFramePr>
        <p:xfrm>
          <a:off x="25617625" y="17301429"/>
          <a:ext cx="14720753" cy="5363498"/>
        </p:xfrm>
        <a:graphic>
          <a:graphicData uri="http://schemas.openxmlformats.org/drawingml/2006/table">
            <a:tbl>
              <a:tblPr firstRow="1" firstCol="1" bandRow="1"/>
              <a:tblGrid>
                <a:gridCol w="26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</a:t>
                      </a:r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; + </a:t>
                      </a:r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</a:t>
            </a:r>
            <a:r>
              <a:rPr lang="en-US" sz="2800" b="1" dirty="0">
                <a:solidFill>
                  <a:srgbClr val="157E87"/>
                </a:solidFill>
              </a:rPr>
              <a:t> </a:t>
            </a:r>
            <a:endParaRPr lang="he-IL" sz="2800" b="1">
              <a:solidFill>
                <a:srgbClr val="157E87"/>
              </a:solidFill>
            </a:endParaRP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lang="en-US" sz="2800" b="1">
                <a:solidFill>
                  <a:srgbClr val="157E87"/>
                </a:solidFill>
              </a:rPr>
              <a:t>0 </a:t>
            </a:r>
            <a:r>
              <a:rPr lang="en-US" sz="2800" b="1" dirty="0">
                <a:solidFill>
                  <a:srgbClr val="157E87"/>
                </a:solidFill>
              </a:rPr>
              <a:t>timeouts</a:t>
            </a:r>
            <a:endParaRPr sz="2800" b="1" dirty="0">
              <a:solidFill>
                <a:srgbClr val="157E87"/>
              </a:solidFill>
            </a:endParaRP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5649288"/>
            <a:ext cx="3801699" cy="37651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DQN </a:t>
            </a:r>
            <a:r>
              <a:rPr lang="en-US" sz="2400" dirty="0">
                <a:solidFill>
                  <a:srgbClr val="253B4C"/>
                </a:solidFill>
              </a:rPr>
              <a:t>and </a:t>
            </a:r>
            <a:r>
              <a:rPr lang="en-US" sz="2400" b="1" dirty="0">
                <a:solidFill>
                  <a:srgbClr val="253B4C"/>
                </a:solidFill>
              </a:rPr>
              <a:t>Dueling DQN </a:t>
            </a:r>
            <a:r>
              <a:rPr lang="en-US" sz="2400" dirty="0">
                <a:solidFill>
                  <a:srgbClr val="253B4C"/>
                </a:solidFill>
              </a:rPr>
              <a:t>improve quickly and reach similar win rates.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endParaRPr lang="en-US" sz="2400" dirty="0">
              <a:solidFill>
                <a:srgbClr val="253B4C"/>
              </a:solidFill>
            </a:endParaRP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PPO </a:t>
            </a:r>
            <a:r>
              <a:rPr lang="en-US" sz="2400" dirty="0">
                <a:solidFill>
                  <a:srgbClr val="253B4C"/>
                </a:solidFill>
              </a:rPr>
              <a:t>improves only slightly and stays far behind, showing poor fit for this game.</a:t>
            </a:r>
            <a:endParaRPr sz="2400" dirty="0">
              <a:solidFill>
                <a:srgbClr val="253B4C"/>
              </a:solidFill>
            </a:endParaRP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86198" y="25699696"/>
            <a:ext cx="3801699" cy="3647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DQN</a:t>
            </a:r>
            <a:r>
              <a:rPr lang="en-US" sz="2400" dirty="0">
                <a:solidFill>
                  <a:srgbClr val="253B4C"/>
                </a:solidFill>
              </a:rPr>
              <a:t> and </a:t>
            </a:r>
            <a:r>
              <a:rPr lang="en-US" sz="2400" b="1" dirty="0">
                <a:solidFill>
                  <a:srgbClr val="253B4C"/>
                </a:solidFill>
              </a:rPr>
              <a:t>Dueling DQN </a:t>
            </a:r>
            <a:r>
              <a:rPr lang="en-US" sz="2400" dirty="0">
                <a:solidFill>
                  <a:srgbClr val="253B4C"/>
                </a:solidFill>
              </a:rPr>
              <a:t>move from negative rewards to stable positive rewards per turn.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endParaRPr lang="en-US" sz="2400" dirty="0">
              <a:solidFill>
                <a:srgbClr val="253B4C"/>
              </a:solidFill>
            </a:endParaRP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PPO </a:t>
            </a:r>
            <a:r>
              <a:rPr lang="en-US" sz="2400" dirty="0">
                <a:solidFill>
                  <a:srgbClr val="253B4C"/>
                </a:solidFill>
              </a:rPr>
              <a:t>also improves but remains strongly negative throughout training.</a:t>
            </a:r>
            <a:endParaRPr sz="2400" dirty="0">
              <a:solidFill>
                <a:srgbClr val="253B4C"/>
              </a:solidFill>
            </a:endParaRPr>
          </a:p>
        </p:txBody>
      </p:sp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099658"/>
            <a:ext cx="2690675" cy="26044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local action terms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6" y="20745597"/>
            <a:ext cx="292310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678573E-E998-CE39-3940-53E82AE056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965" y="25098171"/>
            <a:ext cx="7385963" cy="460928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07B455E-9A57-3D94-CFD0-84EA73F10F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9633" y="25198864"/>
            <a:ext cx="7897044" cy="4148447"/>
          </a:xfrm>
          <a:prstGeom prst="rect">
            <a:avLst/>
          </a:prstGeom>
        </p:spPr>
      </p:pic>
      <p:sp>
        <p:nvSpPr>
          <p:cNvPr id="50" name="result-subtitle-dueling-dqn">
            <a:extLst>
              <a:ext uri="{FF2B5EF4-FFF2-40B4-BE49-F238E27FC236}">
                <a16:creationId xmlns:a16="http://schemas.microsoft.com/office/drawing/2014/main" id="{FBF35B70-9670-841A-A5EE-D0F982A69798}"/>
              </a:ext>
            </a:extLst>
          </p:cNvPr>
          <p:cNvSpPr>
            <a:spLocks noGrp="1"/>
          </p:cNvSpPr>
          <p:nvPr/>
        </p:nvSpPr>
        <p:spPr>
          <a:xfrm>
            <a:off x="1981200" y="25356910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6" name="results-title">
            <a:extLst>
              <a:ext uri="{FF2B5EF4-FFF2-40B4-BE49-F238E27FC236}">
                <a16:creationId xmlns:a16="http://schemas.microsoft.com/office/drawing/2014/main" id="{DEBCD073-92F1-95D5-3A86-4E7116A537C3}"/>
              </a:ext>
            </a:extLst>
          </p:cNvPr>
          <p:cNvSpPr>
            <a:spLocks noGrp="1"/>
          </p:cNvSpPr>
          <p:nvPr/>
        </p:nvSpPr>
        <p:spPr>
          <a:xfrm>
            <a:off x="29004478" y="23813746"/>
            <a:ext cx="121920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 dirty="0">
                <a:solidFill>
                  <a:srgbClr val="FFFFFF"/>
                </a:solidFill>
              </a:rPr>
              <a:t>Results: held-out evaluation</a:t>
            </a:r>
            <a:r>
              <a:rPr lang="en-US" sz="3450" b="1" dirty="0">
                <a:solidFill>
                  <a:srgbClr val="FFFFFF"/>
                </a:solidFill>
              </a:rPr>
              <a:t> 3-6 players – DQN 103</a:t>
            </a:r>
            <a:endParaRPr sz="3450" b="1" dirty="0">
              <a:solidFill>
                <a:srgbClr val="FFFFFF"/>
              </a:solidFill>
            </a:endParaRPr>
          </a:p>
        </p:txBody>
      </p:sp>
      <p:sp>
        <p:nvSpPr>
          <p:cNvPr id="22" name="results-title">
            <a:extLst>
              <a:ext uri="{FF2B5EF4-FFF2-40B4-BE49-F238E27FC236}">
                <a16:creationId xmlns:a16="http://schemas.microsoft.com/office/drawing/2014/main" id="{7B74DB23-6E6E-86C3-E61C-4115A06E482B}"/>
              </a:ext>
            </a:extLst>
          </p:cNvPr>
          <p:cNvSpPr>
            <a:spLocks noGrp="1"/>
          </p:cNvSpPr>
          <p:nvPr/>
        </p:nvSpPr>
        <p:spPr>
          <a:xfrm>
            <a:off x="15306675" y="23706832"/>
            <a:ext cx="121920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FFFFFF"/>
                </a:solidFill>
              </a:defRPr>
            </a:pPr>
            <a:r>
              <a:rPr sz="3450" b="1" dirty="0">
                <a:solidFill>
                  <a:srgbClr val="FFFFFF"/>
                </a:solidFill>
              </a:rPr>
              <a:t>Results: </a:t>
            </a:r>
            <a:r>
              <a:rPr lang="en-US" sz="3450" b="1" dirty="0">
                <a:solidFill>
                  <a:srgbClr val="FFFFFF"/>
                </a:solidFill>
              </a:rPr>
              <a:t>Reward per agent turn during training</a:t>
            </a:r>
            <a:endParaRPr sz="345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977</Words>
  <Application>Microsoft Office PowerPoint</Application>
  <DocSecurity>0</DocSecurity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27</cp:revision>
  <dcterms:created xsi:type="dcterms:W3CDTF">2026-08-14T13:01:29Z</dcterms:created>
  <dcterms:modified xsi:type="dcterms:W3CDTF">2026-08-28T18:00:50Z</dcterms:modified>
</cp:coreProperties>
</file>